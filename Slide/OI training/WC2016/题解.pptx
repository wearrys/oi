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73" r:id="rId4"/>
    <p:sldId id="258" r:id="rId5"/>
    <p:sldId id="261" r:id="rId6"/>
    <p:sldId id="262" r:id="rId7"/>
    <p:sldId id="263" r:id="rId8"/>
    <p:sldId id="264" r:id="rId9"/>
    <p:sldId id="259" r:id="rId10"/>
    <p:sldId id="265" r:id="rId11"/>
    <p:sldId id="268" r:id="rId12"/>
    <p:sldId id="269" r:id="rId13"/>
    <p:sldId id="267" r:id="rId14"/>
    <p:sldId id="260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17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53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80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76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05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03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76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28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60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66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862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3283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151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10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04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81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89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FB43612-C3E6-4E8A-98E6-52E77A58FA78}" type="datetimeFigureOut">
              <a:rPr lang="zh-CN" altLang="en-US" smtClean="0"/>
              <a:t>2017/1/16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5CCC4-4CD3-4CC7-A8F2-0387ACF11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858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模拟题讲解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雅礼中学 罗煜楚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829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一些尴尬的事情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 smtClean="0"/>
              <a:t>出题人没有和前两天出题人讨论，但是本套题的</a:t>
            </a:r>
            <a:r>
              <a:rPr lang="en-US" altLang="zh-CN" sz="2400" dirty="0" smtClean="0"/>
              <a:t>T2,T3</a:t>
            </a:r>
            <a:r>
              <a:rPr lang="zh-CN" altLang="en-US" sz="2400" dirty="0" smtClean="0"/>
              <a:t>都在之前两天出现过了类似的题。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strike="sngStrike" dirty="0" smtClean="0"/>
              <a:t>如果这套题先考就好了</a:t>
            </a:r>
            <a:endParaRPr lang="zh-CN" altLang="en-US" sz="2400" strike="sngStrike" dirty="0"/>
          </a:p>
        </p:txBody>
      </p:sp>
      <p:pic>
        <p:nvPicPr>
          <p:cNvPr id="2050" name="Picture 2" descr="https://pic3.zhimg.com/f47c8b321455f72771822232cf6d1532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800" y="2861504"/>
            <a:ext cx="2805989" cy="260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06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>
            <a:spLocks/>
          </p:cNvSpPr>
          <p:nvPr/>
        </p:nvSpPr>
        <p:spPr>
          <a:xfrm>
            <a:off x="1512745" y="1070279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zh-CN" altLang="en-US" sz="2400" dirty="0" smtClean="0"/>
              <a:t>最高分：</a:t>
            </a:r>
            <a:r>
              <a:rPr lang="en-US" altLang="zh-CN" sz="2400" dirty="0" smtClean="0"/>
              <a:t>220 K404-206 </a:t>
            </a:r>
            <a:r>
              <a:rPr lang="zh-CN" altLang="en-US" sz="2400" dirty="0" smtClean="0"/>
              <a:t>虽然</a:t>
            </a:r>
            <a:r>
              <a:rPr lang="en-US" altLang="zh-CN" sz="2400" dirty="0" smtClean="0"/>
              <a:t>T2</a:t>
            </a:r>
            <a:r>
              <a:rPr lang="zh-CN" altLang="en-US" sz="2400" dirty="0" smtClean="0"/>
              <a:t>是水过的</a:t>
            </a:r>
            <a:endParaRPr lang="en-US" altLang="zh-CN" sz="2400" dirty="0" smtClean="0"/>
          </a:p>
          <a:p>
            <a:r>
              <a:rPr lang="en-US" altLang="zh-CN" sz="2400" dirty="0" smtClean="0"/>
              <a:t>150</a:t>
            </a:r>
            <a:r>
              <a:rPr lang="zh-CN" altLang="en-US" sz="2400" dirty="0" smtClean="0"/>
              <a:t>分以上：</a:t>
            </a:r>
            <a:r>
              <a:rPr lang="en-US" altLang="zh-CN" sz="2400" dirty="0" smtClean="0"/>
              <a:t>6</a:t>
            </a:r>
            <a:r>
              <a:rPr lang="zh-CN" altLang="en-US" sz="2400" dirty="0" smtClean="0"/>
              <a:t>人</a:t>
            </a:r>
            <a:endParaRPr lang="en-US" altLang="zh-CN" sz="2400" dirty="0" smtClean="0"/>
          </a:p>
          <a:p>
            <a:r>
              <a:rPr lang="en-US" altLang="zh-CN" sz="2400" dirty="0" smtClean="0"/>
              <a:t>100</a:t>
            </a:r>
            <a:r>
              <a:rPr lang="zh-CN" altLang="en-US" sz="2400" dirty="0" smtClean="0"/>
              <a:t>分以上有</a:t>
            </a:r>
            <a:r>
              <a:rPr lang="en-US" altLang="zh-CN" sz="2400" dirty="0" smtClean="0"/>
              <a:t>1/3</a:t>
            </a:r>
            <a:r>
              <a:rPr lang="zh-CN" altLang="en-US" sz="2400" dirty="0" smtClean="0"/>
              <a:t>的人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en-US" altLang="zh-CN" sz="2400" dirty="0" smtClean="0"/>
              <a:t>3</a:t>
            </a:r>
            <a:r>
              <a:rPr lang="zh-CN" altLang="en-US" sz="2400" dirty="0" smtClean="0"/>
              <a:t>道题都有人</a:t>
            </a:r>
            <a:r>
              <a:rPr lang="en-US" altLang="zh-CN" sz="2400" dirty="0" smtClean="0"/>
              <a:t>AC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3390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Assignment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75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随机的一个长度为</a:t>
            </a:r>
            <a:r>
              <a:rPr lang="en-US" altLang="zh-CN" sz="2400" dirty="0" smtClean="0"/>
              <a:t>m</a:t>
            </a:r>
            <a:r>
              <a:rPr lang="zh-CN" altLang="en-US" sz="2400" dirty="0" smtClean="0"/>
              <a:t>，每个数都是</a:t>
            </a:r>
            <a:r>
              <a:rPr lang="en-US" altLang="zh-CN" sz="2400" dirty="0" smtClean="0"/>
              <a:t>1~n</a:t>
            </a:r>
            <a:r>
              <a:rPr lang="zh-CN" altLang="en-US" sz="2400" dirty="0" smtClean="0"/>
              <a:t>的单调不下降序列，求期望的众数出现次数。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211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分数分布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14" y="170345"/>
            <a:ext cx="1263726" cy="656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4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题目解法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首先如果统计方案再除以总方案记得要用</a:t>
                </a:r>
                <a:r>
                  <a:rPr lang="en-US" altLang="zh-CN" sz="2400" dirty="0" smtClean="0"/>
                  <a:t>long double</a:t>
                </a:r>
                <a:r>
                  <a:rPr lang="zh-CN" altLang="en-US" sz="2400" dirty="0" smtClean="0"/>
                  <a:t>，因为</a:t>
                </a:r>
                <a:r>
                  <a:rPr lang="en-US" altLang="zh-CN" sz="2400" dirty="0" smtClean="0"/>
                  <a:t>double</a:t>
                </a:r>
                <a:r>
                  <a:rPr lang="zh-CN" altLang="en-US" sz="2400" dirty="0" smtClean="0"/>
                  <a:t>最大大概</a:t>
                </a:r>
                <a:r>
                  <a:rPr lang="en-US" altLang="zh-CN" sz="2400" dirty="0" smtClean="0"/>
                  <a:t>10^300</a:t>
                </a:r>
                <a:r>
                  <a:rPr lang="zh-CN" altLang="en-US" sz="2400" dirty="0" smtClean="0"/>
                  <a:t>次方就会变为</a:t>
                </a:r>
                <a:r>
                  <a:rPr lang="en-US" altLang="zh-CN" sz="2400" dirty="0" err="1" smtClean="0"/>
                  <a:t>inf</a:t>
                </a:r>
                <a:r>
                  <a:rPr lang="zh-CN" altLang="en-US" sz="2400" dirty="0" smtClean="0"/>
                  <a:t>，所以有问题。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我们统计</a:t>
                </a:r>
                <a:r>
                  <a:rPr lang="en-US" altLang="zh-CN" sz="2400" dirty="0" smtClean="0"/>
                  <a:t>P(k)</a:t>
                </a:r>
                <a:r>
                  <a:rPr lang="zh-CN" altLang="en-US" sz="2400" dirty="0" smtClean="0"/>
                  <a:t>为众数个数小于</a:t>
                </a:r>
                <a:r>
                  <a:rPr lang="en-US" altLang="zh-CN" sz="2400" dirty="0" smtClean="0"/>
                  <a:t>k</a:t>
                </a:r>
                <a:r>
                  <a:rPr lang="zh-CN" altLang="en-US" sz="2400" dirty="0" smtClean="0"/>
                  <a:t>的方案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答案为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/>
                      <m:t>E</m:t>
                    </m:r>
                    <m:r>
                      <a:rPr lang="en-US" altLang="zh-CN" sz="2400"/>
                      <m:t>=∑</m:t>
                    </m:r>
                    <m:r>
                      <m:rPr>
                        <m:sty m:val="p"/>
                      </m:rPr>
                      <a:rPr lang="en-US" altLang="zh-CN" sz="2400"/>
                      <m:t>K</m:t>
                    </m:r>
                    <m:r>
                      <a:rPr lang="en-US" altLang="zh-CN" sz="2400"/>
                      <m:t>×(</m:t>
                    </m:r>
                    <m:r>
                      <m:rPr>
                        <m:sty m:val="p"/>
                      </m:rPr>
                      <a:rPr lang="en-US" altLang="zh-CN" sz="2400"/>
                      <m:t>P</m:t>
                    </m:r>
                    <m:d>
                      <m:dPr>
                        <m:ctrlPr>
                          <a:rPr lang="zh-CN" altLang="zh-CN" sz="24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/>
                          <m:t>K</m:t>
                        </m:r>
                      </m:e>
                    </m:d>
                    <m:r>
                      <a:rPr lang="en-US" altLang="zh-CN" sz="2400" i="1"/>
                      <m:t>−</m:t>
                    </m:r>
                    <m:r>
                      <m:rPr>
                        <m:sty m:val="p"/>
                      </m:rPr>
                      <a:rPr lang="en-US" altLang="zh-CN" sz="2400"/>
                      <m:t>P</m:t>
                    </m:r>
                    <m:d>
                      <m:dPr>
                        <m:ctrlPr>
                          <a:rPr lang="zh-CN" altLang="zh-CN" sz="24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/>
                          <m:t>K</m:t>
                        </m:r>
                        <m:r>
                          <a:rPr lang="en-US" altLang="zh-CN" sz="2400" i="1"/>
                          <m:t>−</m:t>
                        </m:r>
                        <m:r>
                          <a:rPr lang="en-US" altLang="zh-CN" sz="2400"/>
                          <m:t>1</m:t>
                        </m:r>
                      </m:e>
                    </m:d>
                    <m:r>
                      <a:rPr lang="en-US" altLang="zh-CN" sz="2400"/>
                      <m:t>)</m:t>
                    </m:r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如何求</a:t>
                </a:r>
                <a:r>
                  <a:rPr lang="en-US" altLang="zh-CN" sz="2400" dirty="0" smtClean="0"/>
                  <a:t>P(k)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45" t="-1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54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题目解法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</a:t>
            </a:r>
            <a:r>
              <a:rPr lang="zh-CN" altLang="en-US" sz="2400" dirty="0" smtClean="0"/>
              <a:t>种方法是</a:t>
            </a:r>
            <a:r>
              <a:rPr lang="en-US" altLang="zh-CN" sz="2400" dirty="0" err="1" smtClean="0"/>
              <a:t>Dp</a:t>
            </a:r>
            <a:endParaRPr lang="en-US" altLang="zh-CN" sz="2400" dirty="0" smtClean="0"/>
          </a:p>
          <a:p>
            <a:r>
              <a:rPr lang="zh-CN" altLang="en-US" sz="2400" dirty="0" smtClean="0"/>
              <a:t>只要考虑在序列中那些地方从一个值变为另一个值</a:t>
            </a:r>
            <a:endParaRPr lang="en-US" altLang="zh-CN" sz="2400" dirty="0" smtClean="0"/>
          </a:p>
          <a:p>
            <a:r>
              <a:rPr lang="zh-CN" altLang="zh-CN" sz="2400" dirty="0"/>
              <a:t>用</a:t>
            </a:r>
            <a:r>
              <a:rPr lang="en-US" altLang="zh-CN" sz="2400" dirty="0"/>
              <a:t>f[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][j]</a:t>
            </a:r>
            <a:r>
              <a:rPr lang="zh-CN" altLang="zh-CN" sz="2400" dirty="0"/>
              <a:t>表示当前已经决定了前</a:t>
            </a:r>
            <a:r>
              <a:rPr lang="en-US" altLang="zh-CN" sz="2400" dirty="0" err="1"/>
              <a:t>i</a:t>
            </a:r>
            <a:r>
              <a:rPr lang="zh-CN" altLang="zh-CN" sz="2400" dirty="0"/>
              <a:t>个位置的值，第</a:t>
            </a:r>
            <a:r>
              <a:rPr lang="en-US" altLang="zh-CN" sz="2400" dirty="0" err="1"/>
              <a:t>i</a:t>
            </a:r>
            <a:r>
              <a:rPr lang="zh-CN" altLang="zh-CN" sz="2400" dirty="0"/>
              <a:t>个位置是第</a:t>
            </a:r>
            <a:r>
              <a:rPr lang="en-US" altLang="zh-CN" sz="2400" dirty="0"/>
              <a:t>j</a:t>
            </a:r>
            <a:r>
              <a:rPr lang="zh-CN" altLang="zh-CN" sz="2400" dirty="0"/>
              <a:t>种值的方案数。</a:t>
            </a:r>
          </a:p>
          <a:p>
            <a:r>
              <a:rPr lang="en-US" altLang="zh-CN" sz="2400" dirty="0"/>
              <a:t>f[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][j]=f[i-1][j</a:t>
            </a:r>
            <a:r>
              <a:rPr lang="en-US" altLang="zh-CN" sz="2400" dirty="0" smtClean="0"/>
              <a:t>]</a:t>
            </a:r>
          </a:p>
          <a:p>
            <a:pPr marL="0" indent="0">
              <a:buNone/>
            </a:pPr>
            <a:r>
              <a:rPr lang="en-US" altLang="zh-CN" sz="2400" dirty="0" smtClean="0"/>
              <a:t>		 +f[i-1</a:t>
            </a:r>
            <a:r>
              <a:rPr lang="en-US" altLang="zh-CN" sz="2400" dirty="0"/>
              <a:t>][j-1</a:t>
            </a:r>
            <a:r>
              <a:rPr lang="en-US" altLang="zh-CN" sz="2400" dirty="0" smtClean="0"/>
              <a:t>]</a:t>
            </a:r>
          </a:p>
          <a:p>
            <a:pPr marL="0" indent="0">
              <a:buNone/>
            </a:pPr>
            <a:r>
              <a:rPr lang="en-US" altLang="zh-CN" sz="2400" dirty="0" smtClean="0"/>
              <a:t>		 -</a:t>
            </a:r>
            <a:r>
              <a:rPr lang="en-US" altLang="zh-CN" sz="2400" dirty="0"/>
              <a:t>f[i-1-K][j-1]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289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Fortress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03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 smtClean="0"/>
              <a:t>门炮攻击</a:t>
            </a:r>
            <a:r>
              <a:rPr lang="en-US" altLang="zh-CN" sz="2400" dirty="0" smtClean="0"/>
              <a:t>m</a:t>
            </a:r>
            <a:r>
              <a:rPr lang="zh-CN" altLang="en-US" sz="2400" dirty="0" smtClean="0"/>
              <a:t>只稳定</a:t>
            </a:r>
            <a:r>
              <a:rPr lang="zh-CN" altLang="en-US" sz="2400" dirty="0"/>
              <a:t>尾翼脱壳穿甲</a:t>
            </a:r>
            <a:r>
              <a:rPr lang="zh-CN" altLang="en-US" sz="2400" dirty="0" smtClean="0"/>
              <a:t>狗，每只狗初始血量为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，炮攻击伤害为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。狗的收益与剩余血量有关：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每门炮必须攻击一只狗，不能有超过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门炮攻击同一只狗，求最大收益。</a:t>
            </a:r>
            <a:endParaRPr lang="en-US" altLang="zh-CN" sz="2400" dirty="0" smtClean="0"/>
          </a:p>
          <a:p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288858"/>
              </p:ext>
            </p:extLst>
          </p:nvPr>
        </p:nvGraphicFramePr>
        <p:xfrm>
          <a:off x="2815221" y="3016156"/>
          <a:ext cx="5970114" cy="8595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8005"/>
                <a:gridCol w="791314"/>
                <a:gridCol w="724159"/>
                <a:gridCol w="724159"/>
                <a:gridCol w="724159"/>
                <a:gridCol w="724159"/>
                <a:gridCol w="724159"/>
              </a:tblGrid>
              <a:tr h="42979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zh-CN" sz="2500" kern="0">
                          <a:effectLst/>
                        </a:rPr>
                        <a:t>耐久度：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5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4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</a:rPr>
                        <a:t>3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</a:rPr>
                        <a:t>2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1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0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</a:tr>
              <a:tr h="42979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zh-CN" sz="2500" kern="0">
                          <a:effectLst/>
                        </a:rPr>
                        <a:t>伤害值：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3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3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2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2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>
                          <a:effectLst/>
                        </a:rPr>
                        <a:t>1</a:t>
                      </a:r>
                      <a:endParaRPr lang="zh-CN" sz="1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</a:rPr>
                        <a:t>0</a:t>
                      </a:r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880" marR="1208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69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分数分布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80" y="0"/>
            <a:ext cx="1085272" cy="695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4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题目解法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类似</a:t>
            </a:r>
            <a:r>
              <a:rPr lang="en-US" altLang="zh-CN" sz="2400" dirty="0" smtClean="0"/>
              <a:t>WC2016</a:t>
            </a:r>
            <a:r>
              <a:rPr lang="zh-CN" altLang="en-US" sz="2400" dirty="0" smtClean="0"/>
              <a:t>的挑战</a:t>
            </a:r>
            <a:r>
              <a:rPr lang="en-US" altLang="zh-CN" sz="2400" dirty="0" smtClean="0"/>
              <a:t>NPC</a:t>
            </a:r>
          </a:p>
          <a:p>
            <a:r>
              <a:rPr lang="zh-CN" altLang="en-US" sz="2400" dirty="0"/>
              <a:t>每一</a:t>
            </a:r>
            <a:r>
              <a:rPr lang="zh-CN" altLang="en-US" sz="2400" dirty="0" smtClean="0"/>
              <a:t>门炮一个点</a:t>
            </a:r>
            <a:endParaRPr lang="en-US" altLang="zh-CN" sz="2400" dirty="0" smtClean="0"/>
          </a:p>
          <a:p>
            <a:r>
              <a:rPr lang="zh-CN" altLang="en-US" sz="2400" dirty="0"/>
              <a:t>每一</a:t>
            </a:r>
            <a:r>
              <a:rPr lang="zh-CN" altLang="en-US" sz="2400" dirty="0" smtClean="0"/>
              <a:t>只狗一个子图</a:t>
            </a:r>
            <a:endParaRPr lang="en-US" altLang="zh-CN" sz="2400" dirty="0" smtClean="0"/>
          </a:p>
          <a:p>
            <a:r>
              <a:rPr lang="zh-CN" altLang="en-US" sz="2400" dirty="0"/>
              <a:t>使</a:t>
            </a:r>
            <a:r>
              <a:rPr lang="zh-CN" altLang="en-US" sz="2400" dirty="0" smtClean="0"/>
              <a:t>得当一个子图的点被外面的点匹配走若干个时，内部匹配与收益一致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7586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题目解法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构造一种图使得最大匹配与收益以致</a:t>
            </a:r>
            <a:endParaRPr lang="en-US" altLang="zh-CN" sz="2400" dirty="0" smtClean="0"/>
          </a:p>
          <a:p>
            <a:r>
              <a:rPr lang="zh-CN" altLang="en-US" sz="2400" dirty="0" smtClean="0"/>
              <a:t>一下是一种方案：</a:t>
            </a:r>
            <a:endParaRPr lang="zh-CN" altLang="en-US" sz="2400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639" y="2649841"/>
            <a:ext cx="2379860" cy="1915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C:\Users\Administrator\Desktop\无标题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12" y="4566193"/>
            <a:ext cx="2213201" cy="18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C:\Users\Administrator\Desktop\无标题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745" y="4567035"/>
            <a:ext cx="2213971" cy="18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C:\Users\Administrator\Desktop\无标题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239" y="4566192"/>
            <a:ext cx="2214139" cy="18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C:\Users\Administrator\Desktop\无标题.pn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29" y="4566192"/>
            <a:ext cx="2213028" cy="1881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 descr="C:\Users\Administrator\Desktop\无标题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357" y="4566192"/>
            <a:ext cx="2213201" cy="18807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71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Fibonacci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8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一棵</a:t>
            </a:r>
            <a:r>
              <a:rPr lang="zh-CN" altLang="en-US" sz="2400" dirty="0" smtClean="0"/>
              <a:t>树，两种操作</a:t>
            </a:r>
            <a:endParaRPr lang="en-US" altLang="zh-CN" sz="2400" dirty="0" smtClean="0"/>
          </a:p>
          <a:p>
            <a:r>
              <a:rPr lang="en-US" altLang="zh-CN" sz="2400" dirty="0"/>
              <a:t>U X k</a:t>
            </a:r>
            <a:endParaRPr lang="zh-CN" altLang="zh-CN" sz="2400" dirty="0"/>
          </a:p>
          <a:p>
            <a:r>
              <a:rPr lang="en-US" altLang="zh-CN" sz="2400" dirty="0"/>
              <a:t>    </a:t>
            </a:r>
            <a:r>
              <a:rPr lang="zh-CN" altLang="zh-CN" sz="2400" b="1" dirty="0"/>
              <a:t>更新操作</a:t>
            </a:r>
            <a:r>
              <a:rPr lang="zh-CN" altLang="zh-CN" sz="2400" dirty="0"/>
              <a:t>，对于在</a:t>
            </a:r>
            <a:r>
              <a:rPr lang="en-US" altLang="zh-CN" sz="2400" dirty="0"/>
              <a:t>X</a:t>
            </a:r>
            <a:r>
              <a:rPr lang="zh-CN" altLang="zh-CN" sz="2400" dirty="0"/>
              <a:t>的子树中的每一个节点</a:t>
            </a:r>
            <a:r>
              <a:rPr lang="en-US" altLang="zh-CN" sz="2400" dirty="0"/>
              <a:t>(</a:t>
            </a:r>
            <a:r>
              <a:rPr lang="zh-CN" altLang="zh-CN" sz="2400" dirty="0"/>
              <a:t>包括</a:t>
            </a:r>
            <a:r>
              <a:rPr lang="en-US" altLang="zh-CN" sz="2400" dirty="0"/>
              <a:t>X)</a:t>
            </a:r>
            <a:r>
              <a:rPr lang="zh-CN" altLang="zh-CN" sz="2400" dirty="0"/>
              <a:t>，如果它到</a:t>
            </a:r>
            <a:r>
              <a:rPr lang="en-US" altLang="zh-CN" sz="2400" dirty="0"/>
              <a:t>X</a:t>
            </a:r>
            <a:r>
              <a:rPr lang="zh-CN" altLang="zh-CN" sz="2400" dirty="0"/>
              <a:t>的距离</a:t>
            </a:r>
            <a:r>
              <a:rPr lang="en-US" altLang="zh-CN" sz="2400" dirty="0"/>
              <a:t>(</a:t>
            </a:r>
            <a:r>
              <a:rPr lang="zh-CN" altLang="zh-CN" sz="2400" dirty="0"/>
              <a:t>即这个点到</a:t>
            </a:r>
            <a:r>
              <a:rPr lang="en-US" altLang="zh-CN" sz="2400" dirty="0"/>
              <a:t>X</a:t>
            </a:r>
            <a:r>
              <a:rPr lang="zh-CN" altLang="zh-CN" sz="2400" dirty="0"/>
              <a:t>的唯一简单路径上经过的边数</a:t>
            </a:r>
            <a:r>
              <a:rPr lang="en-US" altLang="zh-CN" sz="2400" dirty="0"/>
              <a:t>)</a:t>
            </a:r>
            <a:r>
              <a:rPr lang="zh-CN" altLang="zh-CN" sz="2400" dirty="0"/>
              <a:t>为</a:t>
            </a:r>
            <a:r>
              <a:rPr lang="en-US" altLang="zh-CN" sz="2400" dirty="0"/>
              <a:t>D</a:t>
            </a:r>
            <a:r>
              <a:rPr lang="zh-CN" altLang="zh-CN" sz="2400" dirty="0"/>
              <a:t>，那么将它的权值加上</a:t>
            </a:r>
            <a:r>
              <a:rPr lang="en-US" altLang="zh-CN" sz="2400" dirty="0"/>
              <a:t>Fib(</a:t>
            </a:r>
            <a:r>
              <a:rPr lang="en-US" altLang="zh-CN" sz="2400" dirty="0" err="1"/>
              <a:t>k+D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r>
              <a:rPr lang="en-US" altLang="zh-CN" sz="2400" dirty="0"/>
              <a:t>    Q X Y</a:t>
            </a:r>
            <a:endParaRPr lang="zh-CN" altLang="zh-CN" sz="2400" dirty="0"/>
          </a:p>
          <a:p>
            <a:r>
              <a:rPr lang="en-US" altLang="zh-CN" sz="2400" dirty="0"/>
              <a:t>    </a:t>
            </a:r>
            <a:r>
              <a:rPr lang="zh-CN" altLang="zh-CN" sz="2400" b="1" dirty="0"/>
              <a:t>询问操作</a:t>
            </a:r>
            <a:r>
              <a:rPr lang="zh-CN" altLang="zh-CN" sz="2400" dirty="0"/>
              <a:t>，询问</a:t>
            </a:r>
            <a:r>
              <a:rPr lang="en-US" altLang="zh-CN" sz="2400" dirty="0"/>
              <a:t>X</a:t>
            </a:r>
            <a:r>
              <a:rPr lang="zh-CN" altLang="zh-CN" sz="2400" dirty="0"/>
              <a:t>到</a:t>
            </a:r>
            <a:r>
              <a:rPr lang="en-US" altLang="zh-CN" sz="2400" dirty="0"/>
              <a:t>Y</a:t>
            </a:r>
            <a:r>
              <a:rPr lang="zh-CN" altLang="zh-CN" sz="2400" dirty="0"/>
              <a:t>的简单路径上的所有点的权值之</a:t>
            </a:r>
            <a:r>
              <a:rPr lang="zh-CN" altLang="zh-CN" sz="2400" dirty="0" smtClean="0"/>
              <a:t>和</a:t>
            </a:r>
            <a:r>
              <a:rPr lang="zh-CN" altLang="en-US" sz="2400" dirty="0"/>
              <a:t>。</a:t>
            </a:r>
            <a:r>
              <a:rPr lang="en-US" altLang="zh-CN" sz="2400" dirty="0" smtClean="0"/>
              <a:t>mod 1e9+7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905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分数分布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51" y="0"/>
            <a:ext cx="1037486" cy="682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1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题目解法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fib(</a:t>
            </a:r>
            <a:r>
              <a:rPr lang="en-US" altLang="zh-CN" sz="2400" dirty="0" err="1"/>
              <a:t>a+b</a:t>
            </a:r>
            <a:r>
              <a:rPr lang="en-US" altLang="zh-CN" sz="2400" dirty="0"/>
              <a:t>)=fib(a-1)*fib(b)+fib(a)*fib(b+1</a:t>
            </a:r>
            <a:r>
              <a:rPr lang="en-US" altLang="zh-CN" sz="2400" dirty="0" smtClean="0"/>
              <a:t>)</a:t>
            </a:r>
          </a:p>
          <a:p>
            <a:r>
              <a:rPr lang="zh-CN" altLang="en-US" sz="2400" dirty="0" smtClean="0"/>
              <a:t>所以令每个点的</a:t>
            </a:r>
            <a:r>
              <a:rPr lang="en-US" altLang="zh-CN" sz="2400" dirty="0" smtClean="0"/>
              <a:t>level</a:t>
            </a:r>
            <a:r>
              <a:rPr lang="zh-CN" altLang="en-US" sz="2400" dirty="0" smtClean="0"/>
              <a:t>为它的深度，对于一次操作，相当于</a:t>
            </a:r>
            <a:endParaRPr lang="zh-CN" altLang="zh-CN" sz="2400" dirty="0"/>
          </a:p>
          <a:p>
            <a:r>
              <a:rPr lang="en-US" altLang="zh-CN" sz="2400" dirty="0"/>
              <a:t>fib(level[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]-1)*fib(x)+fib(level[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])*fib(x+1</a:t>
            </a:r>
            <a:r>
              <a:rPr lang="en-US" altLang="zh-CN" sz="2400" dirty="0" smtClean="0"/>
              <a:t>)</a:t>
            </a:r>
          </a:p>
          <a:p>
            <a:r>
              <a:rPr lang="zh-CN" altLang="en-US" sz="2400" dirty="0" smtClean="0"/>
              <a:t>维护每个点</a:t>
            </a:r>
            <a:r>
              <a:rPr lang="en-US" altLang="zh-CN" sz="2400" dirty="0" smtClean="0"/>
              <a:t>fib(x)</a:t>
            </a:r>
            <a:r>
              <a:rPr lang="zh-CN" altLang="en-US" sz="2400" dirty="0" smtClean="0"/>
              <a:t>的和以及</a:t>
            </a:r>
            <a:r>
              <a:rPr lang="en-US" altLang="zh-CN" sz="2400" dirty="0" smtClean="0"/>
              <a:t>fib(x+1)</a:t>
            </a:r>
            <a:r>
              <a:rPr lang="zh-CN" altLang="en-US" sz="2400" dirty="0" smtClean="0"/>
              <a:t>的和，最后计算即可。</a:t>
            </a:r>
            <a:endParaRPr lang="en-US" altLang="zh-CN" sz="2400" dirty="0" smtClean="0"/>
          </a:p>
          <a:p>
            <a:r>
              <a:rPr lang="zh-CN" altLang="en-US" sz="2400" dirty="0"/>
              <a:t>树链</a:t>
            </a:r>
            <a:r>
              <a:rPr lang="zh-CN" altLang="en-US" sz="2400" dirty="0" smtClean="0"/>
              <a:t>剖分。</a:t>
            </a:r>
            <a:endParaRPr lang="zh-CN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207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517</Words>
  <Application>Microsoft Office PowerPoint</Application>
  <PresentationFormat>宽屏</PresentationFormat>
  <Paragraphs>75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宋体</vt:lpstr>
      <vt:lpstr>Arial</vt:lpstr>
      <vt:lpstr>Calibri</vt:lpstr>
      <vt:lpstr>Century Gothic</vt:lpstr>
      <vt:lpstr>Times New Roman</vt:lpstr>
      <vt:lpstr>Wingdings 3</vt:lpstr>
      <vt:lpstr>离子</vt:lpstr>
      <vt:lpstr>模拟题讲解</vt:lpstr>
      <vt:lpstr>一些尴尬的事情</vt:lpstr>
      <vt:lpstr>PowerPoint 演示文稿</vt:lpstr>
      <vt:lpstr>Assignment</vt:lpstr>
      <vt:lpstr>题意</vt:lpstr>
      <vt:lpstr>分数分布</vt:lpstr>
      <vt:lpstr>题目解法</vt:lpstr>
      <vt:lpstr>题目解法</vt:lpstr>
      <vt:lpstr>Fortress</vt:lpstr>
      <vt:lpstr>题意</vt:lpstr>
      <vt:lpstr>分数分布</vt:lpstr>
      <vt:lpstr>题目解法</vt:lpstr>
      <vt:lpstr>题目解法</vt:lpstr>
      <vt:lpstr>Fibonacci</vt:lpstr>
      <vt:lpstr>题意</vt:lpstr>
      <vt:lpstr>分数分布</vt:lpstr>
      <vt:lpstr>题目解法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模拟题讲解</dc:title>
  <dc:creator>Luoyuchu</dc:creator>
  <cp:lastModifiedBy>Luoyuchu</cp:lastModifiedBy>
  <cp:revision>10</cp:revision>
  <dcterms:created xsi:type="dcterms:W3CDTF">2017-01-16T05:15:48Z</dcterms:created>
  <dcterms:modified xsi:type="dcterms:W3CDTF">2017-01-16T06:01:46Z</dcterms:modified>
</cp:coreProperties>
</file>