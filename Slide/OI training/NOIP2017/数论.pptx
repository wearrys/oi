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79" r:id="rId3"/>
    <p:sldId id="280" r:id="rId4"/>
    <p:sldId id="281" r:id="rId5"/>
    <p:sldId id="284" r:id="rId6"/>
    <p:sldId id="282" r:id="rId7"/>
    <p:sldId id="283" r:id="rId8"/>
    <p:sldId id="285" r:id="rId9"/>
    <p:sldId id="286" r:id="rId10"/>
    <p:sldId id="287" r:id="rId11"/>
    <p:sldId id="288" r:id="rId12"/>
    <p:sldId id="289" r:id="rId13"/>
    <p:sldId id="274" r:id="rId14"/>
    <p:sldId id="275" r:id="rId15"/>
    <p:sldId id="270" r:id="rId16"/>
    <p:sldId id="271" r:id="rId17"/>
    <p:sldId id="266" r:id="rId18"/>
    <p:sldId id="267" r:id="rId19"/>
    <p:sldId id="260" r:id="rId20"/>
    <p:sldId id="261" r:id="rId21"/>
    <p:sldId id="272" r:id="rId22"/>
    <p:sldId id="273" r:id="rId23"/>
    <p:sldId id="268" r:id="rId24"/>
    <p:sldId id="269" r:id="rId25"/>
    <p:sldId id="276" r:id="rId26"/>
    <p:sldId id="277" r:id="rId27"/>
    <p:sldId id="278" r:id="rId2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20" autoAdjust="0"/>
    <p:restoredTop sz="94660"/>
  </p:normalViewPr>
  <p:slideViewPr>
    <p:cSldViewPr>
      <p:cViewPr varScale="1">
        <p:scale>
          <a:sx n="82" d="100"/>
          <a:sy n="82" d="100"/>
        </p:scale>
        <p:origin x="-1435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629E66-C472-4C4E-947E-7778C480977B}" type="datetimeFigureOut">
              <a:rPr lang="zh-CN" altLang="en-US" smtClean="0"/>
              <a:pPr/>
              <a:t>2017/10/2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D41B66-44B0-4E73-9A60-4768541B63B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667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2017/10/2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2017/10/2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2017/10/2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2017/10/2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2017/10/2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2017/10/2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2017/10/2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2017/10/2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2017/10/2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2017/10/2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2017/10/2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2017/10/2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数论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419672" y="3429000"/>
            <a:ext cx="6400800" cy="1752600"/>
          </a:xfrm>
        </p:spPr>
        <p:txBody>
          <a:bodyPr/>
          <a:lstStyle/>
          <a:p>
            <a:r>
              <a:rPr lang="en-US" altLang="zh-CN" dirty="0" err="1" smtClean="0"/>
              <a:t>fateice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Miller-Rabin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如何快速判断一个大整数是否为质数？</a:t>
            </a:r>
            <a:endParaRPr lang="en-US" altLang="zh-CN" dirty="0" smtClean="0"/>
          </a:p>
          <a:p>
            <a:r>
              <a:rPr lang="zh-CN" altLang="en-US" dirty="0" smtClean="0"/>
              <a:t>记</a:t>
            </a:r>
            <a:r>
              <a:rPr lang="en-US" altLang="zh-CN" dirty="0" smtClean="0"/>
              <a:t>n=a*2^b</a:t>
            </a:r>
          </a:p>
          <a:p>
            <a:r>
              <a:rPr lang="zh-CN" altLang="en-US" dirty="0" smtClean="0"/>
              <a:t>在</a:t>
            </a:r>
            <a:r>
              <a:rPr lang="en-US" altLang="zh-CN" dirty="0" smtClean="0"/>
              <a:t>[1,n)</a:t>
            </a:r>
            <a:r>
              <a:rPr lang="zh-CN" altLang="en-US" dirty="0" smtClean="0"/>
              <a:t>中随机选取一个整数</a:t>
            </a:r>
            <a:r>
              <a:rPr lang="en-US" altLang="zh-CN" dirty="0" smtClean="0"/>
              <a:t>x</a:t>
            </a:r>
            <a:r>
              <a:rPr lang="zh-CN" altLang="en-US" dirty="0" smtClean="0"/>
              <a:t>，如果</a:t>
            </a:r>
            <a:r>
              <a:rPr lang="en-US" altLang="zh-CN" dirty="0" err="1" smtClean="0"/>
              <a:t>x^a</a:t>
            </a:r>
            <a:r>
              <a:rPr lang="zh-CN" altLang="en-US" dirty="0" smtClean="0"/>
              <a:t> ≡</a:t>
            </a:r>
            <a:r>
              <a:rPr lang="en-US" altLang="zh-CN" dirty="0" smtClean="0"/>
              <a:t>1</a:t>
            </a:r>
            <a:r>
              <a:rPr lang="zh-CN" altLang="en-US" dirty="0" smtClean="0"/>
              <a:t>或</a:t>
            </a:r>
            <a:r>
              <a:rPr lang="en-US" altLang="zh-CN" dirty="0" smtClean="0"/>
              <a:t>x^(a*2^i)</a:t>
            </a:r>
            <a:r>
              <a:rPr lang="zh-CN" altLang="en-US" dirty="0" smtClean="0"/>
              <a:t> ≡</a:t>
            </a:r>
            <a:r>
              <a:rPr lang="en-US" altLang="zh-CN" dirty="0" smtClean="0"/>
              <a:t>-1(</a:t>
            </a:r>
            <a:r>
              <a:rPr lang="zh-CN" altLang="en-US" dirty="0" smtClean="0"/>
              <a:t>其中</a:t>
            </a:r>
            <a:r>
              <a:rPr lang="en-US" altLang="zh-CN" dirty="0" smtClean="0"/>
              <a:t>0&lt;=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&lt;b)</a:t>
            </a:r>
            <a:r>
              <a:rPr lang="zh-CN" altLang="en-US" dirty="0" smtClean="0"/>
              <a:t>，那么我们认为</a:t>
            </a:r>
            <a:r>
              <a:rPr lang="en-US" altLang="zh-CN" dirty="0" smtClean="0"/>
              <a:t>n</a:t>
            </a:r>
            <a:r>
              <a:rPr lang="zh-CN" altLang="en-US" dirty="0" smtClean="0"/>
              <a:t>是质数。</a:t>
            </a:r>
            <a:endParaRPr lang="en-US" altLang="zh-CN" dirty="0" smtClean="0"/>
          </a:p>
          <a:p>
            <a:r>
              <a:rPr lang="zh-CN" altLang="en-US" dirty="0" smtClean="0"/>
              <a:t>这么做的错误率不超过</a:t>
            </a:r>
            <a:r>
              <a:rPr lang="en-US" altLang="zh-CN" dirty="0" smtClean="0"/>
              <a:t>1/4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重复若干次即可。</a:t>
            </a:r>
            <a:endParaRPr lang="en-US" altLang="zh-CN" dirty="0" smtClean="0"/>
          </a:p>
          <a:p>
            <a:r>
              <a:rPr lang="zh-CN" altLang="en-US" dirty="0" smtClean="0"/>
              <a:t>时间复杂度</a:t>
            </a:r>
            <a:r>
              <a:rPr lang="en-US" altLang="zh-CN" dirty="0" smtClean="0"/>
              <a:t>O(</a:t>
            </a:r>
            <a:r>
              <a:rPr lang="zh-CN" altLang="en-US" dirty="0" smtClean="0"/>
              <a:t>次数</a:t>
            </a:r>
            <a:r>
              <a:rPr lang="en-US" altLang="zh-CN" dirty="0" smtClean="0"/>
              <a:t>*</a:t>
            </a:r>
            <a:r>
              <a:rPr lang="en-US" altLang="zh-CN" dirty="0" err="1" smtClean="0"/>
              <a:t>logn</a:t>
            </a:r>
            <a:r>
              <a:rPr lang="en-US" altLang="zh-CN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21481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Pollard-rho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如何快速分解一个大合数？</a:t>
            </a:r>
            <a:endParaRPr lang="en-US" altLang="zh-CN" dirty="0" smtClean="0"/>
          </a:p>
          <a:p>
            <a:r>
              <a:rPr lang="zh-CN" altLang="en-US" dirty="0" smtClean="0"/>
              <a:t>我们</a:t>
            </a:r>
            <a:r>
              <a:rPr lang="zh-CN" altLang="en-US" dirty="0" smtClean="0"/>
              <a:t>在</a:t>
            </a:r>
            <a:r>
              <a:rPr lang="en-US" altLang="zh-CN" dirty="0" smtClean="0"/>
              <a:t>[1,n)</a:t>
            </a:r>
            <a:r>
              <a:rPr lang="zh-CN" altLang="en-US" dirty="0" smtClean="0"/>
              <a:t>中不停生成随机数，直到有两个数模</a:t>
            </a:r>
            <a:r>
              <a:rPr lang="en-US" altLang="zh-CN" dirty="0" smtClean="0"/>
              <a:t>n</a:t>
            </a:r>
            <a:r>
              <a:rPr lang="zh-CN" altLang="en-US" dirty="0" smtClean="0"/>
              <a:t>不同余而</a:t>
            </a:r>
            <a:r>
              <a:rPr lang="zh-CN" altLang="en-US" dirty="0" smtClean="0"/>
              <a:t>模</a:t>
            </a:r>
            <a:r>
              <a:rPr lang="en-US" altLang="zh-CN" dirty="0" smtClean="0"/>
              <a:t>n</a:t>
            </a:r>
            <a:r>
              <a:rPr lang="zh-CN" altLang="en-US" dirty="0" smtClean="0"/>
              <a:t>的某个因数同余。</a:t>
            </a:r>
            <a:endParaRPr lang="en-US" altLang="zh-CN" dirty="0" smtClean="0"/>
          </a:p>
          <a:p>
            <a:r>
              <a:rPr lang="zh-CN" altLang="en-US" dirty="0"/>
              <a:t>假设</a:t>
            </a:r>
            <a:r>
              <a:rPr lang="en-US" altLang="zh-CN" dirty="0" err="1"/>
              <a:t>a,b</a:t>
            </a:r>
            <a:r>
              <a:rPr lang="zh-CN" altLang="en-US" dirty="0"/>
              <a:t>满足条件，</a:t>
            </a:r>
            <a:r>
              <a:rPr lang="zh-CN" altLang="en-US" dirty="0" smtClean="0"/>
              <a:t>那么</a:t>
            </a:r>
            <a:r>
              <a:rPr lang="en-US" altLang="zh-CN" dirty="0" err="1" smtClean="0"/>
              <a:t>gcd</a:t>
            </a:r>
            <a:r>
              <a:rPr lang="en-US" altLang="zh-CN" dirty="0" smtClean="0"/>
              <a:t>(a-</a:t>
            </a:r>
            <a:r>
              <a:rPr lang="en-US" altLang="zh-CN" dirty="0" err="1" smtClean="0"/>
              <a:t>b,n</a:t>
            </a:r>
            <a:r>
              <a:rPr lang="en-US" altLang="zh-CN" dirty="0" smtClean="0"/>
              <a:t>)</a:t>
            </a:r>
            <a:r>
              <a:rPr lang="zh-CN" altLang="en-US" dirty="0" smtClean="0"/>
              <a:t>就是</a:t>
            </a:r>
            <a:r>
              <a:rPr lang="en-US" altLang="zh-CN" dirty="0" smtClean="0"/>
              <a:t>n</a:t>
            </a:r>
            <a:r>
              <a:rPr lang="zh-CN" altLang="en-US" dirty="0" smtClean="0"/>
              <a:t>的一个因数。</a:t>
            </a:r>
            <a:endParaRPr lang="en-US" altLang="zh-CN" dirty="0"/>
          </a:p>
          <a:p>
            <a:r>
              <a:rPr lang="zh-CN" altLang="en-US" dirty="0" smtClean="0"/>
              <a:t>设</a:t>
            </a:r>
            <a:r>
              <a:rPr lang="en-US" altLang="zh-CN" dirty="0" smtClean="0"/>
              <a:t>n</a:t>
            </a:r>
            <a:r>
              <a:rPr lang="zh-CN" altLang="en-US" dirty="0" smtClean="0"/>
              <a:t>的</a:t>
            </a:r>
            <a:r>
              <a:rPr lang="zh-CN" altLang="en-US" dirty="0"/>
              <a:t>最小因数为</a:t>
            </a:r>
            <a:r>
              <a:rPr lang="en-US" altLang="zh-CN" dirty="0"/>
              <a:t>p</a:t>
            </a:r>
            <a:r>
              <a:rPr lang="zh-CN" altLang="en-US" dirty="0"/>
              <a:t>，</a:t>
            </a:r>
            <a:r>
              <a:rPr lang="en-US" altLang="zh-CN" dirty="0"/>
              <a:t>p&lt;=</a:t>
            </a:r>
            <a:r>
              <a:rPr lang="en-US" altLang="zh-CN" dirty="0" err="1"/>
              <a:t>sqrt</a:t>
            </a:r>
            <a:r>
              <a:rPr lang="en-US" altLang="zh-CN" dirty="0"/>
              <a:t>(n</a:t>
            </a:r>
            <a:r>
              <a:rPr lang="en-US" altLang="zh-CN" dirty="0" smtClean="0"/>
              <a:t>)</a:t>
            </a:r>
            <a:r>
              <a:rPr lang="zh-CN" altLang="en-US" dirty="0"/>
              <a:t>。</a:t>
            </a:r>
            <a:r>
              <a:rPr lang="zh-CN" altLang="en-US" dirty="0" smtClean="0"/>
              <a:t>期望</a:t>
            </a:r>
            <a:r>
              <a:rPr lang="zh-CN" altLang="en-US" dirty="0" smtClean="0"/>
              <a:t>意义下</a:t>
            </a:r>
            <a:r>
              <a:rPr lang="zh-CN" altLang="en-US" dirty="0" smtClean="0"/>
              <a:t>随机不到</a:t>
            </a:r>
            <a:r>
              <a:rPr lang="en-US" altLang="zh-CN" dirty="0" err="1" smtClean="0"/>
              <a:t>sqrt</a:t>
            </a:r>
            <a:r>
              <a:rPr lang="en-US" altLang="zh-CN" dirty="0" smtClean="0"/>
              <a:t>(p</a:t>
            </a:r>
            <a:r>
              <a:rPr lang="en-US" altLang="zh-CN" dirty="0" smtClean="0"/>
              <a:t>)</a:t>
            </a:r>
            <a:r>
              <a:rPr lang="zh-CN" altLang="en-US" dirty="0" smtClean="0"/>
              <a:t>个数就会出现这种情况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451048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Pollard-rho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我们用一个线性递推式来生成随机数列。</a:t>
            </a:r>
            <a:endParaRPr lang="en-US" altLang="zh-CN" dirty="0" smtClean="0"/>
          </a:p>
          <a:p>
            <a:r>
              <a:rPr lang="zh-CN" altLang="en-US" dirty="0" smtClean="0"/>
              <a:t>例如</a:t>
            </a:r>
            <a:r>
              <a:rPr lang="en-US" altLang="zh-CN" dirty="0" smtClean="0"/>
              <a:t>x[i+1]=x[i]^2+1</a:t>
            </a:r>
            <a:endParaRPr lang="en-US" altLang="zh-CN" dirty="0" smtClean="0"/>
          </a:p>
          <a:p>
            <a:r>
              <a:rPr lang="zh-CN" altLang="en-US" dirty="0" smtClean="0"/>
              <a:t>那么</a:t>
            </a:r>
            <a:r>
              <a:rPr lang="en-US" altLang="zh-CN" dirty="0" smtClean="0"/>
              <a:t>x</a:t>
            </a:r>
            <a:r>
              <a:rPr lang="zh-CN" altLang="en-US" dirty="0" smtClean="0"/>
              <a:t>会</a:t>
            </a:r>
            <a:r>
              <a:rPr lang="zh-CN" altLang="en-US" dirty="0" smtClean="0"/>
              <a:t>形成一个</a:t>
            </a:r>
            <a:r>
              <a:rPr lang="el-GR" dirty="0" smtClean="0"/>
              <a:t>ρ</a:t>
            </a:r>
            <a:r>
              <a:rPr lang="zh-CN" altLang="en-US" dirty="0" smtClean="0"/>
              <a:t>形。</a:t>
            </a:r>
            <a:endParaRPr lang="el-GR" dirty="0" smtClean="0"/>
          </a:p>
          <a:p>
            <a:r>
              <a:rPr lang="zh-CN" altLang="en-US" dirty="0" smtClean="0"/>
              <a:t>我们不停求</a:t>
            </a:r>
            <a:r>
              <a:rPr lang="en-US" altLang="zh-CN" dirty="0" smtClean="0"/>
              <a:t>(</a:t>
            </a:r>
            <a:r>
              <a:rPr lang="en-US" altLang="zh-CN" dirty="0" smtClean="0"/>
              <a:t>x[i]-x[2i],n</a:t>
            </a:r>
            <a:r>
              <a:rPr lang="en-US" altLang="zh-CN" dirty="0" smtClean="0"/>
              <a:t>)</a:t>
            </a:r>
            <a:r>
              <a:rPr lang="zh-CN" altLang="en-US" dirty="0" smtClean="0"/>
              <a:t>即可。</a:t>
            </a:r>
            <a:endParaRPr lang="en-US" altLang="zh-CN" dirty="0" smtClean="0"/>
          </a:p>
          <a:p>
            <a:r>
              <a:rPr lang="zh-CN" altLang="en-US" dirty="0" smtClean="0"/>
              <a:t>如果</a:t>
            </a:r>
            <a:r>
              <a:rPr lang="en-US" altLang="zh-CN" dirty="0" smtClean="0"/>
              <a:t>n|(</a:t>
            </a:r>
            <a:r>
              <a:rPr lang="en-US" altLang="zh-CN" dirty="0" smtClean="0"/>
              <a:t>x[i]-x[2i])</a:t>
            </a:r>
            <a:r>
              <a:rPr lang="zh-CN" altLang="en-US" dirty="0" smtClean="0"/>
              <a:t>，那么分解失败。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7333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中国</a:t>
            </a:r>
            <a:r>
              <a:rPr lang="zh-CN" altLang="en-US" dirty="0" smtClean="0"/>
              <a:t>剩余定理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解方程</a:t>
                </a:r>
                <a:r>
                  <a:rPr lang="en-US" altLang="zh-CN" dirty="0" smtClean="0"/>
                  <a:t>x</a:t>
                </a:r>
                <a:r>
                  <a:rPr lang="zh-CN" altLang="en-US" dirty="0" smtClean="0"/>
                  <a:t> ≡</a:t>
                </a:r>
                <a:r>
                  <a:rPr lang="en-US" altLang="zh-CN" dirty="0" err="1" smtClean="0"/>
                  <a:t>ai</a:t>
                </a:r>
                <a:r>
                  <a:rPr lang="en-US" altLang="zh-CN" dirty="0" smtClean="0"/>
                  <a:t> (mod pi)</a:t>
                </a:r>
                <a:r>
                  <a:rPr lang="zh-CN" altLang="en-US" dirty="0" smtClean="0"/>
                  <a:t>，其中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两两互质。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记</a:t>
                </a:r>
                <a:r>
                  <a:rPr lang="en-US" altLang="zh-CN" dirty="0" err="1" smtClean="0"/>
                  <a:t>qij</a:t>
                </a:r>
                <a:r>
                  <a:rPr lang="zh-CN" altLang="en-US" dirty="0" smtClean="0"/>
                  <a:t>表示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在模</a:t>
                </a:r>
                <a:r>
                  <a:rPr lang="en-US" altLang="zh-CN" dirty="0" err="1" smtClean="0"/>
                  <a:t>pj</a:t>
                </a:r>
                <a:r>
                  <a:rPr lang="zh-CN" altLang="en-US" dirty="0" smtClean="0"/>
                  <a:t>意义下的逆元。</a:t>
                </a:r>
                <a:endParaRPr lang="en-US" altLang="zh-CN" dirty="0" smtClean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zh-CN" altLang="en-US" i="1" dirty="0" smtClean="0">
                        <a:latin typeface="Cambria Math"/>
                      </a:rPr>
                      <m:t>≡</m:t>
                    </m:r>
                    <m:r>
                      <m:rPr>
                        <m:sty m:val="p"/>
                      </m:rPr>
                      <a:rPr lang="el-GR" i="0" dirty="0" smtClean="0">
                        <a:latin typeface="Cambria Math"/>
                      </a:rPr>
                      <m:t>Σ</m:t>
                    </m:r>
                    <m:r>
                      <a:rPr lang="en-US" i="1" dirty="0" err="1" smtClean="0">
                        <a:latin typeface="Cambria Math"/>
                      </a:rPr>
                      <m:t>𝑎𝑖</m:t>
                    </m:r>
                    <m:nary>
                      <m:naryPr>
                        <m:chr m:val="∏"/>
                        <m:supHide m:val="on"/>
                        <m:ctrlPr>
                          <a:rPr lang="en-US" altLang="zh-CN" b="0" i="1" dirty="0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b="0" i="1" dirty="0" smtClean="0">
                            <a:latin typeface="Cambria Math"/>
                          </a:rPr>
                          <m:t>𝑗</m:t>
                        </m:r>
                        <m:r>
                          <a:rPr lang="zh-CN" altLang="en-US" b="0" i="1" dirty="0" smtClean="0">
                            <a:latin typeface="Cambria Math"/>
                          </a:rPr>
                          <m:t>≠</m:t>
                        </m:r>
                        <m:r>
                          <a:rPr lang="en-US" altLang="zh-CN" b="0" i="1" dirty="0" smtClean="0">
                            <a:latin typeface="Cambria Math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b="0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0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/>
                              </a:rPr>
                              <m:t>𝑗𝑖</m:t>
                            </m:r>
                          </m:sub>
                        </m:sSub>
                      </m:e>
                    </m:nary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b="0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𝑚𝑜𝑑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𝑝</m:t>
                    </m:r>
                    <m:r>
                      <a:rPr lang="en-US" i="1" dirty="0" smtClean="0">
                        <a:latin typeface="Cambria Math"/>
                      </a:rPr>
                      <m:t>1</m:t>
                    </m:r>
                    <m:r>
                      <a:rPr lang="en-US" i="1" dirty="0" smtClean="0">
                        <a:latin typeface="Cambria Math"/>
                      </a:rPr>
                      <m:t>𝑝</m:t>
                    </m:r>
                    <m:r>
                      <a:rPr lang="en-US" i="1" dirty="0" smtClean="0">
                        <a:latin typeface="Cambria Math"/>
                      </a:rPr>
                      <m:t>2…</m:t>
                    </m:r>
                    <m:r>
                      <a:rPr lang="en-US" i="1" dirty="0" err="1" smtClean="0">
                        <a:latin typeface="Cambria Math"/>
                      </a:rPr>
                      <m:t>𝑝𝑛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如果不互质呢？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将每个</a:t>
                </a:r>
                <a:r>
                  <a:rPr lang="en-US" altLang="zh-CN" dirty="0" smtClean="0"/>
                  <a:t>pi</a:t>
                </a:r>
                <a:r>
                  <a:rPr lang="zh-CN" altLang="en-US" dirty="0" smtClean="0"/>
                  <a:t>拆分成质数的幂。</a:t>
                </a:r>
                <a:endParaRPr lang="en-US" altLang="zh-CN" dirty="0" smtClean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2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0503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原根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整数的阶：使得</a:t>
            </a:r>
            <a:r>
              <a:rPr lang="en-US" altLang="zh-CN" dirty="0" err="1" smtClean="0"/>
              <a:t>a^x</a:t>
            </a:r>
            <a:r>
              <a:rPr lang="zh-CN" altLang="en-US" dirty="0" smtClean="0"/>
              <a:t> ≡</a:t>
            </a:r>
            <a:r>
              <a:rPr lang="en-US" altLang="zh-CN" dirty="0" smtClean="0"/>
              <a:t>1 (mod p)</a:t>
            </a:r>
            <a:r>
              <a:rPr lang="zh-CN" altLang="en-US" dirty="0" smtClean="0"/>
              <a:t>的最小正整数</a:t>
            </a:r>
            <a:r>
              <a:rPr lang="en-US" altLang="zh-CN" dirty="0" smtClean="0"/>
              <a:t>x</a:t>
            </a:r>
            <a:r>
              <a:rPr lang="zh-CN" altLang="en-US" dirty="0" smtClean="0"/>
              <a:t>称为</a:t>
            </a:r>
            <a:r>
              <a:rPr lang="en-US" altLang="zh-CN" dirty="0" smtClean="0"/>
              <a:t>a</a:t>
            </a:r>
            <a:r>
              <a:rPr lang="zh-CN" altLang="en-US" dirty="0" smtClean="0"/>
              <a:t>模</a:t>
            </a:r>
            <a:r>
              <a:rPr lang="en-US" altLang="zh-CN" dirty="0" smtClean="0"/>
              <a:t>p</a:t>
            </a:r>
            <a:r>
              <a:rPr lang="zh-CN" altLang="en-US" dirty="0" smtClean="0"/>
              <a:t>的阶，记为</a:t>
            </a:r>
            <a:r>
              <a:rPr lang="en-US" altLang="zh-CN" dirty="0" err="1" smtClean="0"/>
              <a:t>ord</a:t>
            </a:r>
            <a:r>
              <a:rPr lang="en-US" altLang="zh-CN" sz="2000" dirty="0" err="1" smtClean="0"/>
              <a:t>p</a:t>
            </a:r>
            <a:r>
              <a:rPr lang="en-US" altLang="zh-CN" dirty="0" err="1" smtClean="0"/>
              <a:t>a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原根：</a:t>
            </a:r>
            <a:r>
              <a:rPr lang="en-US" altLang="zh-CN" dirty="0" err="1" smtClean="0"/>
              <a:t>ord</a:t>
            </a:r>
            <a:r>
              <a:rPr lang="en-US" altLang="zh-CN" sz="2000" dirty="0" err="1" smtClean="0"/>
              <a:t>p</a:t>
            </a:r>
            <a:r>
              <a:rPr lang="en-US" altLang="zh-CN" dirty="0" err="1" smtClean="0"/>
              <a:t>a</a:t>
            </a:r>
            <a:r>
              <a:rPr lang="en-US" altLang="zh-CN" dirty="0" smtClean="0"/>
              <a:t>=</a:t>
            </a:r>
            <a:r>
              <a:rPr lang="el-GR" altLang="zh-CN" dirty="0" smtClean="0"/>
              <a:t> φ</a:t>
            </a:r>
            <a:r>
              <a:rPr lang="en-US" altLang="zh-CN" dirty="0" smtClean="0"/>
              <a:t>(p)</a:t>
            </a:r>
            <a:r>
              <a:rPr lang="zh-CN" altLang="en-US" dirty="0" smtClean="0"/>
              <a:t>时，称</a:t>
            </a:r>
            <a:r>
              <a:rPr lang="en-US" altLang="zh-CN" dirty="0" smtClean="0"/>
              <a:t>a</a:t>
            </a:r>
            <a:r>
              <a:rPr lang="zh-CN" altLang="en-US" dirty="0" smtClean="0"/>
              <a:t>是</a:t>
            </a:r>
            <a:r>
              <a:rPr lang="en-US" altLang="zh-CN" dirty="0" smtClean="0"/>
              <a:t>p</a:t>
            </a:r>
            <a:r>
              <a:rPr lang="zh-CN" altLang="en-US" dirty="0" smtClean="0"/>
              <a:t>的原根。</a:t>
            </a:r>
            <a:endParaRPr lang="en-US" altLang="zh-CN" dirty="0" smtClean="0"/>
          </a:p>
          <a:p>
            <a:r>
              <a:rPr lang="zh-CN" altLang="en-US" dirty="0" smtClean="0"/>
              <a:t>有原根的数为</a:t>
            </a:r>
            <a:r>
              <a:rPr lang="en-US" altLang="zh-CN" dirty="0" smtClean="0"/>
              <a:t>1,2,4,p^k,2p^k</a:t>
            </a:r>
            <a:r>
              <a:rPr lang="zh-CN" altLang="en-US" dirty="0" smtClean="0"/>
              <a:t>，其中</a:t>
            </a:r>
            <a:r>
              <a:rPr lang="en-US" altLang="zh-CN" dirty="0" smtClean="0"/>
              <a:t>p</a:t>
            </a:r>
            <a:r>
              <a:rPr lang="zh-CN" altLang="en-US" dirty="0" smtClean="0"/>
              <a:t>为奇素数，</a:t>
            </a:r>
            <a:r>
              <a:rPr lang="en-US" altLang="zh-CN" dirty="0" smtClean="0"/>
              <a:t>k</a:t>
            </a:r>
            <a:r>
              <a:rPr lang="zh-CN" altLang="en-US" dirty="0" smtClean="0"/>
              <a:t>为正整数。</a:t>
            </a:r>
            <a:endParaRPr lang="en-US" altLang="zh-CN" dirty="0" smtClean="0"/>
          </a:p>
          <a:p>
            <a:r>
              <a:rPr lang="zh-CN" altLang="en-US" dirty="0" smtClean="0"/>
              <a:t>如果</a:t>
            </a:r>
            <a:r>
              <a:rPr lang="en-US" altLang="zh-CN" dirty="0" smtClean="0"/>
              <a:t>p</a:t>
            </a:r>
            <a:r>
              <a:rPr lang="zh-CN" altLang="en-US" dirty="0" smtClean="0"/>
              <a:t>有原根，那么原根个数为</a:t>
            </a:r>
            <a:r>
              <a:rPr lang="el-GR" altLang="zh-CN" dirty="0" smtClean="0"/>
              <a:t>φ</a:t>
            </a:r>
            <a:r>
              <a:rPr lang="en-US" altLang="zh-CN" dirty="0" smtClean="0"/>
              <a:t>(</a:t>
            </a:r>
            <a:r>
              <a:rPr lang="el-GR" altLang="zh-CN" dirty="0" smtClean="0"/>
              <a:t>φ</a:t>
            </a:r>
            <a:r>
              <a:rPr lang="en-US" altLang="zh-CN" dirty="0" smtClean="0"/>
              <a:t>(p))</a:t>
            </a:r>
            <a:r>
              <a:rPr lang="zh-CN" altLang="en-US" dirty="0" smtClean="0"/>
              <a:t>个。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8603371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二次剩余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如果</a:t>
            </a:r>
            <a:r>
              <a:rPr lang="en-US" altLang="zh-CN" dirty="0" smtClean="0"/>
              <a:t>x^2</a:t>
            </a:r>
            <a:r>
              <a:rPr lang="zh-CN" altLang="en-US" dirty="0" smtClean="0"/>
              <a:t> ≡</a:t>
            </a:r>
            <a:r>
              <a:rPr lang="en-US" altLang="zh-CN" dirty="0" smtClean="0"/>
              <a:t>a (mod p)</a:t>
            </a:r>
            <a:r>
              <a:rPr lang="zh-CN" altLang="en-US" dirty="0" smtClean="0"/>
              <a:t>有解，称</a:t>
            </a:r>
            <a:r>
              <a:rPr lang="en-US" altLang="zh-CN" dirty="0" smtClean="0"/>
              <a:t>a</a:t>
            </a:r>
            <a:r>
              <a:rPr lang="zh-CN" altLang="en-US" dirty="0" smtClean="0"/>
              <a:t>为模</a:t>
            </a:r>
            <a:r>
              <a:rPr lang="en-US" altLang="zh-CN" dirty="0" smtClean="0"/>
              <a:t>p</a:t>
            </a:r>
            <a:r>
              <a:rPr lang="zh-CN" altLang="en-US" dirty="0" smtClean="0"/>
              <a:t>的二次剩余，否则称</a:t>
            </a:r>
            <a:r>
              <a:rPr lang="en-US" altLang="zh-CN" dirty="0" smtClean="0"/>
              <a:t>a</a:t>
            </a:r>
            <a:r>
              <a:rPr lang="zh-CN" altLang="en-US" dirty="0" smtClean="0"/>
              <a:t>为模</a:t>
            </a:r>
            <a:r>
              <a:rPr lang="en-US" altLang="zh-CN" dirty="0" smtClean="0"/>
              <a:t>p</a:t>
            </a:r>
            <a:r>
              <a:rPr lang="zh-CN" altLang="en-US" dirty="0" smtClean="0"/>
              <a:t>的二次非剩余。</a:t>
            </a:r>
            <a:endParaRPr lang="en-US" altLang="zh-CN" dirty="0" smtClean="0"/>
          </a:p>
          <a:p>
            <a:r>
              <a:rPr lang="zh-CN" altLang="en-US" dirty="0" smtClean="0"/>
              <a:t>若</a:t>
            </a:r>
            <a:r>
              <a:rPr lang="en-US" altLang="zh-CN" dirty="0" smtClean="0"/>
              <a:t>p</a:t>
            </a:r>
            <a:r>
              <a:rPr lang="zh-CN" altLang="en-US" dirty="0" smtClean="0"/>
              <a:t>为质数，则</a:t>
            </a:r>
            <a:r>
              <a:rPr lang="en-US" altLang="zh-CN" dirty="0" smtClean="0"/>
              <a:t>p</a:t>
            </a:r>
            <a:r>
              <a:rPr lang="zh-CN" altLang="en-US" dirty="0" smtClean="0"/>
              <a:t>的二次剩余与</a:t>
            </a:r>
            <a:r>
              <a:rPr lang="en-US" altLang="zh-CN" dirty="0" smtClean="0"/>
              <a:t>p</a:t>
            </a:r>
            <a:r>
              <a:rPr lang="zh-CN" altLang="en-US" dirty="0" smtClean="0"/>
              <a:t>的二次非剩余个数相同。</a:t>
            </a:r>
            <a:endParaRPr lang="en-US" altLang="zh-CN" dirty="0" smtClean="0"/>
          </a:p>
          <a:p>
            <a:r>
              <a:rPr lang="zh-CN" altLang="en-US" dirty="0" smtClean="0"/>
              <a:t>如何快速判断</a:t>
            </a:r>
            <a:r>
              <a:rPr lang="en-US" altLang="zh-CN" dirty="0" smtClean="0"/>
              <a:t>a</a:t>
            </a:r>
            <a:r>
              <a:rPr lang="zh-CN" altLang="en-US" dirty="0" smtClean="0"/>
              <a:t>是否是</a:t>
            </a:r>
            <a:r>
              <a:rPr lang="en-US" altLang="zh-CN" dirty="0" smtClean="0"/>
              <a:t>p</a:t>
            </a:r>
            <a:r>
              <a:rPr lang="zh-CN" altLang="en-US" dirty="0" smtClean="0"/>
              <a:t>的二次剩余？</a:t>
            </a:r>
            <a:endParaRPr lang="en-US" altLang="zh-CN" dirty="0" smtClean="0"/>
          </a:p>
          <a:p>
            <a:r>
              <a:rPr lang="zh-CN" altLang="en-US" dirty="0" smtClean="0"/>
              <a:t>判断</a:t>
            </a:r>
            <a:r>
              <a:rPr lang="en-US" altLang="zh-CN" dirty="0" smtClean="0"/>
              <a:t>a^((p-1)/2)</a:t>
            </a:r>
            <a:r>
              <a:rPr lang="zh-CN" altLang="en-US" dirty="0" smtClean="0"/>
              <a:t>是否</a:t>
            </a:r>
            <a:r>
              <a:rPr lang="zh-CN" altLang="en-US" dirty="0" smtClean="0"/>
              <a:t>≡</a:t>
            </a:r>
            <a:r>
              <a:rPr lang="en-US" altLang="zh-CN" dirty="0" smtClean="0"/>
              <a:t>1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74412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拉格朗日</a:t>
            </a:r>
            <a:r>
              <a:rPr lang="zh-CN" altLang="en-US" dirty="0" smtClean="0"/>
              <a:t>定理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若</a:t>
            </a:r>
            <a:r>
              <a:rPr lang="en-US" altLang="zh-CN" dirty="0" smtClean="0"/>
              <a:t>p</a:t>
            </a:r>
            <a:r>
              <a:rPr lang="zh-CN" altLang="en-US" dirty="0" smtClean="0"/>
              <a:t>为质数，</a:t>
            </a:r>
            <a:r>
              <a:rPr lang="en-US" altLang="zh-CN" dirty="0" smtClean="0"/>
              <a:t>f(x)</a:t>
            </a:r>
            <a:r>
              <a:rPr lang="zh-CN" altLang="en-US" dirty="0" smtClean="0"/>
              <a:t>为模</a:t>
            </a:r>
            <a:r>
              <a:rPr lang="en-US" altLang="zh-CN" dirty="0" smtClean="0"/>
              <a:t>p</a:t>
            </a:r>
            <a:r>
              <a:rPr lang="zh-CN" altLang="en-US" dirty="0" smtClean="0"/>
              <a:t>意义下的</a:t>
            </a:r>
            <a:r>
              <a:rPr lang="en-US" altLang="zh-CN" dirty="0" smtClean="0"/>
              <a:t>n</a:t>
            </a:r>
            <a:r>
              <a:rPr lang="zh-CN" altLang="en-US" dirty="0" smtClean="0"/>
              <a:t>次多项式，</a:t>
            </a:r>
            <a:r>
              <a:rPr lang="en-US" altLang="zh-CN" dirty="0" smtClean="0"/>
              <a:t>n&gt;0</a:t>
            </a:r>
            <a:r>
              <a:rPr lang="zh-CN" altLang="en-US" dirty="0" smtClean="0"/>
              <a:t>，那么</a:t>
            </a:r>
            <a:r>
              <a:rPr lang="en-US" altLang="zh-CN" dirty="0" smtClean="0"/>
              <a:t>f(x)</a:t>
            </a:r>
            <a:r>
              <a:rPr lang="zh-CN" altLang="en-US" dirty="0" smtClean="0"/>
              <a:t>至多有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个模</a:t>
            </a:r>
            <a:r>
              <a:rPr lang="en-US" altLang="zh-CN" dirty="0" smtClean="0"/>
              <a:t>p</a:t>
            </a:r>
            <a:r>
              <a:rPr lang="zh-CN" altLang="en-US" dirty="0" smtClean="0"/>
              <a:t>不同余的根。</a:t>
            </a:r>
            <a:endParaRPr lang="en-US" altLang="zh-CN" dirty="0" smtClean="0"/>
          </a:p>
          <a:p>
            <a:r>
              <a:rPr lang="zh-CN" altLang="en-US" dirty="0" smtClean="0"/>
              <a:t>数学归纳法。</a:t>
            </a:r>
            <a:endParaRPr lang="en-US" altLang="zh-CN" dirty="0" smtClean="0"/>
          </a:p>
          <a:p>
            <a:r>
              <a:rPr lang="en-US" altLang="zh-CN" dirty="0" smtClean="0"/>
              <a:t>f(x)-f(x0)=(x-x0)g(x)</a:t>
            </a:r>
            <a:r>
              <a:rPr lang="zh-CN" altLang="en-US" dirty="0" smtClean="0"/>
              <a:t>。</a:t>
            </a:r>
            <a:r>
              <a:rPr lang="en-US" altLang="zh-CN" dirty="0" smtClean="0"/>
              <a:t>g(x)</a:t>
            </a:r>
            <a:r>
              <a:rPr lang="zh-CN" altLang="en-US" dirty="0" smtClean="0"/>
              <a:t>为</a:t>
            </a:r>
            <a:r>
              <a:rPr lang="en-US" altLang="zh-CN" dirty="0" smtClean="0"/>
              <a:t>n-1</a:t>
            </a:r>
            <a:r>
              <a:rPr lang="zh-CN" altLang="en-US" dirty="0" smtClean="0"/>
              <a:t>次多项式。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7905116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莫比乌斯</a:t>
            </a:r>
            <a:r>
              <a:rPr lang="zh-CN" altLang="en-US" dirty="0" smtClean="0"/>
              <a:t>反演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如果我们已经知道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/>
                      </a:rPr>
                      <m:t>𝐹</m:t>
                    </m:r>
                    <m:r>
                      <a:rPr lang="en-US" altLang="zh-CN" i="1" dirty="0" smtClean="0">
                        <a:latin typeface="Cambria Math"/>
                      </a:rPr>
                      <m:t>(</m:t>
                    </m:r>
                    <m:r>
                      <a:rPr lang="en-US" altLang="zh-CN" i="1" dirty="0" err="1" smtClean="0">
                        <a:latin typeface="Cambria Math"/>
                      </a:rPr>
                      <m:t>𝑖</m:t>
                    </m:r>
                    <m:r>
                      <a:rPr lang="en-US" altLang="zh-CN" i="1" dirty="0" smtClean="0">
                        <a:latin typeface="Cambria Math"/>
                      </a:rPr>
                      <m:t>)=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i="1" dirty="0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b="0" i="1" dirty="0" smtClean="0">
                            <a:latin typeface="Cambria Math"/>
                          </a:rPr>
                          <m:t>𝑑</m:t>
                        </m:r>
                        <m:r>
                          <a:rPr lang="en-US" altLang="zh-CN" b="0" i="1" dirty="0" smtClean="0">
                            <a:latin typeface="Cambria Math"/>
                          </a:rPr>
                          <m:t>|</m:t>
                        </m:r>
                        <m:r>
                          <a:rPr lang="en-US" altLang="zh-CN" b="0" i="1" dirty="0" smtClean="0">
                            <a:latin typeface="Cambria Math"/>
                          </a:rPr>
                          <m:t>𝑖</m:t>
                        </m:r>
                      </m:sub>
                      <m:sup/>
                      <m:e>
                        <m:r>
                          <a:rPr lang="en-US" altLang="zh-CN" b="0" i="1" dirty="0" smtClean="0">
                            <a:latin typeface="Cambria Math"/>
                          </a:rPr>
                          <m:t>𝑓</m:t>
                        </m:r>
                        <m:r>
                          <a:rPr lang="en-US" altLang="zh-CN" b="0" i="1" dirty="0" smtClean="0">
                            <a:latin typeface="Cambria Math"/>
                          </a:rPr>
                          <m:t>(</m:t>
                        </m:r>
                        <m:r>
                          <a:rPr lang="en-US" altLang="zh-CN" b="0" i="1" dirty="0" smtClean="0">
                            <a:latin typeface="Cambria Math"/>
                          </a:rPr>
                          <m:t>𝑑</m:t>
                        </m:r>
                        <m:r>
                          <a:rPr lang="en-US" altLang="zh-CN" b="0" i="1" dirty="0" smtClean="0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r>
                  <a:rPr lang="zh-CN" altLang="en-US" dirty="0" smtClean="0"/>
                  <a:t>，如何求出</a:t>
                </a:r>
                <a:r>
                  <a:rPr lang="en-US" altLang="zh-CN" dirty="0" smtClean="0"/>
                  <a:t>f(</a:t>
                </a:r>
                <a:r>
                  <a:rPr lang="en-US" altLang="zh-CN" dirty="0" err="1" smtClean="0"/>
                  <a:t>i</a:t>
                </a:r>
                <a:r>
                  <a:rPr lang="en-US" altLang="zh-CN" dirty="0" smtClean="0"/>
                  <a:t>)</a:t>
                </a:r>
                <a:r>
                  <a:rPr lang="zh-CN" altLang="en-US" dirty="0" smtClean="0"/>
                  <a:t>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记</a:t>
                </a:r>
                <a:r>
                  <a:rPr lang="en-US" altLang="zh-CN" dirty="0" err="1" smtClean="0"/>
                  <a:t>i</a:t>
                </a:r>
                <a:r>
                  <a:rPr lang="en-US" altLang="zh-CN" dirty="0" smtClean="0"/>
                  <a:t>=</a:t>
                </a:r>
                <a:r>
                  <a:rPr lang="zh-CN" altLang="en-US" dirty="0" smtClean="0"/>
                  <a:t>质数的幂时</a:t>
                </a:r>
                <a:r>
                  <a:rPr lang="el-GR" dirty="0" smtClean="0"/>
                  <a:t>μ</a:t>
                </a:r>
                <a:r>
                  <a:rPr lang="en-US" dirty="0" smtClean="0"/>
                  <a:t>(</a:t>
                </a:r>
                <a:r>
                  <a:rPr lang="en-US" dirty="0" err="1" smtClean="0"/>
                  <a:t>i</a:t>
                </a:r>
                <a:r>
                  <a:rPr lang="en-US" dirty="0" smtClean="0"/>
                  <a:t>)</a:t>
                </a:r>
                <a:r>
                  <a:rPr lang="en-US" altLang="zh-CN" dirty="0" smtClean="0"/>
                  <a:t>=(-1)^</a:t>
                </a:r>
                <a:r>
                  <a:rPr lang="zh-CN" altLang="en-US" dirty="0" smtClean="0"/>
                  <a:t>幂次，否则</a:t>
                </a:r>
                <a:r>
                  <a:rPr lang="el-GR" dirty="0" smtClean="0"/>
                  <a:t>μ</a:t>
                </a:r>
                <a:r>
                  <a:rPr lang="en-US" dirty="0" smtClean="0"/>
                  <a:t>(</a:t>
                </a:r>
                <a:r>
                  <a:rPr lang="en-US" dirty="0" err="1" smtClean="0"/>
                  <a:t>i</a:t>
                </a:r>
                <a:r>
                  <a:rPr lang="en-US" dirty="0" smtClean="0"/>
                  <a:t>)=0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/>
                      </a:rPr>
                      <m:t>𝑓</m:t>
                    </m:r>
                    <m:r>
                      <a:rPr lang="en-US" altLang="zh-CN" i="1" dirty="0" smtClean="0">
                        <a:latin typeface="Cambria Math"/>
                      </a:rPr>
                      <m:t>(</m:t>
                    </m:r>
                    <m:r>
                      <a:rPr lang="en-US" altLang="zh-CN" i="1" dirty="0" err="1" smtClean="0">
                        <a:latin typeface="Cambria Math"/>
                      </a:rPr>
                      <m:t>𝑖</m:t>
                    </m:r>
                    <m:r>
                      <a:rPr lang="en-US" altLang="zh-CN" i="1" dirty="0" smtClean="0">
                        <a:latin typeface="Cambria Math"/>
                      </a:rPr>
                      <m:t>)=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i="1" dirty="0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b="0" i="1" dirty="0" smtClean="0">
                            <a:latin typeface="Cambria Math"/>
                          </a:rPr>
                          <m:t>𝑑</m:t>
                        </m:r>
                        <m:r>
                          <a:rPr lang="en-US" altLang="zh-CN" b="0" i="1" dirty="0" smtClean="0">
                            <a:latin typeface="Cambria Math"/>
                          </a:rPr>
                          <m:t>|</m:t>
                        </m:r>
                        <m:r>
                          <a:rPr lang="en-US" altLang="zh-CN" b="0" i="1" dirty="0" smtClean="0">
                            <a:latin typeface="Cambria Math"/>
                          </a:rPr>
                          <m:t>𝑖</m:t>
                        </m:r>
                      </m:sub>
                      <m:sup/>
                      <m:e>
                        <m:r>
                          <a:rPr lang="en-US" altLang="zh-CN" i="1" dirty="0">
                            <a:latin typeface="Cambria Math"/>
                          </a:rPr>
                          <m:t>𝐹</m:t>
                        </m:r>
                        <m:r>
                          <a:rPr lang="en-US" altLang="zh-CN" i="1" dirty="0">
                            <a:latin typeface="Cambria Math"/>
                          </a:rPr>
                          <m:t>(</m:t>
                        </m:r>
                        <m:r>
                          <a:rPr lang="en-US" altLang="zh-CN" i="1" dirty="0">
                            <a:latin typeface="Cambria Math"/>
                          </a:rPr>
                          <m:t>𝑑</m:t>
                        </m:r>
                        <m:r>
                          <a:rPr lang="en-US" altLang="zh-CN" i="1" dirty="0">
                            <a:latin typeface="Cambria Math"/>
                          </a:rPr>
                          <m:t>)</m:t>
                        </m:r>
                        <m:r>
                          <a:rPr lang="el-GR" altLang="zh-CN" i="1" dirty="0">
                            <a:latin typeface="Cambria Math"/>
                          </a:rPr>
                          <m:t>𝜇</m:t>
                        </m:r>
                        <m:r>
                          <a:rPr lang="en-US" altLang="zh-CN" i="1" dirty="0">
                            <a:latin typeface="Cambria Math"/>
                          </a:rPr>
                          <m:t>(</m:t>
                        </m:r>
                        <m:r>
                          <a:rPr lang="en-US" altLang="zh-CN" i="1" dirty="0" err="1">
                            <a:latin typeface="Cambria Math"/>
                          </a:rPr>
                          <m:t>𝑖</m:t>
                        </m:r>
                        <m:r>
                          <a:rPr lang="en-US" altLang="zh-CN" i="1" dirty="0">
                            <a:latin typeface="Cambria Math"/>
                          </a:rPr>
                          <m:t>/</m:t>
                        </m:r>
                        <m:r>
                          <a:rPr lang="en-US" altLang="zh-CN" i="1" dirty="0">
                            <a:latin typeface="Cambria Math"/>
                          </a:rPr>
                          <m:t>𝑑</m:t>
                        </m:r>
                        <m:r>
                          <a:rPr lang="en-US" altLang="zh-CN" i="1" dirty="0">
                            <a:latin typeface="Cambria Math"/>
                          </a:rPr>
                          <m:t>)</m:t>
                        </m:r>
                      </m:e>
                    </m:nary>
                    <m:r>
                      <a:rPr lang="el-GR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如何证明？</a:t>
                </a:r>
                <a:endParaRPr lang="en-US" altLang="zh-CN" dirty="0" smtClean="0"/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i="1" dirty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i="1" dirty="0">
                            <a:latin typeface="Cambria Math"/>
                          </a:rPr>
                          <m:t>𝑑</m:t>
                        </m:r>
                        <m:r>
                          <a:rPr lang="en-US" altLang="zh-CN" i="1" dirty="0">
                            <a:latin typeface="Cambria Math"/>
                          </a:rPr>
                          <m:t>|</m:t>
                        </m:r>
                        <m:r>
                          <a:rPr lang="en-US" altLang="zh-CN" i="1" dirty="0">
                            <a:latin typeface="Cambria Math"/>
                          </a:rPr>
                          <m:t>𝑖</m:t>
                        </m:r>
                      </m:sub>
                      <m:sup/>
                      <m:e>
                        <m:r>
                          <a:rPr lang="el-GR" altLang="zh-CN" i="1" dirty="0">
                            <a:latin typeface="Cambria Math"/>
                          </a:rPr>
                          <m:t>𝜇</m:t>
                        </m:r>
                        <m:r>
                          <a:rPr lang="en-US" altLang="zh-CN" i="1" dirty="0">
                            <a:latin typeface="Cambria Math"/>
                          </a:rPr>
                          <m:t>(</m:t>
                        </m:r>
                        <m:r>
                          <a:rPr lang="en-US" altLang="zh-CN" i="1" dirty="0">
                            <a:latin typeface="Cambria Math"/>
                          </a:rPr>
                          <m:t>𝑑</m:t>
                        </m:r>
                        <m:r>
                          <a:rPr lang="en-US" altLang="zh-CN" i="1" dirty="0">
                            <a:latin typeface="Cambria Math"/>
                          </a:rPr>
                          <m:t>)</m:t>
                        </m:r>
                      </m:e>
                    </m:nary>
                    <m:r>
                      <a:rPr lang="en-US" i="1" dirty="0" smtClean="0">
                        <a:latin typeface="Cambria Math"/>
                      </a:rPr>
                      <m:t>= [</m:t>
                    </m:r>
                    <m:r>
                      <a:rPr lang="en-US" i="1" dirty="0" smtClean="0">
                        <a:latin typeface="Cambria Math"/>
                      </a:rPr>
                      <m:t>𝑖</m:t>
                    </m:r>
                    <m:r>
                      <a:rPr lang="en-US" i="1" dirty="0" smtClean="0">
                        <a:latin typeface="Cambria Math"/>
                      </a:rPr>
                      <m:t>==1]</m:t>
                    </m:r>
                  </m:oMath>
                </a14:m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i="1" dirty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i="1" dirty="0">
                            <a:latin typeface="Cambria Math"/>
                          </a:rPr>
                          <m:t>𝑑</m:t>
                        </m:r>
                        <m:r>
                          <a:rPr lang="en-US" altLang="zh-CN" i="1" dirty="0">
                            <a:latin typeface="Cambria Math"/>
                          </a:rPr>
                          <m:t>|</m:t>
                        </m:r>
                        <m:r>
                          <a:rPr lang="en-US" altLang="zh-CN" i="1" dirty="0">
                            <a:latin typeface="Cambria Math"/>
                          </a:rPr>
                          <m:t>𝑖</m:t>
                        </m:r>
                      </m:sub>
                      <m:sup/>
                      <m:e>
                        <m:r>
                          <a:rPr lang="en-US" altLang="zh-CN" i="1" dirty="0">
                            <a:latin typeface="Cambria Math"/>
                          </a:rPr>
                          <m:t>𝐹</m:t>
                        </m:r>
                        <m:r>
                          <a:rPr lang="en-US" altLang="zh-CN" i="1" dirty="0">
                            <a:latin typeface="Cambria Math"/>
                          </a:rPr>
                          <m:t>(</m:t>
                        </m:r>
                        <m:r>
                          <a:rPr lang="en-US" altLang="zh-CN" i="1" dirty="0">
                            <a:latin typeface="Cambria Math"/>
                          </a:rPr>
                          <m:t>𝑑</m:t>
                        </m:r>
                        <m:r>
                          <a:rPr lang="en-US" altLang="zh-CN" i="1" dirty="0">
                            <a:latin typeface="Cambria Math"/>
                          </a:rPr>
                          <m:t>)</m:t>
                        </m:r>
                        <m:r>
                          <a:rPr lang="el-GR" altLang="zh-CN" i="1" dirty="0">
                            <a:latin typeface="Cambria Math"/>
                          </a:rPr>
                          <m:t>𝜇</m:t>
                        </m:r>
                        <m:r>
                          <a:rPr lang="en-US" altLang="zh-CN" i="1" dirty="0">
                            <a:latin typeface="Cambria Math"/>
                          </a:rPr>
                          <m:t>(</m:t>
                        </m:r>
                        <m:r>
                          <a:rPr lang="en-US" altLang="zh-CN" i="1" dirty="0" err="1">
                            <a:latin typeface="Cambria Math"/>
                          </a:rPr>
                          <m:t>𝑖</m:t>
                        </m:r>
                        <m:r>
                          <a:rPr lang="en-US" altLang="zh-CN" i="1" dirty="0">
                            <a:latin typeface="Cambria Math"/>
                          </a:rPr>
                          <m:t>/</m:t>
                        </m:r>
                        <m:r>
                          <a:rPr lang="en-US" altLang="zh-CN" i="1" dirty="0">
                            <a:latin typeface="Cambria Math"/>
                          </a:rPr>
                          <m:t>𝑑</m:t>
                        </m:r>
                        <m:r>
                          <a:rPr lang="en-US" altLang="zh-CN" i="1" dirty="0">
                            <a:latin typeface="Cambria Math"/>
                          </a:rPr>
                          <m:t>)</m:t>
                        </m:r>
                      </m:e>
                    </m:nary>
                    <m:r>
                      <a:rPr lang="en-US" altLang="zh-CN" i="1" dirty="0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i="1" dirty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i="1" dirty="0">
                            <a:latin typeface="Cambria Math"/>
                          </a:rPr>
                          <m:t>𝑑</m:t>
                        </m:r>
                        <m:r>
                          <a:rPr lang="en-US" altLang="zh-CN" i="1" dirty="0">
                            <a:latin typeface="Cambria Math"/>
                          </a:rPr>
                          <m:t>|</m:t>
                        </m:r>
                        <m:r>
                          <a:rPr lang="en-US" altLang="zh-CN" i="1" dirty="0">
                            <a:latin typeface="Cambria Math"/>
                          </a:rPr>
                          <m:t>𝑖</m:t>
                        </m:r>
                      </m:sub>
                      <m:sup/>
                      <m:e>
                        <m:r>
                          <a:rPr lang="en-US" altLang="zh-CN" b="0" i="1" dirty="0" smtClean="0">
                            <a:latin typeface="Cambria Math"/>
                          </a:rPr>
                          <m:t>𝑓</m:t>
                        </m:r>
                        <m:r>
                          <a:rPr lang="en-US" altLang="zh-CN" i="1" dirty="0">
                            <a:latin typeface="Cambria Math"/>
                          </a:rPr>
                          <m:t>(</m:t>
                        </m:r>
                        <m:r>
                          <a:rPr lang="en-US" altLang="zh-CN" b="0" i="1" dirty="0" smtClean="0">
                            <a:latin typeface="Cambria Math"/>
                          </a:rPr>
                          <m:t>𝑑</m:t>
                        </m:r>
                        <m:r>
                          <a:rPr lang="en-US" altLang="zh-CN" i="1" dirty="0">
                            <a:latin typeface="Cambria Math"/>
                          </a:rPr>
                          <m:t>)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altLang="zh-CN" i="1" dirty="0" smtClean="0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zh-CN" b="0" i="1" dirty="0" smtClean="0">
                                <a:latin typeface="Cambria Math"/>
                              </a:rPr>
                              <m:t>𝑘</m:t>
                            </m:r>
                            <m:r>
                              <a:rPr lang="en-US" altLang="zh-CN" b="0" i="1" dirty="0" smtClean="0">
                                <a:latin typeface="Cambria Math"/>
                              </a:rPr>
                              <m:t>|</m:t>
                            </m:r>
                            <m:r>
                              <a:rPr lang="en-US" altLang="zh-CN" b="0" i="1" dirty="0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CN" b="0" i="1" dirty="0" smtClean="0">
                                <a:latin typeface="Cambria Math"/>
                              </a:rPr>
                              <m:t>/</m:t>
                            </m:r>
                            <m:r>
                              <a:rPr lang="en-US" altLang="zh-CN" b="0" i="1" dirty="0" smtClean="0">
                                <a:latin typeface="Cambria Math"/>
                              </a:rPr>
                              <m:t>𝑑</m:t>
                            </m:r>
                          </m:sub>
                          <m:sup/>
                          <m:e>
                            <m:r>
                              <a:rPr lang="el-GR" altLang="zh-CN" i="1" dirty="0">
                                <a:latin typeface="Cambria Math"/>
                              </a:rPr>
                              <m:t>𝜇</m:t>
                            </m:r>
                            <m:r>
                              <a:rPr lang="en-US" altLang="zh-CN" i="1" dirty="0">
                                <a:latin typeface="Cambria Math"/>
                              </a:rPr>
                              <m:t>(</m:t>
                            </m:r>
                            <m:r>
                              <a:rPr lang="en-US" altLang="zh-CN" i="1" dirty="0">
                                <a:latin typeface="Cambria Math"/>
                              </a:rPr>
                              <m:t>𝑘</m:t>
                            </m:r>
                            <m:r>
                              <a:rPr lang="en-US" altLang="zh-CN" i="1" dirty="0">
                                <a:latin typeface="Cambria Math"/>
                              </a:rPr>
                              <m:t>)</m:t>
                            </m:r>
                          </m:e>
                        </m:nary>
                      </m:e>
                    </m:nary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2291" r="-1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0660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莫比乌斯</a:t>
            </a:r>
            <a:r>
              <a:rPr lang="zh-CN" altLang="en-US" dirty="0" smtClean="0"/>
              <a:t>反演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如果我们已经知道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𝐹</m:t>
                    </m:r>
                    <m:r>
                      <a:rPr lang="en-US" altLang="zh-CN" i="1" dirty="0">
                        <a:latin typeface="Cambria Math"/>
                      </a:rPr>
                      <m:t>(</m:t>
                    </m:r>
                    <m:r>
                      <a:rPr lang="en-US" altLang="zh-CN" i="1" dirty="0" err="1">
                        <a:latin typeface="Cambria Math"/>
                      </a:rPr>
                      <m:t>𝑖</m:t>
                    </m:r>
                    <m:r>
                      <a:rPr lang="en-US" altLang="zh-CN" i="1" dirty="0">
                        <a:latin typeface="Cambria Math"/>
                      </a:rPr>
                      <m:t>)=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i="1" dirty="0">
                            <a:latin typeface="Cambria Math"/>
                          </a:rPr>
                        </m:ctrlPr>
                      </m:naryPr>
                      <m:sub>
                        <m:r>
                          <a:rPr lang="en-US" altLang="zh-CN" i="1" dirty="0">
                            <a:latin typeface="Cambria Math"/>
                          </a:rPr>
                          <m:t>𝑖</m:t>
                        </m:r>
                        <m:r>
                          <a:rPr lang="en-US" altLang="zh-CN" b="0" i="1" dirty="0" smtClean="0">
                            <a:latin typeface="Cambria Math"/>
                          </a:rPr>
                          <m:t>|</m:t>
                        </m:r>
                        <m:r>
                          <a:rPr lang="en-US" altLang="zh-CN" b="0" i="1" dirty="0" smtClean="0">
                            <a:latin typeface="Cambria Math"/>
                          </a:rPr>
                          <m:t>𝑑</m:t>
                        </m:r>
                      </m:sub>
                      <m:sup/>
                      <m:e>
                        <m:r>
                          <a:rPr lang="en-US" altLang="zh-CN" i="1" dirty="0">
                            <a:latin typeface="Cambria Math"/>
                          </a:rPr>
                          <m:t>𝑓</m:t>
                        </m:r>
                        <m:r>
                          <a:rPr lang="en-US" altLang="zh-CN" i="1" dirty="0">
                            <a:latin typeface="Cambria Math"/>
                          </a:rPr>
                          <m:t>(</m:t>
                        </m:r>
                        <m:r>
                          <a:rPr lang="en-US" altLang="zh-CN" i="1" dirty="0">
                            <a:latin typeface="Cambria Math"/>
                          </a:rPr>
                          <m:t>𝑑</m:t>
                        </m:r>
                        <m:r>
                          <a:rPr lang="en-US" altLang="zh-CN" i="1" dirty="0">
                            <a:latin typeface="Cambria Math"/>
                          </a:rPr>
                          <m:t>)</m:t>
                        </m:r>
                      </m:e>
                    </m:nary>
                    <m:r>
                      <a:rPr lang="en-US" altLang="zh-CN" i="1" dirty="0">
                        <a:latin typeface="Cambria Math"/>
                      </a:rPr>
                      <m:t> </m:t>
                    </m:r>
                  </m:oMath>
                </a14:m>
                <a:r>
                  <a:rPr lang="zh-CN" altLang="en-US" dirty="0" smtClean="0"/>
                  <a:t>，如何求出</a:t>
                </a:r>
                <a:r>
                  <a:rPr lang="en-US" altLang="zh-CN" dirty="0" smtClean="0"/>
                  <a:t>f(</a:t>
                </a:r>
                <a:r>
                  <a:rPr lang="en-US" altLang="zh-CN" dirty="0" err="1" smtClean="0"/>
                  <a:t>i</a:t>
                </a:r>
                <a:r>
                  <a:rPr lang="en-US" altLang="zh-CN" dirty="0" smtClean="0"/>
                  <a:t>)</a:t>
                </a:r>
                <a:r>
                  <a:rPr lang="zh-CN" altLang="en-US" dirty="0" smtClean="0"/>
                  <a:t>？</a:t>
                </a:r>
                <a:endParaRPr lang="en-US" altLang="zh-CN" dirty="0" smtClean="0"/>
              </a:p>
              <a:p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𝑓</m:t>
                    </m:r>
                    <m:r>
                      <a:rPr lang="en-US" altLang="zh-CN" i="1" dirty="0">
                        <a:latin typeface="Cambria Math"/>
                      </a:rPr>
                      <m:t>(</m:t>
                    </m:r>
                    <m:r>
                      <a:rPr lang="en-US" altLang="zh-CN" i="1" dirty="0" err="1">
                        <a:latin typeface="Cambria Math"/>
                      </a:rPr>
                      <m:t>𝑖</m:t>
                    </m:r>
                    <m:r>
                      <a:rPr lang="en-US" altLang="zh-CN" i="1" dirty="0">
                        <a:latin typeface="Cambria Math"/>
                      </a:rPr>
                      <m:t>)=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i="1" dirty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b="0" i="1" dirty="0" smtClean="0">
                            <a:latin typeface="Cambria Math"/>
                          </a:rPr>
                          <m:t>𝑖</m:t>
                        </m:r>
                        <m:r>
                          <a:rPr lang="en-US" altLang="zh-CN" b="0" i="1" dirty="0" smtClean="0">
                            <a:latin typeface="Cambria Math"/>
                          </a:rPr>
                          <m:t>|</m:t>
                        </m:r>
                        <m:r>
                          <a:rPr lang="en-US" altLang="zh-CN" b="0" i="1" dirty="0" smtClean="0">
                            <a:latin typeface="Cambria Math"/>
                          </a:rPr>
                          <m:t>𝑑</m:t>
                        </m:r>
                      </m:sub>
                      <m:sup/>
                      <m:e>
                        <m:r>
                          <a:rPr lang="en-US" altLang="zh-CN" i="1" dirty="0">
                            <a:latin typeface="Cambria Math"/>
                          </a:rPr>
                          <m:t>𝐹</m:t>
                        </m:r>
                        <m:r>
                          <a:rPr lang="en-US" altLang="zh-CN" i="1" dirty="0">
                            <a:latin typeface="Cambria Math"/>
                          </a:rPr>
                          <m:t>(</m:t>
                        </m:r>
                        <m:r>
                          <a:rPr lang="en-US" altLang="zh-CN" i="1" dirty="0">
                            <a:latin typeface="Cambria Math"/>
                          </a:rPr>
                          <m:t>𝑑</m:t>
                        </m:r>
                        <m:r>
                          <a:rPr lang="en-US" altLang="zh-CN" i="1" dirty="0">
                            <a:latin typeface="Cambria Math"/>
                          </a:rPr>
                          <m:t>)</m:t>
                        </m:r>
                        <m:r>
                          <a:rPr lang="el-GR" altLang="zh-CN" i="1" dirty="0">
                            <a:latin typeface="Cambria Math"/>
                          </a:rPr>
                          <m:t>𝜇</m:t>
                        </m:r>
                        <m:r>
                          <a:rPr lang="en-US" altLang="zh-CN" i="1" dirty="0">
                            <a:latin typeface="Cambria Math"/>
                          </a:rPr>
                          <m:t>(</m:t>
                        </m:r>
                        <m:r>
                          <a:rPr lang="en-US" altLang="zh-CN" b="0" i="1" dirty="0" smtClean="0">
                            <a:latin typeface="Cambria Math"/>
                          </a:rPr>
                          <m:t>𝑑</m:t>
                        </m:r>
                        <m:r>
                          <a:rPr lang="en-US" altLang="zh-CN" b="0" i="1" dirty="0" smtClean="0">
                            <a:latin typeface="Cambria Math"/>
                          </a:rPr>
                          <m:t>/</m:t>
                        </m:r>
                        <m:r>
                          <a:rPr lang="en-US" altLang="zh-CN" b="0" i="1" dirty="0" smtClean="0">
                            <a:latin typeface="Cambria Math"/>
                          </a:rPr>
                          <m:t>𝑖</m:t>
                        </m:r>
                        <m:r>
                          <a:rPr lang="en-US" altLang="zh-CN" i="1" dirty="0">
                            <a:latin typeface="Cambria Math"/>
                          </a:rPr>
                          <m:t>)</m:t>
                        </m:r>
                      </m:e>
                    </m:nary>
                    <m:r>
                      <a:rPr lang="el-GR" altLang="zh-CN" i="1" dirty="0">
                        <a:latin typeface="Cambria Math"/>
                      </a:rPr>
                      <m:t> </m:t>
                    </m:r>
                  </m:oMath>
                </a14:m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证明类似。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22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2819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洗牌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对于扑克牌的一次洗牌是这样定义的，将一</a:t>
            </a:r>
            <a:r>
              <a:rPr lang="zh-CN" altLang="en-US" dirty="0" smtClean="0"/>
              <a:t>叠</a:t>
            </a:r>
            <a:r>
              <a:rPr lang="en-US" altLang="zh-CN" dirty="0" smtClean="0"/>
              <a:t>n</a:t>
            </a:r>
            <a:r>
              <a:rPr lang="zh-CN" altLang="en-US" dirty="0" smtClean="0"/>
              <a:t>（</a:t>
            </a:r>
            <a:r>
              <a:rPr lang="en-US" altLang="zh-CN" dirty="0" smtClean="0"/>
              <a:t>n</a:t>
            </a:r>
            <a:r>
              <a:rPr lang="zh-CN" altLang="en-US" dirty="0" smtClean="0"/>
              <a:t>为</a:t>
            </a:r>
            <a:r>
              <a:rPr lang="zh-CN" altLang="en-US" dirty="0"/>
              <a:t>偶数）张扑克牌平均分成上下两叠，取下面一叠的第一张作为新的一叠的第一张，然后取上面一叠的第一张作为新的一叠的第二张，再取下面一叠的第二张作为新的一叠的第三张</a:t>
            </a:r>
            <a:r>
              <a:rPr lang="en-US" altLang="zh-CN" dirty="0"/>
              <a:t>……</a:t>
            </a:r>
            <a:r>
              <a:rPr lang="zh-CN" altLang="en-US" dirty="0"/>
              <a:t>如此交替直到所有的牌取完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问洗</a:t>
            </a:r>
            <a:r>
              <a:rPr lang="en-US" altLang="zh-CN" dirty="0"/>
              <a:t>m</a:t>
            </a:r>
            <a:r>
              <a:rPr lang="zh-CN" altLang="en-US" dirty="0" smtClean="0"/>
              <a:t>次之后第</a:t>
            </a:r>
            <a:r>
              <a:rPr lang="en-US" altLang="zh-CN" dirty="0" smtClean="0"/>
              <a:t>k</a:t>
            </a:r>
            <a:r>
              <a:rPr lang="zh-CN" altLang="en-US" dirty="0" smtClean="0"/>
              <a:t>张牌是开始的第几张。</a:t>
            </a:r>
            <a:endParaRPr lang="en-US" altLang="zh-CN" dirty="0" smtClean="0"/>
          </a:p>
          <a:p>
            <a:r>
              <a:rPr lang="en-US" altLang="zh-CN" dirty="0" err="1" smtClean="0"/>
              <a:t>n,m</a:t>
            </a:r>
            <a:r>
              <a:rPr lang="en-US" altLang="zh-CN" dirty="0" smtClean="0"/>
              <a:t>&lt;=10^10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5651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洗牌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不难发现一次洗牌后第</a:t>
            </a:r>
            <a:r>
              <a:rPr lang="en-US" altLang="zh-CN" dirty="0" smtClean="0"/>
              <a:t>i</a:t>
            </a:r>
            <a:r>
              <a:rPr lang="zh-CN" altLang="en-US" dirty="0" smtClean="0"/>
              <a:t>张的位置变成了</a:t>
            </a:r>
            <a:r>
              <a:rPr lang="en-US" altLang="zh-CN" dirty="0" smtClean="0"/>
              <a:t>2i mod n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/>
              <a:t>解</a:t>
            </a:r>
            <a:r>
              <a:rPr lang="zh-CN" altLang="en-US" dirty="0" smtClean="0"/>
              <a:t>方程</a:t>
            </a:r>
            <a:r>
              <a:rPr lang="en-US" altLang="zh-CN" dirty="0" smtClean="0"/>
              <a:t>x*2^m </a:t>
            </a:r>
            <a:r>
              <a:rPr lang="zh-CN" altLang="en-US" dirty="0" smtClean="0"/>
              <a:t>≡ </a:t>
            </a:r>
            <a:r>
              <a:rPr lang="en-US" altLang="zh-CN" dirty="0" smtClean="0"/>
              <a:t>k (mod n)</a:t>
            </a:r>
            <a:r>
              <a:rPr lang="zh-CN" altLang="en-US" dirty="0" smtClean="0"/>
              <a:t>即可。</a:t>
            </a:r>
            <a:endParaRPr lang="en-US" altLang="zh-CN" dirty="0" smtClean="0"/>
          </a:p>
          <a:p>
            <a:r>
              <a:rPr lang="zh-CN" altLang="en-US" dirty="0"/>
              <a:t>时间复杂</a:t>
            </a:r>
            <a:r>
              <a:rPr lang="zh-CN" altLang="en-US" dirty="0" smtClean="0"/>
              <a:t>度</a:t>
            </a:r>
            <a:r>
              <a:rPr lang="en-US" altLang="zh-CN" dirty="0" smtClean="0"/>
              <a:t>O(</a:t>
            </a:r>
            <a:r>
              <a:rPr lang="en-US" altLang="zh-CN" dirty="0" err="1" smtClean="0"/>
              <a:t>logn+logm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6979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Visible </a:t>
            </a:r>
            <a:r>
              <a:rPr lang="en-US" altLang="zh-CN" dirty="0"/>
              <a:t>Lattice Points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从原点</a:t>
            </a:r>
            <a:r>
              <a:rPr lang="zh-CN" altLang="en-US" dirty="0" smtClean="0"/>
              <a:t>看坐标在</a:t>
            </a:r>
            <a:r>
              <a:rPr lang="en-US" altLang="zh-CN" dirty="0" smtClean="0"/>
              <a:t>[0,n]</a:t>
            </a:r>
            <a:r>
              <a:rPr lang="zh-CN" altLang="en-US" dirty="0" smtClean="0"/>
              <a:t>的</a:t>
            </a:r>
            <a:r>
              <a:rPr lang="zh-CN" altLang="en-US" dirty="0"/>
              <a:t>整点，能直接看到的点的数目是多少（不包含原点）。</a:t>
            </a:r>
            <a:endParaRPr lang="en-US" altLang="zh-CN" dirty="0"/>
          </a:p>
          <a:p>
            <a:r>
              <a:rPr lang="en-US" altLang="zh-CN" dirty="0"/>
              <a:t>1&lt;=n&lt;=</a:t>
            </a:r>
            <a:r>
              <a:rPr lang="en-US" altLang="zh-CN" dirty="0" smtClean="0"/>
              <a:t>10^7</a:t>
            </a:r>
            <a:r>
              <a:rPr lang="zh-CN" altLang="en-US" dirty="0" smtClean="0"/>
              <a:t>。</a:t>
            </a:r>
            <a:endParaRPr lang="en-US" altLang="zh-CN" dirty="0"/>
          </a:p>
        </p:txBody>
      </p:sp>
      <p:pic>
        <p:nvPicPr>
          <p:cNvPr id="1026" name="Picture 13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92397" y="2996952"/>
            <a:ext cx="2702550" cy="324035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9954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Visible </a:t>
            </a:r>
            <a:r>
              <a:rPr lang="en-US" altLang="zh-CN" dirty="0"/>
              <a:t>Lattice Points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不难发现</a:t>
            </a:r>
            <a:r>
              <a:rPr lang="en-US" altLang="zh-CN" dirty="0"/>
              <a:t>(</a:t>
            </a:r>
            <a:r>
              <a:rPr lang="en-US" altLang="zh-CN" dirty="0" err="1"/>
              <a:t>x,y</a:t>
            </a:r>
            <a:r>
              <a:rPr lang="en-US" altLang="zh-CN" dirty="0"/>
              <a:t>)</a:t>
            </a:r>
            <a:r>
              <a:rPr lang="zh-CN" altLang="en-US" dirty="0"/>
              <a:t>能被看到的充要条件是</a:t>
            </a:r>
            <a:r>
              <a:rPr lang="en-US" altLang="zh-CN" dirty="0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互质。</a:t>
            </a:r>
            <a:endParaRPr lang="en-US" altLang="zh-CN" dirty="0"/>
          </a:p>
          <a:p>
            <a:r>
              <a:rPr lang="zh-CN" altLang="en-US" dirty="0" smtClean="0"/>
              <a:t>用线性筛求出</a:t>
            </a:r>
            <a:r>
              <a:rPr lang="el-GR" altLang="zh-CN" dirty="0" smtClean="0"/>
              <a:t>φ</a:t>
            </a:r>
            <a:r>
              <a:rPr lang="en-US" altLang="zh-CN" dirty="0" smtClean="0"/>
              <a:t>(1)</a:t>
            </a:r>
            <a:r>
              <a:rPr lang="zh-CN" altLang="en-US" dirty="0" smtClean="0"/>
              <a:t>到</a:t>
            </a:r>
            <a:r>
              <a:rPr lang="el-GR" altLang="zh-CN" dirty="0" smtClean="0"/>
              <a:t>φ</a:t>
            </a:r>
            <a:r>
              <a:rPr lang="en-US" altLang="zh-CN" dirty="0" smtClean="0"/>
              <a:t>(n)</a:t>
            </a:r>
            <a:r>
              <a:rPr lang="zh-CN" altLang="en-US" dirty="0" smtClean="0"/>
              <a:t>，那么答案就是</a:t>
            </a:r>
            <a:r>
              <a:rPr lang="en-US" altLang="zh-CN" dirty="0" smtClean="0"/>
              <a:t>(</a:t>
            </a:r>
            <a:r>
              <a:rPr lang="el-GR" altLang="zh-CN" dirty="0" smtClean="0"/>
              <a:t>φ</a:t>
            </a:r>
            <a:r>
              <a:rPr lang="en-US" altLang="zh-CN" dirty="0" smtClean="0"/>
              <a:t>(1)+…+</a:t>
            </a:r>
            <a:r>
              <a:rPr lang="el-GR" altLang="zh-CN" dirty="0" smtClean="0"/>
              <a:t>φ</a:t>
            </a:r>
            <a:r>
              <a:rPr lang="en-US" altLang="zh-CN" dirty="0" smtClean="0"/>
              <a:t>(n))*2-1+2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时间复杂度</a:t>
            </a:r>
            <a:r>
              <a:rPr lang="en-US" altLang="zh-CN" dirty="0" smtClean="0"/>
              <a:t>O(n)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21388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sumdiv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求出</a:t>
            </a:r>
            <a:r>
              <a:rPr lang="en-US" altLang="zh-CN" dirty="0"/>
              <a:t>A</a:t>
            </a:r>
            <a:r>
              <a:rPr lang="en-US" altLang="zh-CN" baseline="30000" dirty="0"/>
              <a:t>B</a:t>
            </a:r>
            <a:r>
              <a:rPr lang="zh-CN" altLang="en-US" dirty="0"/>
              <a:t>的约数和对</a:t>
            </a:r>
            <a:r>
              <a:rPr lang="en-US" altLang="zh-CN" dirty="0"/>
              <a:t>10^9+7</a:t>
            </a:r>
            <a:r>
              <a:rPr lang="zh-CN" altLang="en-US" dirty="0"/>
              <a:t>取模的结果。</a:t>
            </a:r>
            <a:endParaRPr lang="en-US" altLang="zh-CN" baseline="30000" dirty="0"/>
          </a:p>
          <a:p>
            <a:r>
              <a:rPr lang="en-US" altLang="zh-CN" dirty="0"/>
              <a:t>1&lt;=A,B&lt;=10^6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题目来源：</a:t>
            </a:r>
            <a:r>
              <a:rPr lang="en-US" altLang="zh-CN" dirty="0"/>
              <a:t>poj1845</a:t>
            </a:r>
          </a:p>
        </p:txBody>
      </p:sp>
    </p:spTree>
    <p:extLst>
      <p:ext uri="{BB962C8B-B14F-4D97-AF65-F5344CB8AC3E}">
        <p14:creationId xmlns:p14="http://schemas.microsoft.com/office/powerpoint/2010/main" val="830370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sumdiv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先对</a:t>
            </a:r>
            <a:r>
              <a:rPr lang="en-US" altLang="zh-CN" dirty="0"/>
              <a:t>A</a:t>
            </a:r>
            <a:r>
              <a:rPr lang="zh-CN" altLang="en-US" dirty="0"/>
              <a:t>分解质因数，记</a:t>
            </a:r>
            <a:r>
              <a:rPr lang="en-US" altLang="zh-CN" dirty="0"/>
              <a:t>A=p</a:t>
            </a:r>
            <a:r>
              <a:rPr lang="en-US" altLang="zh-CN" baseline="-25000" dirty="0"/>
              <a:t>1</a:t>
            </a:r>
            <a:r>
              <a:rPr lang="en-US" altLang="zh-CN" baseline="30000" dirty="0"/>
              <a:t>a</a:t>
            </a:r>
            <a:r>
              <a:rPr lang="en-US" altLang="zh-CN" sz="2002" baseline="30000" dirty="0"/>
              <a:t>1</a:t>
            </a:r>
            <a:r>
              <a:rPr lang="en-US" altLang="zh-CN" dirty="0"/>
              <a:t>*…*</a:t>
            </a:r>
            <a:r>
              <a:rPr lang="en-US" altLang="zh-CN" dirty="0" err="1"/>
              <a:t>p</a:t>
            </a:r>
            <a:r>
              <a:rPr lang="en-US" altLang="zh-CN" baseline="-25000" dirty="0" err="1"/>
              <a:t>k</a:t>
            </a:r>
            <a:r>
              <a:rPr lang="en-US" altLang="zh-CN" baseline="30000" dirty="0" err="1"/>
              <a:t>a</a:t>
            </a:r>
            <a:r>
              <a:rPr lang="en-US" altLang="zh-CN" sz="2002" baseline="30000" dirty="0" err="1"/>
              <a:t>k</a:t>
            </a:r>
            <a:r>
              <a:rPr lang="zh-CN" altLang="en-US" sz="2002" dirty="0"/>
              <a:t> </a:t>
            </a:r>
            <a:endParaRPr lang="en-US" altLang="zh-CN" sz="2002" dirty="0"/>
          </a:p>
          <a:p>
            <a:r>
              <a:rPr lang="zh-CN" altLang="en-US" dirty="0"/>
              <a:t>那么</a:t>
            </a:r>
            <a:r>
              <a:rPr lang="en-US" altLang="zh-CN" dirty="0"/>
              <a:t>A</a:t>
            </a:r>
            <a:r>
              <a:rPr lang="en-US" altLang="zh-CN" baseline="30000" dirty="0"/>
              <a:t>B</a:t>
            </a:r>
            <a:r>
              <a:rPr lang="en-US" altLang="zh-CN" dirty="0"/>
              <a:t>=p</a:t>
            </a:r>
            <a:r>
              <a:rPr lang="en-US" altLang="zh-CN" baseline="-25000" dirty="0"/>
              <a:t>1</a:t>
            </a:r>
            <a:r>
              <a:rPr lang="en-US" altLang="zh-CN" baseline="30000" dirty="0"/>
              <a:t>Ba</a:t>
            </a:r>
            <a:r>
              <a:rPr lang="en-US" altLang="zh-CN" sz="2002" baseline="30000" dirty="0"/>
              <a:t>1</a:t>
            </a:r>
            <a:r>
              <a:rPr lang="en-US" altLang="zh-CN" dirty="0"/>
              <a:t>*…*</a:t>
            </a:r>
            <a:r>
              <a:rPr lang="en-US" altLang="zh-CN" dirty="0" err="1"/>
              <a:t>p</a:t>
            </a:r>
            <a:r>
              <a:rPr lang="en-US" altLang="zh-CN" baseline="-25000" dirty="0" err="1"/>
              <a:t>k</a:t>
            </a:r>
            <a:r>
              <a:rPr lang="en-US" altLang="zh-CN" baseline="30000" dirty="0" err="1"/>
              <a:t>Ba</a:t>
            </a:r>
            <a:r>
              <a:rPr lang="en-US" altLang="zh-CN" sz="2002" baseline="30000" dirty="0" err="1"/>
              <a:t>k</a:t>
            </a:r>
            <a:r>
              <a:rPr lang="zh-CN" altLang="en-US" sz="2002" dirty="0"/>
              <a:t> </a:t>
            </a:r>
            <a:endParaRPr lang="en-US" altLang="zh-CN" sz="2002" dirty="0"/>
          </a:p>
          <a:p>
            <a:r>
              <a:rPr lang="zh-CN" altLang="en-US" dirty="0"/>
              <a:t>它的因数和就是</a:t>
            </a:r>
            <a:r>
              <a:rPr lang="en-US" altLang="zh-CN" dirty="0"/>
              <a:t>(1+p</a:t>
            </a:r>
            <a:r>
              <a:rPr lang="en-US" altLang="zh-CN" baseline="-25000" dirty="0"/>
              <a:t>1</a:t>
            </a:r>
            <a:r>
              <a:rPr lang="en-US" altLang="zh-CN" dirty="0"/>
              <a:t>+p</a:t>
            </a:r>
            <a:r>
              <a:rPr lang="en-US" altLang="zh-CN" baseline="-25000" dirty="0"/>
              <a:t>1</a:t>
            </a:r>
            <a:r>
              <a:rPr lang="en-US" altLang="zh-CN" baseline="30000" dirty="0"/>
              <a:t>2</a:t>
            </a:r>
            <a:r>
              <a:rPr lang="en-US" altLang="zh-CN" dirty="0"/>
              <a:t>+…+p</a:t>
            </a:r>
            <a:r>
              <a:rPr lang="en-US" altLang="zh-CN" baseline="-25000" dirty="0"/>
              <a:t>1</a:t>
            </a:r>
            <a:r>
              <a:rPr lang="en-US" altLang="zh-CN" baseline="30000" dirty="0"/>
              <a:t>Ba</a:t>
            </a:r>
            <a:r>
              <a:rPr lang="en-US" altLang="zh-CN" sz="2002" baseline="30000" dirty="0"/>
              <a:t>1</a:t>
            </a:r>
            <a:r>
              <a:rPr lang="en-US" altLang="zh-CN" dirty="0"/>
              <a:t>)*…*(1+p</a:t>
            </a:r>
            <a:r>
              <a:rPr lang="en-US" altLang="zh-CN" baseline="-25000" dirty="0"/>
              <a:t>k</a:t>
            </a:r>
            <a:r>
              <a:rPr lang="en-US" altLang="zh-CN" dirty="0"/>
              <a:t>+p</a:t>
            </a:r>
            <a:r>
              <a:rPr lang="en-US" altLang="zh-CN" baseline="-25000" dirty="0"/>
              <a:t>k</a:t>
            </a:r>
            <a:r>
              <a:rPr lang="en-US" altLang="zh-CN" baseline="30000" dirty="0"/>
              <a:t>2</a:t>
            </a:r>
            <a:r>
              <a:rPr lang="en-US" altLang="zh-CN" dirty="0"/>
              <a:t>+…+</a:t>
            </a:r>
            <a:r>
              <a:rPr lang="en-US" altLang="zh-CN" dirty="0" err="1"/>
              <a:t>p</a:t>
            </a:r>
            <a:r>
              <a:rPr lang="en-US" altLang="zh-CN" baseline="-25000" dirty="0" err="1"/>
              <a:t>k</a:t>
            </a:r>
            <a:r>
              <a:rPr lang="en-US" altLang="zh-CN" baseline="30000" dirty="0" err="1"/>
              <a:t>Ba</a:t>
            </a:r>
            <a:r>
              <a:rPr lang="en-US" altLang="zh-CN" sz="2002" baseline="30000" dirty="0" err="1"/>
              <a:t>k</a:t>
            </a:r>
            <a:r>
              <a:rPr lang="en-US" altLang="zh-CN" dirty="0"/>
              <a:t>)</a:t>
            </a:r>
            <a:endParaRPr lang="en-US" altLang="zh-CN" sz="2002" dirty="0"/>
          </a:p>
          <a:p>
            <a:r>
              <a:rPr lang="zh-CN" altLang="en-US" dirty="0"/>
              <a:t>上式中的每一项都可以通过等差数列求和公式</a:t>
            </a:r>
            <a:r>
              <a:rPr lang="en-US" altLang="zh-CN" dirty="0"/>
              <a:t>(1+x+…+</a:t>
            </a:r>
            <a:r>
              <a:rPr lang="en-US" altLang="zh-CN" dirty="0" err="1"/>
              <a:t>x</a:t>
            </a:r>
            <a:r>
              <a:rPr lang="en-US" altLang="zh-CN" baseline="30000" dirty="0" err="1"/>
              <a:t>n</a:t>
            </a:r>
            <a:r>
              <a:rPr lang="en-US" altLang="zh-CN" dirty="0"/>
              <a:t>=(x</a:t>
            </a:r>
            <a:r>
              <a:rPr lang="en-US" altLang="zh-CN" baseline="30000" dirty="0"/>
              <a:t>n+1</a:t>
            </a:r>
            <a:r>
              <a:rPr lang="en-US" altLang="zh-CN" dirty="0"/>
              <a:t>-1)/(x-1))</a:t>
            </a:r>
            <a:r>
              <a:rPr lang="zh-CN" altLang="en-US" dirty="0"/>
              <a:t>求出。</a:t>
            </a:r>
            <a:endParaRPr lang="en-US" altLang="zh-CN" dirty="0"/>
          </a:p>
          <a:p>
            <a:r>
              <a:rPr lang="zh-CN" altLang="en-US" dirty="0"/>
              <a:t>时间复杂度</a:t>
            </a:r>
            <a:r>
              <a:rPr lang="en-US" altLang="zh-CN" dirty="0" smtClean="0"/>
              <a:t>O(</a:t>
            </a:r>
            <a:r>
              <a:rPr lang="en-US" altLang="zh-CN" dirty="0" err="1" smtClean="0"/>
              <a:t>sqrt</a:t>
            </a:r>
            <a:r>
              <a:rPr lang="en-US" altLang="zh-CN" dirty="0" smtClean="0"/>
              <a:t>(A))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90605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Hankson</a:t>
            </a:r>
            <a:r>
              <a:rPr lang="zh-CN" altLang="en-US" dirty="0"/>
              <a:t>的趣味题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给定</a:t>
            </a:r>
            <a:r>
              <a:rPr lang="en-US" altLang="zh-CN" dirty="0"/>
              <a:t>4</a:t>
            </a:r>
            <a:r>
              <a:rPr lang="zh-CN" altLang="en-US" dirty="0"/>
              <a:t>个正整数</a:t>
            </a:r>
            <a:r>
              <a:rPr lang="en-US" altLang="zh-CN" dirty="0"/>
              <a:t>a0,a1,b0,b1</a:t>
            </a:r>
            <a:r>
              <a:rPr lang="zh-CN" altLang="en-US" dirty="0"/>
              <a:t>，问有多少个正整数</a:t>
            </a:r>
            <a:r>
              <a:rPr lang="en-US" altLang="zh-CN" dirty="0"/>
              <a:t>x</a:t>
            </a:r>
            <a:r>
              <a:rPr lang="zh-CN" altLang="en-US" dirty="0"/>
              <a:t>满足</a:t>
            </a:r>
            <a:r>
              <a:rPr lang="en-US" altLang="zh-CN" dirty="0" err="1"/>
              <a:t>gcd</a:t>
            </a:r>
            <a:r>
              <a:rPr lang="en-US" altLang="zh-CN" dirty="0"/>
              <a:t>(x,a0)=a1</a:t>
            </a:r>
            <a:r>
              <a:rPr lang="zh-CN" altLang="en-US" dirty="0"/>
              <a:t>且</a:t>
            </a:r>
            <a:r>
              <a:rPr lang="en-US" altLang="zh-CN" dirty="0"/>
              <a:t>lcm(x,b0)=b1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1&lt;=a0,a1,b0,b1&lt;=10^9</a:t>
            </a:r>
            <a:r>
              <a:rPr lang="zh-CN" altLang="en-US" dirty="0" smtClean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55109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Hankson</a:t>
            </a:r>
            <a:r>
              <a:rPr lang="zh-CN" altLang="en-US" dirty="0"/>
              <a:t>的趣味题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分别考虑每一个质数</a:t>
            </a:r>
            <a:r>
              <a:rPr lang="en-US" altLang="zh-CN" dirty="0" err="1"/>
              <a:t>i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记</a:t>
            </a:r>
            <a:r>
              <a:rPr lang="en-US" altLang="zh-CN" dirty="0" err="1"/>
              <a:t>i</a:t>
            </a:r>
            <a:r>
              <a:rPr lang="zh-CN" altLang="en-US" dirty="0"/>
              <a:t>在</a:t>
            </a:r>
            <a:r>
              <a:rPr lang="en-US" altLang="zh-CN" dirty="0"/>
              <a:t>a0,a1,b0,b1,x</a:t>
            </a:r>
            <a:r>
              <a:rPr lang="zh-CN" altLang="en-US" dirty="0"/>
              <a:t>中出现的幂次分别为</a:t>
            </a:r>
            <a:r>
              <a:rPr lang="en-US" altLang="zh-CN" dirty="0"/>
              <a:t>c0,c1,d0,d1,y</a:t>
            </a:r>
            <a:r>
              <a:rPr lang="zh-CN" altLang="en-US" dirty="0"/>
              <a:t>，那么显然有</a:t>
            </a:r>
            <a:r>
              <a:rPr lang="en-US" altLang="zh-CN" dirty="0"/>
              <a:t>c0&gt;=c1,d0&lt;=d1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如果</a:t>
            </a:r>
            <a:r>
              <a:rPr lang="en-US" altLang="zh-CN" dirty="0"/>
              <a:t>c0=c1</a:t>
            </a:r>
            <a:r>
              <a:rPr lang="zh-CN" altLang="en-US" dirty="0"/>
              <a:t>，那么</a:t>
            </a:r>
            <a:r>
              <a:rPr lang="en-US" altLang="zh-CN" dirty="0"/>
              <a:t>y&gt;=c1</a:t>
            </a:r>
            <a:r>
              <a:rPr lang="zh-CN" altLang="en-US" dirty="0"/>
              <a:t>，否则</a:t>
            </a:r>
            <a:r>
              <a:rPr lang="en-US" altLang="zh-CN" dirty="0"/>
              <a:t>y=c1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如果</a:t>
            </a:r>
            <a:r>
              <a:rPr lang="en-US" altLang="zh-CN" dirty="0"/>
              <a:t>d0=d1</a:t>
            </a:r>
            <a:r>
              <a:rPr lang="zh-CN" altLang="en-US" dirty="0"/>
              <a:t>，那么</a:t>
            </a:r>
            <a:r>
              <a:rPr lang="en-US" altLang="zh-CN" dirty="0"/>
              <a:t>y&lt;=d1</a:t>
            </a:r>
            <a:r>
              <a:rPr lang="zh-CN" altLang="en-US" dirty="0"/>
              <a:t>，否则</a:t>
            </a:r>
            <a:r>
              <a:rPr lang="en-US" altLang="zh-CN" dirty="0"/>
              <a:t>y=d1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将</a:t>
            </a:r>
            <a:r>
              <a:rPr lang="en-US" altLang="zh-CN" dirty="0"/>
              <a:t>y</a:t>
            </a:r>
            <a:r>
              <a:rPr lang="zh-CN" altLang="en-US" dirty="0"/>
              <a:t>的取值个数乘起来就是答案。</a:t>
            </a:r>
            <a:endParaRPr lang="en-US" altLang="zh-CN" dirty="0"/>
          </a:p>
          <a:p>
            <a:r>
              <a:rPr lang="zh-CN" altLang="en-US" dirty="0"/>
              <a:t>时间复杂度</a:t>
            </a:r>
            <a:r>
              <a:rPr lang="en-US" altLang="zh-CN" dirty="0" smtClean="0"/>
              <a:t>O(</a:t>
            </a:r>
            <a:r>
              <a:rPr lang="en-US" altLang="zh-CN" dirty="0" err="1" smtClean="0"/>
              <a:t>sqrt</a:t>
            </a:r>
            <a:r>
              <a:rPr lang="en-US" altLang="zh-CN" dirty="0" smtClean="0"/>
              <a:t>(a1)+</a:t>
            </a:r>
            <a:r>
              <a:rPr lang="en-US" altLang="zh-CN" dirty="0" err="1" smtClean="0"/>
              <a:t>sqrt</a:t>
            </a:r>
            <a:r>
              <a:rPr lang="en-US" altLang="zh-CN" dirty="0" smtClean="0"/>
              <a:t>(b1</a:t>
            </a:r>
            <a:r>
              <a:rPr lang="en-US" altLang="zh-CN" dirty="0"/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315445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奶牛</a:t>
            </a:r>
            <a:r>
              <a:rPr lang="zh-CN" altLang="en-US" dirty="0"/>
              <a:t>分厩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给定</a:t>
            </a:r>
            <a:r>
              <a:rPr lang="en-US" altLang="zh-CN" dirty="0"/>
              <a:t>n</a:t>
            </a:r>
            <a:r>
              <a:rPr lang="zh-CN" altLang="en-US" dirty="0"/>
              <a:t>个不超过</a:t>
            </a:r>
            <a:r>
              <a:rPr lang="en-US" altLang="zh-CN" dirty="0"/>
              <a:t>m</a:t>
            </a:r>
            <a:r>
              <a:rPr lang="zh-CN" altLang="en-US" dirty="0"/>
              <a:t>的互不相同的正整数</a:t>
            </a:r>
            <a:r>
              <a:rPr lang="en-US" altLang="zh-CN" dirty="0"/>
              <a:t>x</a:t>
            </a:r>
            <a:r>
              <a:rPr lang="en-US" altLang="zh-CN" baseline="-25000" dirty="0"/>
              <a:t>1</a:t>
            </a:r>
            <a:r>
              <a:rPr lang="en-US" altLang="zh-CN" dirty="0"/>
              <a:t>~x</a:t>
            </a:r>
            <a:r>
              <a:rPr lang="en-US" altLang="zh-CN" baseline="-25000" dirty="0"/>
              <a:t>n</a:t>
            </a:r>
            <a:r>
              <a:rPr lang="zh-CN" altLang="en-US" dirty="0"/>
              <a:t>，求最小的正整数</a:t>
            </a:r>
            <a:r>
              <a:rPr lang="en-US" altLang="zh-CN" dirty="0"/>
              <a:t>k</a:t>
            </a:r>
            <a:r>
              <a:rPr lang="zh-CN" altLang="en-US" dirty="0"/>
              <a:t>使得</a:t>
            </a:r>
            <a:r>
              <a:rPr lang="en-US" altLang="zh-CN" dirty="0"/>
              <a:t>x</a:t>
            </a:r>
            <a:r>
              <a:rPr lang="en-US" altLang="zh-CN" baseline="-25000" dirty="0"/>
              <a:t>i</a:t>
            </a:r>
            <a:r>
              <a:rPr lang="en-US" altLang="zh-CN" dirty="0"/>
              <a:t> mod k</a:t>
            </a:r>
            <a:r>
              <a:rPr lang="zh-CN" altLang="en-US" dirty="0"/>
              <a:t>互不相同。</a:t>
            </a:r>
            <a:endParaRPr lang="en-US" altLang="zh-CN" dirty="0"/>
          </a:p>
          <a:p>
            <a:r>
              <a:rPr lang="en-US" altLang="zh-CN" dirty="0"/>
              <a:t>n&lt;=5000</a:t>
            </a:r>
            <a:r>
              <a:rPr lang="zh-CN" altLang="en-US" dirty="0"/>
              <a:t>，</a:t>
            </a:r>
            <a:r>
              <a:rPr lang="en-US" altLang="zh-CN" dirty="0"/>
              <a:t>m&lt;=10^6</a:t>
            </a:r>
            <a:r>
              <a:rPr lang="zh-CN" altLang="en-US" dirty="0" smtClean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87687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奶牛</a:t>
            </a:r>
            <a:r>
              <a:rPr lang="zh-CN" altLang="en-US" dirty="0"/>
              <a:t>分厩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 mod k=b mod k</a:t>
            </a:r>
            <a:r>
              <a:rPr lang="zh-CN" altLang="en-US" dirty="0"/>
              <a:t>等价于</a:t>
            </a:r>
            <a:r>
              <a:rPr lang="en-US" altLang="zh-CN" dirty="0"/>
              <a:t>k|(a-b)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问题变为找出所有</a:t>
            </a:r>
            <a:r>
              <a:rPr lang="en-US" altLang="zh-CN" dirty="0"/>
              <a:t>x</a:t>
            </a:r>
            <a:r>
              <a:rPr lang="en-US" altLang="zh-CN" baseline="-25000" dirty="0"/>
              <a:t>i</a:t>
            </a:r>
            <a:r>
              <a:rPr lang="en-US" altLang="zh-CN" dirty="0"/>
              <a:t>-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j</a:t>
            </a:r>
            <a:r>
              <a:rPr lang="zh-CN" altLang="en-US" dirty="0"/>
              <a:t>的所有因数。</a:t>
            </a:r>
            <a:endParaRPr lang="en-US" altLang="zh-CN" dirty="0"/>
          </a:p>
          <a:p>
            <a:r>
              <a:rPr lang="zh-CN" altLang="en-US" dirty="0"/>
              <a:t>开一个数组</a:t>
            </a:r>
            <a:r>
              <a:rPr lang="en-US" altLang="zh-CN" dirty="0"/>
              <a:t>a[]</a:t>
            </a:r>
            <a:r>
              <a:rPr lang="zh-CN" altLang="en-US" dirty="0"/>
              <a:t>记录每个数是否是因数，初始时将所有</a:t>
            </a:r>
            <a:r>
              <a:rPr lang="en-US" altLang="zh-CN" dirty="0"/>
              <a:t>a[x</a:t>
            </a:r>
            <a:r>
              <a:rPr lang="en-US" altLang="zh-CN" baseline="-25000" dirty="0"/>
              <a:t>i</a:t>
            </a:r>
            <a:r>
              <a:rPr lang="en-US" altLang="zh-CN" dirty="0"/>
              <a:t>-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j</a:t>
            </a:r>
            <a:r>
              <a:rPr lang="en-US" altLang="zh-CN" dirty="0"/>
              <a:t>]</a:t>
            </a:r>
            <a:r>
              <a:rPr lang="zh-CN" altLang="en-US" dirty="0"/>
              <a:t>赋为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从大到小枚举</a:t>
            </a:r>
            <a:r>
              <a:rPr lang="en-US" altLang="zh-CN" dirty="0" err="1"/>
              <a:t>i</a:t>
            </a:r>
            <a:r>
              <a:rPr lang="zh-CN" altLang="en-US" dirty="0"/>
              <a:t>，如果</a:t>
            </a:r>
            <a:r>
              <a:rPr lang="en-US" altLang="zh-CN" dirty="0" err="1"/>
              <a:t>i</a:t>
            </a:r>
            <a:r>
              <a:rPr lang="zh-CN" altLang="en-US" dirty="0"/>
              <a:t>的倍数中存在一个数是因数，那么</a:t>
            </a:r>
            <a:r>
              <a:rPr lang="en-US" altLang="zh-CN" dirty="0" err="1"/>
              <a:t>i</a:t>
            </a:r>
            <a:r>
              <a:rPr lang="zh-CN" altLang="en-US" dirty="0"/>
              <a:t>也是因数。</a:t>
            </a:r>
            <a:endParaRPr lang="en-US" altLang="zh-CN" dirty="0"/>
          </a:p>
          <a:p>
            <a:r>
              <a:rPr lang="zh-CN" altLang="en-US" dirty="0"/>
              <a:t>时间复杂度</a:t>
            </a:r>
            <a:r>
              <a:rPr lang="en-US" altLang="zh-CN" dirty="0"/>
              <a:t>O(n^2+mlogm)</a:t>
            </a:r>
          </a:p>
        </p:txBody>
      </p:sp>
    </p:spTree>
    <p:extLst>
      <p:ext uri="{BB962C8B-B14F-4D97-AF65-F5344CB8AC3E}">
        <p14:creationId xmlns:p14="http://schemas.microsoft.com/office/powerpoint/2010/main" val="551611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</a:t>
            </a:r>
            <a:r>
              <a:rPr lang="zh-CN" altLang="en-US" dirty="0" smtClean="0"/>
              <a:t>三角形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给定一</a:t>
            </a:r>
            <a:r>
              <a:rPr lang="zh-CN" altLang="en-US" dirty="0" smtClean="0"/>
              <a:t>个</a:t>
            </a:r>
            <a:r>
              <a:rPr lang="en-US" altLang="zh-CN" dirty="0" smtClean="0"/>
              <a:t>(n-1)</a:t>
            </a:r>
            <a:r>
              <a:rPr lang="zh-CN" altLang="en-US" dirty="0" smtClean="0"/>
              <a:t>*</a:t>
            </a:r>
            <a:r>
              <a:rPr lang="en-US" altLang="zh-CN" dirty="0" smtClean="0"/>
              <a:t>(m-1)</a:t>
            </a:r>
            <a:r>
              <a:rPr lang="zh-CN" altLang="en-US" dirty="0" smtClean="0"/>
              <a:t>的</a:t>
            </a:r>
            <a:r>
              <a:rPr lang="zh-CN" altLang="en-US" dirty="0" smtClean="0"/>
              <a:t>网格，请计算三点都在格点上的三角形共有多少个。</a:t>
            </a:r>
            <a:endParaRPr lang="en-US" altLang="zh-CN" dirty="0" smtClean="0"/>
          </a:p>
          <a:p>
            <a:r>
              <a:rPr lang="en-US" altLang="zh-CN" dirty="0" err="1" smtClean="0"/>
              <a:t>n,m</a:t>
            </a:r>
            <a:r>
              <a:rPr lang="en-US" altLang="zh-CN" dirty="0" smtClean="0"/>
              <a:t>&lt;=1000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31935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</a:t>
            </a:r>
            <a:r>
              <a:rPr lang="zh-CN" altLang="en-US" dirty="0" smtClean="0"/>
              <a:t>三角形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 smtClean="0"/>
              <a:t>先</a:t>
            </a:r>
            <a:r>
              <a:rPr lang="zh-CN" altLang="en-US" dirty="0" smtClean="0"/>
              <a:t>选出三个不同点，方案数是</a:t>
            </a:r>
            <a:r>
              <a:rPr lang="en-US" altLang="zh-CN" dirty="0" smtClean="0"/>
              <a:t>C(n*m,3)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接下来扣掉三点共线的情况。</a:t>
            </a:r>
            <a:endParaRPr lang="en-US" altLang="zh-CN" dirty="0" smtClean="0"/>
          </a:p>
          <a:p>
            <a:r>
              <a:rPr lang="zh-CN" altLang="en-US" dirty="0" smtClean="0"/>
              <a:t>枚举两个点，计算以它们为端点的线段上的整点个数。</a:t>
            </a:r>
            <a:endParaRPr lang="en-US" altLang="zh-CN" dirty="0" smtClean="0"/>
          </a:p>
          <a:p>
            <a:r>
              <a:rPr lang="zh-CN" altLang="en-US" dirty="0" smtClean="0"/>
              <a:t>不难发现是</a:t>
            </a:r>
            <a:r>
              <a:rPr lang="en-US" altLang="zh-CN" dirty="0" err="1" smtClean="0"/>
              <a:t>gcd</a:t>
            </a:r>
            <a:r>
              <a:rPr lang="en-US" altLang="zh-CN" dirty="0" smtClean="0"/>
              <a:t>(x1-x2,y1-y2)-1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线段是可以平移的，那么我们把其中一个点固定在</a:t>
            </a:r>
            <a:r>
              <a:rPr lang="en-US" altLang="zh-CN" dirty="0" smtClean="0"/>
              <a:t>(0,0)</a:t>
            </a:r>
            <a:r>
              <a:rPr lang="zh-CN" altLang="en-US" dirty="0" smtClean="0"/>
              <a:t>，只枚举另一个点的坐标，然后乘上方案数就行了。</a:t>
            </a:r>
            <a:endParaRPr lang="en-US" altLang="zh-CN" dirty="0" smtClean="0"/>
          </a:p>
          <a:p>
            <a:r>
              <a:rPr lang="zh-CN" altLang="en-US" dirty="0" smtClean="0"/>
              <a:t>时间复杂度</a:t>
            </a:r>
            <a:r>
              <a:rPr lang="en-US" altLang="zh-CN" dirty="0" smtClean="0"/>
              <a:t>O(nm)</a:t>
            </a:r>
          </a:p>
        </p:txBody>
      </p:sp>
    </p:spTree>
    <p:extLst>
      <p:ext uri="{BB962C8B-B14F-4D97-AF65-F5344CB8AC3E}">
        <p14:creationId xmlns:p14="http://schemas.microsoft.com/office/powerpoint/2010/main" val="2354516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GCD </a:t>
            </a:r>
            <a:r>
              <a:rPr lang="en-US" altLang="zh-CN" dirty="0" smtClean="0"/>
              <a:t>SUM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求</a:t>
            </a:r>
            <a:r>
              <a:rPr lang="en-US" altLang="zh-CN" dirty="0" err="1" smtClean="0"/>
              <a:t>gcd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i,j</a:t>
            </a:r>
            <a:r>
              <a:rPr lang="en-US" altLang="zh-CN" dirty="0" smtClean="0"/>
              <a:t>)</a:t>
            </a:r>
            <a:r>
              <a:rPr lang="zh-CN" altLang="en-US" dirty="0" smtClean="0"/>
              <a:t>的和，其中</a:t>
            </a:r>
            <a:r>
              <a:rPr lang="en-US" altLang="zh-CN" dirty="0" smtClean="0"/>
              <a:t>1&lt;=</a:t>
            </a:r>
            <a:r>
              <a:rPr lang="en-US" altLang="zh-CN" dirty="0" err="1" smtClean="0"/>
              <a:t>i,j</a:t>
            </a:r>
            <a:r>
              <a:rPr lang="en-US" altLang="zh-CN" dirty="0" smtClean="0"/>
              <a:t>&lt;=n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 smtClean="0"/>
              <a:t>n</a:t>
            </a:r>
            <a:r>
              <a:rPr lang="en-US" altLang="zh-CN" dirty="0" smtClean="0"/>
              <a:t>&lt;=10^6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1489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GCD </a:t>
            </a:r>
            <a:r>
              <a:rPr lang="en-US" altLang="zh-CN" dirty="0" smtClean="0"/>
              <a:t>SUM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考虑枚举</a:t>
            </a:r>
            <a:r>
              <a:rPr lang="en-US" altLang="zh-CN" dirty="0" smtClean="0"/>
              <a:t>k</a:t>
            </a:r>
            <a:r>
              <a:rPr lang="zh-CN" altLang="en-US" dirty="0" smtClean="0"/>
              <a:t>，求出</a:t>
            </a:r>
            <a:r>
              <a:rPr lang="en-US" altLang="zh-CN" dirty="0" err="1" smtClean="0"/>
              <a:t>gcd</a:t>
            </a:r>
            <a:r>
              <a:rPr lang="zh-CN" altLang="en-US" dirty="0" smtClean="0"/>
              <a:t>恰好为</a:t>
            </a:r>
            <a:r>
              <a:rPr lang="en-US" altLang="zh-CN" dirty="0" smtClean="0"/>
              <a:t>k</a:t>
            </a:r>
            <a:r>
              <a:rPr lang="zh-CN" altLang="en-US" dirty="0" smtClean="0"/>
              <a:t>的数对个数。</a:t>
            </a:r>
            <a:endParaRPr lang="en-US" altLang="zh-CN" dirty="0" smtClean="0"/>
          </a:p>
          <a:p>
            <a:r>
              <a:rPr lang="zh-CN" altLang="en-US" dirty="0" smtClean="0"/>
              <a:t>不难发现</a:t>
            </a:r>
            <a:r>
              <a:rPr lang="en-US" altLang="zh-CN" dirty="0" err="1" smtClean="0"/>
              <a:t>gcd</a:t>
            </a:r>
            <a:r>
              <a:rPr lang="zh-CN" altLang="en-US" dirty="0" smtClean="0"/>
              <a:t>是</a:t>
            </a:r>
            <a:r>
              <a:rPr lang="en-US" altLang="zh-CN" dirty="0" smtClean="0"/>
              <a:t>k</a:t>
            </a:r>
            <a:r>
              <a:rPr lang="zh-CN" altLang="en-US" dirty="0" smtClean="0"/>
              <a:t>的倍数的数对个数是</a:t>
            </a:r>
            <a:r>
              <a:rPr lang="en-US" altLang="zh-CN" dirty="0" smtClean="0"/>
              <a:t>[n/k]</a:t>
            </a:r>
            <a:r>
              <a:rPr lang="en-US" altLang="zh-CN" baseline="30000" dirty="0" smtClean="0"/>
              <a:t>2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把</a:t>
            </a:r>
            <a:r>
              <a:rPr lang="en-US" altLang="zh-CN" dirty="0" err="1" smtClean="0"/>
              <a:t>gcd</a:t>
            </a:r>
            <a:r>
              <a:rPr lang="zh-CN" altLang="en-US" dirty="0" smtClean="0"/>
              <a:t>是</a:t>
            </a:r>
            <a:r>
              <a:rPr lang="en-US" altLang="zh-CN" dirty="0" smtClean="0"/>
              <a:t>2k,3k,4k,….</a:t>
            </a:r>
            <a:r>
              <a:rPr lang="zh-CN" altLang="en-US" dirty="0" smtClean="0"/>
              <a:t>的个数扣</a:t>
            </a:r>
            <a:r>
              <a:rPr lang="zh-CN" altLang="en-US" dirty="0" smtClean="0"/>
              <a:t>掉就能得到</a:t>
            </a:r>
            <a:r>
              <a:rPr lang="en-US" altLang="zh-CN" dirty="0" err="1" smtClean="0"/>
              <a:t>gcd</a:t>
            </a:r>
            <a:r>
              <a:rPr lang="zh-CN" altLang="en-US" dirty="0" smtClean="0"/>
              <a:t>恰好为</a:t>
            </a:r>
            <a:r>
              <a:rPr lang="en-US" altLang="zh-CN" dirty="0" smtClean="0"/>
              <a:t>k</a:t>
            </a:r>
            <a:r>
              <a:rPr lang="zh-CN" altLang="en-US" dirty="0" smtClean="0"/>
              <a:t>的个数。</a:t>
            </a:r>
            <a:endParaRPr lang="en-US" altLang="zh-CN" dirty="0" smtClean="0"/>
          </a:p>
          <a:p>
            <a:r>
              <a:rPr lang="zh-CN" altLang="en-US" dirty="0" smtClean="0"/>
              <a:t>注意</a:t>
            </a:r>
            <a:r>
              <a:rPr lang="en-US" altLang="zh-CN" dirty="0" smtClean="0"/>
              <a:t>k</a:t>
            </a:r>
            <a:r>
              <a:rPr lang="zh-CN" altLang="en-US" dirty="0" smtClean="0"/>
              <a:t>要从大到小枚举。</a:t>
            </a:r>
            <a:endParaRPr lang="en-US" altLang="zh-CN" dirty="0" smtClean="0"/>
          </a:p>
          <a:p>
            <a:r>
              <a:rPr lang="zh-CN" altLang="en-US" dirty="0" smtClean="0"/>
              <a:t>时间复杂度</a:t>
            </a:r>
            <a:r>
              <a:rPr lang="en-US" altLang="zh-CN" dirty="0" smtClean="0"/>
              <a:t>O(</a:t>
            </a:r>
            <a:r>
              <a:rPr lang="en-US" altLang="zh-CN" dirty="0" err="1" smtClean="0"/>
              <a:t>nlogn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5023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GCD SUM II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求</a:t>
            </a:r>
            <a:r>
              <a:rPr lang="en-US" altLang="zh-CN" dirty="0" err="1" smtClean="0"/>
              <a:t>gcd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i,j</a:t>
            </a:r>
            <a:r>
              <a:rPr lang="en-US" altLang="zh-CN" dirty="0" smtClean="0"/>
              <a:t>)</a:t>
            </a:r>
            <a:r>
              <a:rPr lang="zh-CN" altLang="en-US" dirty="0" smtClean="0"/>
              <a:t>的和，其中</a:t>
            </a:r>
            <a:r>
              <a:rPr lang="en-US" altLang="zh-CN" dirty="0" smtClean="0"/>
              <a:t>1&lt;=</a:t>
            </a:r>
            <a:r>
              <a:rPr lang="en-US" altLang="zh-CN" dirty="0" smtClean="0"/>
              <a:t>i&lt;=n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1&lt;=j&lt;=m</a:t>
            </a:r>
            <a:r>
              <a:rPr lang="zh-CN" altLang="en-US" dirty="0" smtClean="0"/>
              <a:t>。有</a:t>
            </a:r>
            <a:r>
              <a:rPr lang="en-US" altLang="zh-CN" dirty="0" smtClean="0"/>
              <a:t>t</a:t>
            </a:r>
            <a:r>
              <a:rPr lang="zh-CN" altLang="en-US" dirty="0" smtClean="0"/>
              <a:t>组数据。</a:t>
            </a:r>
            <a:endParaRPr lang="en-US" altLang="zh-CN" dirty="0" smtClean="0"/>
          </a:p>
          <a:p>
            <a:r>
              <a:rPr lang="en-US" altLang="zh-CN" dirty="0"/>
              <a:t>t</a:t>
            </a:r>
            <a:r>
              <a:rPr lang="en-US" altLang="zh-CN" dirty="0" smtClean="0"/>
              <a:t>&lt;=1000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n,m</a:t>
            </a:r>
            <a:r>
              <a:rPr lang="en-US" altLang="zh-CN" dirty="0" smtClean="0"/>
              <a:t>&lt;=2*10^7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5582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GCD SUM </a:t>
            </a:r>
            <a:r>
              <a:rPr lang="en-US" altLang="zh-CN" dirty="0" smtClean="0"/>
              <a:t>II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 smtClean="0">
                    <a:latin typeface="Cambria Math"/>
                  </a:rPr>
                  <a:t>用</a:t>
                </a:r>
                <a:r>
                  <a:rPr lang="en-US" altLang="zh-CN" dirty="0" smtClean="0">
                    <a:latin typeface="Cambria Math"/>
                  </a:rPr>
                  <a:t>f(i)</a:t>
                </a:r>
                <a:r>
                  <a:rPr lang="zh-CN" altLang="en-US" dirty="0" smtClean="0">
                    <a:latin typeface="Cambria Math"/>
                  </a:rPr>
                  <a:t>表示</a:t>
                </a:r>
                <a:r>
                  <a:rPr lang="en-US" altLang="zh-CN" dirty="0" err="1" smtClean="0">
                    <a:latin typeface="Cambria Math"/>
                  </a:rPr>
                  <a:t>gcd</a:t>
                </a:r>
                <a:r>
                  <a:rPr lang="en-US" altLang="zh-CN" dirty="0" smtClean="0">
                    <a:latin typeface="Cambria Math"/>
                  </a:rPr>
                  <a:t>=i</a:t>
                </a:r>
                <a:r>
                  <a:rPr lang="zh-CN" altLang="en-US" dirty="0" smtClean="0">
                    <a:latin typeface="Cambria Math"/>
                  </a:rPr>
                  <a:t>的数对个数，</a:t>
                </a:r>
                <a:r>
                  <a:rPr lang="en-US" altLang="zh-CN" dirty="0" smtClean="0">
                    <a:latin typeface="Cambria Math"/>
                  </a:rPr>
                  <a:t>g(i)</a:t>
                </a:r>
                <a:r>
                  <a:rPr lang="zh-CN" altLang="en-US" dirty="0" smtClean="0">
                    <a:latin typeface="Cambria Math"/>
                  </a:rPr>
                  <a:t>表示</a:t>
                </a:r>
                <a:r>
                  <a:rPr lang="en-US" altLang="zh-CN" dirty="0" err="1" smtClean="0">
                    <a:latin typeface="Cambria Math"/>
                  </a:rPr>
                  <a:t>i|gcd</a:t>
                </a:r>
                <a:r>
                  <a:rPr lang="zh-CN" altLang="en-US" dirty="0" smtClean="0">
                    <a:latin typeface="Cambria Math"/>
                  </a:rPr>
                  <a:t>的数对个数。</a:t>
                </a:r>
                <a:endParaRPr lang="en-US" altLang="zh-CN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/>
                          </a:rPr>
                          <m:t>𝑛</m:t>
                        </m:r>
                      </m:sup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∗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𝑓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en-US" altLang="zh-CN" dirty="0" smtClean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zh-CN" altLang="en-US" i="1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/>
                          </a:rPr>
                          <m:t>𝑘</m:t>
                        </m:r>
                        <m:r>
                          <a:rPr lang="en-US" altLang="zh-CN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𝑛</m:t>
                        </m:r>
                      </m:sup>
                      <m:e>
                        <m:r>
                          <a:rPr lang="en-US" altLang="zh-CN" i="1">
                            <a:latin typeface="Cambria Math"/>
                          </a:rPr>
                          <m:t>𝑘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altLang="zh-CN" i="1" smtClean="0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zh-CN" b="0" i="1" smtClean="0">
                                <a:latin typeface="Cambria Math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/>
                              </a:rPr>
                              <m:t>|</m:t>
                            </m:r>
                            <m:r>
                              <a:rPr lang="en-US" altLang="zh-CN" b="0" i="1" smtClean="0">
                                <a:latin typeface="Cambria Math"/>
                              </a:rPr>
                              <m:t>𝑑</m:t>
                            </m:r>
                          </m:sub>
                          <m:sup/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𝜇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𝑑</m:t>
                                    </m:r>
                                  </m:num>
                                  <m:den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𝑘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altLang="zh-CN" b="0" i="1" smtClean="0">
                                <a:latin typeface="Cambria Math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𝑑</m:t>
                                </m:r>
                              </m:e>
                            </m:d>
                          </m:e>
                        </m:nary>
                      </m:e>
                    </m:nary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zh-CN" altLang="en-US" i="1">
                            <a:latin typeface="Cambria Math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𝑑</m:t>
                        </m:r>
                        <m:r>
                          <a:rPr lang="en-US" altLang="zh-CN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altLang="zh-CN" i="1">
                                    <a:latin typeface="Cambria Math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altLang="zh-CN" i="1">
                                    <a:latin typeface="Cambria Math"/>
                                  </a:rPr>
                                  <m:t>𝑘</m:t>
                                </m:r>
                                <m:r>
                                  <a:rPr lang="en-US" altLang="zh-CN" i="1">
                                    <a:latin typeface="Cambria Math"/>
                                  </a:rPr>
                                  <m:t>|</m:t>
                                </m:r>
                                <m:r>
                                  <a:rPr lang="en-US" altLang="zh-CN" i="1">
                                    <a:latin typeface="Cambria Math"/>
                                  </a:rPr>
                                  <m:t>𝑑</m:t>
                                </m:r>
                              </m:sub>
                              <m:sup/>
                              <m:e>
                                <m:r>
                                  <a:rPr lang="en-US" altLang="zh-CN" i="1">
                                    <a:latin typeface="Cambria Math"/>
                                  </a:rPr>
                                  <m:t>𝜇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∗</m:t>
                                </m:r>
                                <m:f>
                                  <m:fPr>
                                    <m:ctrlPr>
                                      <a:rPr lang="en-US" altLang="zh-CN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𝑑</m:t>
                                    </m:r>
                                  </m:num>
                                  <m:den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𝑘</m:t>
                                    </m:r>
                                  </m:den>
                                </m:f>
                              </m:e>
                            </m:nary>
                          </m:e>
                        </m:d>
                        <m:r>
                          <a:rPr lang="en-US" altLang="zh-CN" b="0" i="1" smtClean="0">
                            <a:latin typeface="Cambria Math"/>
                          </a:rPr>
                          <m:t>𝑔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𝑑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en-US" altLang="zh-CN" dirty="0" smtClean="0"/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zh-CN" altLang="en-US" i="1">
                            <a:latin typeface="Cambria Math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/>
                          </a:rPr>
                          <m:t>𝑑</m:t>
                        </m:r>
                        <m:r>
                          <a:rPr lang="en-US" altLang="zh-CN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𝑛</m:t>
                        </m:r>
                      </m:sup>
                      <m:e>
                        <m:r>
                          <a:rPr lang="en-US" altLang="zh-CN" b="0" i="1" smtClean="0">
                            <a:latin typeface="Cambria Math"/>
                          </a:rPr>
                          <m:t>𝜑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𝑑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)</m:t>
                        </m:r>
                        <m:d>
                          <m:dPr>
                            <m:begChr m:val="⌊"/>
                            <m:endChr m:val="⌋"/>
                            <m:ctrlPr>
                              <a:rPr lang="en-US" altLang="zh-CN" i="1">
                                <a:latin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/>
                                  </a:rPr>
                                  <m:t>𝑑</m:t>
                                </m:r>
                              </m:den>
                            </m:f>
                          </m:e>
                        </m:d>
                        <m:d>
                          <m:dPr>
                            <m:begChr m:val="⌊"/>
                            <m:endChr m:val="⌋"/>
                            <m:ctrlPr>
                              <a:rPr lang="en-US" altLang="zh-CN" i="1">
                                <a:latin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/>
                                  </a:rPr>
                                  <m:t>𝑑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endParaRPr lang="en-US" altLang="zh-CN" dirty="0" smtClean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2156" r="-3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4975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GCD SUM </a:t>
            </a:r>
            <a:r>
              <a:rPr lang="en-US" altLang="zh-CN" dirty="0" smtClean="0"/>
              <a:t>II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>
                    <a:latin typeface="Cambria Math"/>
                  </a:rPr>
                  <a:t>注意</a:t>
                </a:r>
                <a:r>
                  <a:rPr lang="zh-CN" altLang="en-US" dirty="0" smtClean="0">
                    <a:latin typeface="Cambria Math"/>
                  </a:rPr>
                  <a:t>到</a:t>
                </a:r>
                <a:r>
                  <a:rPr lang="en-US" altLang="zh-CN" dirty="0" smtClean="0">
                    <a:latin typeface="Cambria Math"/>
                  </a:rPr>
                  <a:t>n/d</a:t>
                </a:r>
                <a:r>
                  <a:rPr lang="zh-CN" altLang="en-US" dirty="0" smtClean="0">
                    <a:latin typeface="Cambria Math"/>
                  </a:rPr>
                  <a:t>和</a:t>
                </a:r>
                <a:r>
                  <a:rPr lang="en-US" altLang="zh-CN" dirty="0" smtClean="0">
                    <a:latin typeface="Cambria Math"/>
                  </a:rPr>
                  <a:t>m/d</a:t>
                </a:r>
                <a:r>
                  <a:rPr lang="zh-CN" altLang="en-US" dirty="0" smtClean="0">
                    <a:latin typeface="Cambria Math"/>
                  </a:rPr>
                  <a:t>总共只有</a:t>
                </a:r>
                <a:r>
                  <a:rPr lang="en-US" altLang="zh-CN" dirty="0" err="1" smtClean="0">
                    <a:latin typeface="Cambria Math"/>
                  </a:rPr>
                  <a:t>sqrt</a:t>
                </a:r>
                <a:r>
                  <a:rPr lang="en-US" altLang="zh-CN" dirty="0" smtClean="0">
                    <a:latin typeface="Cambria Math"/>
                  </a:rPr>
                  <a:t>(n)+</a:t>
                </a:r>
                <a:r>
                  <a:rPr lang="en-US" altLang="zh-CN" dirty="0" err="1" smtClean="0">
                    <a:latin typeface="Cambria Math"/>
                  </a:rPr>
                  <a:t>sqrt</a:t>
                </a:r>
                <a:r>
                  <a:rPr lang="en-US" altLang="zh-CN" dirty="0" smtClean="0">
                    <a:latin typeface="Cambria Math"/>
                  </a:rPr>
                  <a:t>(m)</a:t>
                </a:r>
                <a:r>
                  <a:rPr lang="zh-CN" altLang="en-US" dirty="0" smtClean="0">
                    <a:latin typeface="Cambria Math"/>
                  </a:rPr>
                  <a:t>种取值。</a:t>
                </a:r>
                <a:endParaRPr lang="en-US" altLang="zh-CN" dirty="0" smtClean="0">
                  <a:latin typeface="Cambria Math"/>
                </a:endParaRPr>
              </a:p>
              <a:p>
                <a:r>
                  <a:rPr lang="zh-CN" altLang="en-US" dirty="0" smtClean="0">
                    <a:latin typeface="Cambria Math"/>
                  </a:rPr>
                  <a:t>因此只要预处理出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𝜑</m:t>
                    </m:r>
                  </m:oMath>
                </a14:m>
                <a:r>
                  <a:rPr lang="zh-CN" altLang="en-US" dirty="0" smtClean="0"/>
                  <a:t>的前缀和，对于</a:t>
                </a:r>
                <a:r>
                  <a:rPr lang="en-US" altLang="zh-CN" dirty="0" smtClean="0"/>
                  <a:t>n/d</a:t>
                </a:r>
                <a:r>
                  <a:rPr lang="zh-CN" altLang="en-US" dirty="0" smtClean="0"/>
                  <a:t>和</a:t>
                </a:r>
                <a:r>
                  <a:rPr lang="en-US" altLang="zh-CN" dirty="0" smtClean="0"/>
                  <a:t>m/d</a:t>
                </a:r>
                <a:r>
                  <a:rPr lang="zh-CN" altLang="en-US" dirty="0" smtClean="0"/>
                  <a:t>相同的区间就可以</a:t>
                </a:r>
                <a:r>
                  <a:rPr lang="en-US" altLang="zh-CN" dirty="0" smtClean="0"/>
                  <a:t>O(1)</a:t>
                </a:r>
                <a:r>
                  <a:rPr lang="zh-CN" altLang="en-US" dirty="0" smtClean="0"/>
                  <a:t>计算。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时间复杂度</a:t>
                </a:r>
                <a:r>
                  <a:rPr lang="en-US" altLang="zh-CN" dirty="0" smtClean="0"/>
                  <a:t>O(</a:t>
                </a:r>
                <a:r>
                  <a:rPr lang="en-US" altLang="zh-CN" dirty="0" err="1" smtClean="0"/>
                  <a:t>n+tsqrt</a:t>
                </a:r>
                <a:r>
                  <a:rPr lang="en-US" altLang="zh-CN" dirty="0" smtClean="0"/>
                  <a:t>(n))</a:t>
                </a: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2156" r="-9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5938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1469</TotalTime>
  <Words>1550</Words>
  <Application>Microsoft Office PowerPoint</Application>
  <PresentationFormat>全屏显示(4:3)</PresentationFormat>
  <Paragraphs>127</Paragraphs>
  <Slides>27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28" baseType="lpstr">
      <vt:lpstr>Office 主题</vt:lpstr>
      <vt:lpstr>数论</vt:lpstr>
      <vt:lpstr>Miller-Rabin</vt:lpstr>
      <vt:lpstr>Pollard-rho</vt:lpstr>
      <vt:lpstr>Pollard-rho</vt:lpstr>
      <vt:lpstr>中国剩余定理</vt:lpstr>
      <vt:lpstr>原根</vt:lpstr>
      <vt:lpstr>二次剩余</vt:lpstr>
      <vt:lpstr>拉格朗日定理</vt:lpstr>
      <vt:lpstr>莫比乌斯反演</vt:lpstr>
      <vt:lpstr>莫比乌斯反演</vt:lpstr>
      <vt:lpstr>洗牌</vt:lpstr>
      <vt:lpstr>洗牌</vt:lpstr>
      <vt:lpstr>Visible Lattice Points</vt:lpstr>
      <vt:lpstr>Visible Lattice Points</vt:lpstr>
      <vt:lpstr>sumdiv</vt:lpstr>
      <vt:lpstr>sumdiv</vt:lpstr>
      <vt:lpstr>Hankson的趣味题</vt:lpstr>
      <vt:lpstr>Hankson的趣味题</vt:lpstr>
      <vt:lpstr>奶牛分厩</vt:lpstr>
      <vt:lpstr>奶牛分厩</vt:lpstr>
      <vt:lpstr>数三角形</vt:lpstr>
      <vt:lpstr>数三角形</vt:lpstr>
      <vt:lpstr>GCD SUM</vt:lpstr>
      <vt:lpstr>GCD SUM</vt:lpstr>
      <vt:lpstr>GCD SUM II</vt:lpstr>
      <vt:lpstr>GCD SUM II</vt:lpstr>
      <vt:lpstr>GCD SUM II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概率与期望</dc:title>
  <dc:creator>Administrator</dc:creator>
  <cp:lastModifiedBy>Windows 用户</cp:lastModifiedBy>
  <cp:revision>184</cp:revision>
  <dcterms:created xsi:type="dcterms:W3CDTF">2016-02-05T11:47:08Z</dcterms:created>
  <dcterms:modified xsi:type="dcterms:W3CDTF">2017-10-02T05:22:15Z</dcterms:modified>
</cp:coreProperties>
</file>