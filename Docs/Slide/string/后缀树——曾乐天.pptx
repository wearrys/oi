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3"/>
    <p:sldId id="257" r:id="rId4"/>
    <p:sldId id="258" r:id="rId5"/>
    <p:sldId id="259" r:id="rId6"/>
    <p:sldId id="260" r:id="rId7"/>
    <p:sldId id="261" r:id="rId8"/>
    <p:sldId id="262" r:id="rId9"/>
    <p:sldId id="263" r:id="rId10"/>
    <p:sldId id="325"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67" r:id="rId24"/>
    <p:sldId id="277" r:id="rId25"/>
    <p:sldId id="278" r:id="rId26"/>
    <p:sldId id="280" r:id="rId27"/>
    <p:sldId id="281" r:id="rId28"/>
    <p:sldId id="282" r:id="rId29"/>
    <p:sldId id="284" r:id="rId30"/>
    <p:sldId id="286" r:id="rId31"/>
    <p:sldId id="288" r:id="rId32"/>
    <p:sldId id="289" r:id="rId33"/>
    <p:sldId id="290" r:id="rId34"/>
    <p:sldId id="291" r:id="rId35"/>
    <p:sldId id="292" r:id="rId36"/>
    <p:sldId id="293" r:id="rId37"/>
    <p:sldId id="294" r:id="rId38"/>
    <p:sldId id="295" r:id="rId40"/>
    <p:sldId id="296" r:id="rId41"/>
    <p:sldId id="298" r:id="rId42"/>
    <p:sldId id="299" r:id="rId43"/>
    <p:sldId id="297"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6" r:id="rId57"/>
    <p:sldId id="317" r:id="rId58"/>
    <p:sldId id="318" r:id="rId59"/>
    <p:sldId id="319" r:id="rId60"/>
    <p:sldId id="313" r:id="rId61"/>
    <p:sldId id="312" r:id="rId62"/>
    <p:sldId id="314" r:id="rId63"/>
    <p:sldId id="315"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2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alphaModFix amt="15000"/>
          </a:blip>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slide" Target="slide4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slide" Target="slide43.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43.xml"/><Relationship Id="rId2" Type="http://schemas.openxmlformats.org/officeDocument/2006/relationships/image" Target="../media/image15.png"/><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slide" Target="slide3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suffix%20tree.cpp" TargetMode="Externa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hyperlink" Target="http://stackoverflow.com/questions/9452701/ukkonens-suffix-tree-algorithm-in-plain-english" TargetMode="External"/><Relationship Id="rId2" Type="http://schemas.openxmlformats.org/officeDocument/2006/relationships/hyperlink" Target="http://wenku.baidu.com/view/75ae114cc850ad02de804110.html?from=search" TargetMode="Externa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Moha_example.svg"/>
          <p:cNvPicPr>
            <a:picLocks noChangeAspect="1"/>
          </p:cNvPicPr>
          <p:nvPr/>
        </p:nvPicPr>
        <p:blipFill>
          <a:blip r:embed="rId1"/>
          <a:stretch>
            <a:fillRect/>
          </a:stretch>
        </p:blipFill>
        <p:spPr>
          <a:xfrm>
            <a:off x="4999355" y="3411855"/>
            <a:ext cx="2149475" cy="2149475"/>
          </a:xfrm>
          <a:prstGeom prst="rect">
            <a:avLst/>
          </a:prstGeom>
        </p:spPr>
      </p:pic>
      <p:sp>
        <p:nvSpPr>
          <p:cNvPr id="5" name="矩形 4"/>
          <p:cNvSpPr/>
          <p:nvPr/>
        </p:nvSpPr>
        <p:spPr>
          <a:xfrm>
            <a:off x="4956493" y="1920240"/>
            <a:ext cx="2249805" cy="914400"/>
          </a:xfrm>
          <a:prstGeom prst="rect">
            <a:avLst/>
          </a:prstGeom>
          <a:noFill/>
          <a:ln>
            <a:noFill/>
          </a:ln>
        </p:spPr>
        <p:txBody>
          <a:bodyPr wrap="none" rtlCol="0" anchor="t">
            <a:spAutoFit/>
            <a:scene3d>
              <a:camera prst="obliqueTopLeft"/>
              <a:lightRig rig="threePt" dir="t"/>
            </a:scene3d>
          </a:bodyPr>
          <a:p>
            <a:pPr algn="ctr"/>
            <a:r>
              <a:rPr lang="zh-CN" altLang="en-US" sz="5400" b="1">
                <a:ln w="10160">
                  <a:solidFill>
                    <a:schemeClr val="accent5"/>
                  </a:solidFill>
                  <a:prstDash val="solid"/>
                </a:ln>
                <a:solidFill>
                  <a:srgbClr val="92D050"/>
                </a:solidFill>
                <a:effectLst>
                  <a:glow rad="228600">
                    <a:schemeClr val="accent4">
                      <a:satMod val="175000"/>
                      <a:alpha val="40000"/>
                    </a:schemeClr>
                  </a:glow>
                  <a:outerShdw blurRad="38100" dist="22860" dir="5400000" algn="tl" rotWithShape="0">
                    <a:srgbClr val="000000">
                      <a:alpha val="30000"/>
                    </a:srgbClr>
                  </a:outerShdw>
                </a:effectLst>
              </a:rPr>
              <a:t>后缀树</a:t>
            </a:r>
            <a:endParaRPr lang="zh-CN" altLang="en-US" sz="5400" b="1">
              <a:ln w="10160">
                <a:solidFill>
                  <a:schemeClr val="accent5"/>
                </a:solidFill>
                <a:prstDash val="solid"/>
              </a:ln>
              <a:solidFill>
                <a:srgbClr val="92D050"/>
              </a:solidFill>
              <a:effectLst>
                <a:glow rad="228600">
                  <a:schemeClr val="accent4">
                    <a:satMod val="175000"/>
                    <a:alpha val="40000"/>
                  </a:schemeClr>
                </a:glow>
                <a:outerShdw blurRad="38100" dist="22860" dir="5400000" algn="tl" rotWithShape="0">
                  <a:srgbClr val="000000">
                    <a:alpha val="30000"/>
                  </a:srgbClr>
                </a:outerShdw>
              </a:effectLst>
            </a:endParaRPr>
          </a:p>
        </p:txBody>
      </p:sp>
      <p:sp>
        <p:nvSpPr>
          <p:cNvPr id="6" name="文本框 5"/>
          <p:cNvSpPr txBox="1"/>
          <p:nvPr/>
        </p:nvSpPr>
        <p:spPr>
          <a:xfrm>
            <a:off x="10627995" y="6223635"/>
            <a:ext cx="1369695" cy="368300"/>
          </a:xfrm>
          <a:prstGeom prst="rect">
            <a:avLst/>
          </a:prstGeom>
          <a:noFill/>
        </p:spPr>
        <p:txBody>
          <a:bodyPr wrap="square" rtlCol="0">
            <a:spAutoFit/>
          </a:bodyPr>
          <a:p>
            <a:r>
              <a:rPr lang="en-US" altLang="zh-CN"/>
              <a:t>zlt</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en-US" altLang="zh-CN" sz="3200"/>
              <a:t>1.</a:t>
            </a:r>
            <a:r>
              <a:rPr lang="zh-CN" altLang="en-US" sz="3200"/>
              <a:t>前缀</a:t>
            </a:r>
            <a:r>
              <a:rPr lang="en-US" altLang="zh-CN" sz="3200"/>
              <a:t>Trie</a:t>
            </a:r>
            <a:r>
              <a:rPr lang="zh-CN" altLang="en-US" sz="3200"/>
              <a:t>树</a:t>
            </a:r>
            <a:r>
              <a:rPr lang="en-US" altLang="zh-CN" sz="3200"/>
              <a:t>(</a:t>
            </a:r>
            <a:r>
              <a:rPr lang="zh-CN" altLang="en-US" sz="3200"/>
              <a:t>字典树</a:t>
            </a:r>
            <a:r>
              <a:rPr lang="en-US" altLang="zh-CN" sz="3200"/>
              <a:t>)</a:t>
            </a:r>
            <a:r>
              <a:rPr lang="zh-CN" altLang="en-US" sz="3200" b="1"/>
              <a:t>简介</a:t>
            </a:r>
            <a:endParaRPr lang="zh-CN" altLang="en-US" sz="3200" b="1"/>
          </a:p>
          <a:p>
            <a:r>
              <a:rPr lang="en-US" altLang="zh-CN" sz="3200"/>
              <a:t>2.</a:t>
            </a:r>
            <a:r>
              <a:rPr lang="zh-CN" altLang="en-US" sz="3200"/>
              <a:t>后缀</a:t>
            </a:r>
            <a:r>
              <a:rPr lang="en-US" altLang="zh-CN" sz="3200"/>
              <a:t>Trie</a:t>
            </a:r>
            <a:r>
              <a:rPr lang="zh-CN" altLang="en-US" sz="3200"/>
              <a:t>树</a:t>
            </a:r>
            <a:r>
              <a:rPr lang="zh-CN" altLang="en-US" sz="3200" b="1"/>
              <a:t>简介</a:t>
            </a:r>
            <a:endParaRPr lang="zh-CN" altLang="en-US" sz="3200" b="1"/>
          </a:p>
          <a:p>
            <a:r>
              <a:rPr lang="en-US" altLang="zh-CN" sz="3200"/>
              <a:t>3.</a:t>
            </a:r>
            <a:r>
              <a:rPr lang="zh-CN" altLang="en-US" sz="3200"/>
              <a:t>后缀树</a:t>
            </a:r>
            <a:endParaRPr lang="zh-CN" altLang="en-US" sz="3200"/>
          </a:p>
          <a:p>
            <a:r>
              <a:rPr lang="en-US" altLang="zh-CN" sz="3200" b="1"/>
              <a:t>4.</a:t>
            </a:r>
            <a:r>
              <a:rPr lang="zh-CN" altLang="en-US" sz="3200" b="1"/>
              <a:t>什么你还想要有四？？</a:t>
            </a:r>
            <a:endParaRPr lang="zh-CN" altLang="en-US" sz="3200" b="1"/>
          </a:p>
        </p:txBody>
      </p:sp>
      <p:sp>
        <p:nvSpPr>
          <p:cNvPr id="4" name="矩形 3"/>
          <p:cNvSpPr/>
          <p:nvPr/>
        </p:nvSpPr>
        <p:spPr>
          <a:xfrm>
            <a:off x="840740" y="563245"/>
            <a:ext cx="3611880" cy="914400"/>
          </a:xfrm>
          <a:prstGeom prst="rect">
            <a:avLst/>
          </a:prstGeom>
          <a:noFill/>
          <a:ln>
            <a:noFill/>
          </a:ln>
        </p:spPr>
        <p:txBody>
          <a:bodyPr wrap="none" rtlCol="0" anchor="t">
            <a:spAutoFit/>
          </a:bodyPr>
          <a:p>
            <a:pPr algn="l"/>
            <a:r>
              <a:rPr lang="zh-CN" altLang="en-US" sz="5400">
                <a:ln w="9525">
                  <a:solidFill>
                    <a:schemeClr val="bg1"/>
                  </a:solidFill>
                  <a:prstDash val="solid"/>
                </a:ln>
                <a:solidFill>
                  <a:schemeClr val="tx1"/>
                </a:solidFill>
                <a:effectLst>
                  <a:outerShdw blurRad="12700" dist="38100" dir="2700000" algn="tl" rotWithShape="0">
                    <a:schemeClr val="bg1">
                      <a:lumMod val="50000"/>
                    </a:schemeClr>
                  </a:outerShdw>
                </a:effectLst>
              </a:rPr>
              <a:t>主要内容：</a:t>
            </a:r>
            <a:endParaRPr lang="en-US" altLang="zh-CN" sz="540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a:t>
            </a:r>
            <a:r>
              <a:rPr lang="zh-CN" altLang="en-US"/>
              <a:t>前缀</a:t>
            </a:r>
            <a:r>
              <a:rPr lang="en-US" altLang="zh-CN"/>
              <a:t>Trie</a:t>
            </a:r>
            <a:r>
              <a:rPr lang="zh-CN" altLang="en-US"/>
              <a:t>树</a:t>
            </a:r>
            <a:endParaRPr lang="zh-CN" altLang="en-US"/>
          </a:p>
        </p:txBody>
      </p:sp>
      <p:sp>
        <p:nvSpPr>
          <p:cNvPr id="3" name="内容占位符 2"/>
          <p:cNvSpPr>
            <a:spLocks noGrp="1"/>
          </p:cNvSpPr>
          <p:nvPr>
            <p:ph idx="1"/>
          </p:nvPr>
        </p:nvSpPr>
        <p:spPr/>
        <p:txBody>
          <a:bodyPr/>
          <a:p>
            <a:r>
              <a:rPr lang="zh-CN" altLang="en-US"/>
              <a:t>简述：又名单词查找树，trie树，一种多路树形结构，常用来操作字符串（但不限于字符串），和hash效率有一拼。</a:t>
            </a:r>
            <a:endParaRPr lang="zh-CN" altLang="en-US"/>
          </a:p>
          <a:p>
            <a:r>
              <a:rPr lang="zh-CN" altLang="en-US"/>
              <a:t>性质：不同字符串的相同前缀只保存一份。</a:t>
            </a:r>
            <a:endParaRPr lang="zh-CN" altLang="en-US"/>
          </a:p>
          <a:p>
            <a:r>
              <a:rPr lang="zh-CN" altLang="en-US"/>
              <a:t>操作：查找，插入，删除。</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83870"/>
            <a:ext cx="10515600" cy="5693410"/>
          </a:xfrm>
        </p:spPr>
        <p:txBody>
          <a:bodyPr/>
          <a:p>
            <a:pPr marL="0" indent="0">
              <a:buNone/>
            </a:pPr>
            <a:r>
              <a:rPr lang="zh-CN" altLang="en-US"/>
              <a:t>举个例子：</a:t>
            </a:r>
            <a:endParaRPr lang="zh-CN" altLang="en-US"/>
          </a:p>
          <a:p>
            <a:pPr marL="0" indent="0">
              <a:buNone/>
            </a:pPr>
            <a:r>
              <a:rPr lang="zh-CN" altLang="en-US"/>
              <a:t>假设有这么几个单词：</a:t>
            </a:r>
            <a:endParaRPr lang="zh-CN" altLang="en-US"/>
          </a:p>
          <a:p>
            <a:pPr marL="457200" indent="-457200"/>
            <a:r>
              <a:rPr lang="en-US" altLang="zh-CN"/>
              <a:t>abdh</a:t>
            </a:r>
            <a:endParaRPr lang="en-US" altLang="zh-CN"/>
          </a:p>
          <a:p>
            <a:pPr marL="457200" indent="-457200"/>
            <a:r>
              <a:rPr lang="en-US" altLang="zh-CN"/>
              <a:t>abdi</a:t>
            </a:r>
            <a:endParaRPr lang="en-US" altLang="zh-CN"/>
          </a:p>
          <a:p>
            <a:pPr marL="457200" indent="-457200"/>
            <a:r>
              <a:rPr lang="en-US" altLang="zh-CN"/>
              <a:t>abe</a:t>
            </a:r>
            <a:endParaRPr lang="en-US" altLang="zh-CN"/>
          </a:p>
          <a:p>
            <a:pPr marL="457200" indent="-457200"/>
            <a:r>
              <a:rPr lang="en-US" altLang="zh-CN"/>
              <a:t>acf</a:t>
            </a:r>
            <a:endParaRPr lang="en-US" altLang="zh-CN"/>
          </a:p>
          <a:p>
            <a:pPr marL="457200" indent="-457200"/>
            <a:r>
              <a:rPr lang="en-US" altLang="zh-CN"/>
              <a:t>acgi</a:t>
            </a:r>
            <a:endParaRPr lang="en-US" altLang="zh-CN"/>
          </a:p>
          <a:p>
            <a:pPr marL="0" indent="0">
              <a:buNone/>
            </a:pPr>
            <a:r>
              <a:rPr lang="en-US" altLang="zh-CN"/>
              <a:t>把它存入一棵前缀树后:</a:t>
            </a:r>
            <a:endParaRPr lang="en-US" altLang="zh-CN"/>
          </a:p>
          <a:p>
            <a:pPr marL="0" indent="0">
              <a:buNone/>
            </a:pPr>
            <a:endParaRPr lang="en-US" altLang="zh-CN"/>
          </a:p>
          <a:p>
            <a:pPr marL="0" indent="0">
              <a:buNone/>
            </a:pPr>
            <a:r>
              <a:rPr lang="zh-CN" altLang="en-US"/>
              <a:t>这样就能方便的进行字符串</a:t>
            </a:r>
            <a:endParaRPr lang="zh-CN" altLang="en-US"/>
          </a:p>
          <a:p>
            <a:pPr marL="0" indent="0">
              <a:buNone/>
            </a:pPr>
            <a:r>
              <a:rPr lang="zh-CN" altLang="en-US"/>
              <a:t>的查找了。。。</a:t>
            </a:r>
            <a:endParaRPr lang="zh-CN" altLang="en-US"/>
          </a:p>
        </p:txBody>
      </p:sp>
      <p:pic>
        <p:nvPicPr>
          <p:cNvPr id="5" name="图片 4"/>
          <p:cNvPicPr>
            <a:picLocks noChangeAspect="1"/>
          </p:cNvPicPr>
          <p:nvPr/>
        </p:nvPicPr>
        <p:blipFill>
          <a:blip r:embed="rId1"/>
          <a:stretch>
            <a:fillRect/>
          </a:stretch>
        </p:blipFill>
        <p:spPr>
          <a:xfrm>
            <a:off x="5316220" y="567690"/>
            <a:ext cx="6893560" cy="53606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additive="base">
                                        <p:cTn id="2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blinds(horizontal)">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应用：</a:t>
            </a:r>
            <a:endParaRPr lang="zh-CN" altLang="en-US"/>
          </a:p>
        </p:txBody>
      </p:sp>
      <p:sp>
        <p:nvSpPr>
          <p:cNvPr id="3" name="内容占位符 2"/>
          <p:cNvSpPr>
            <a:spLocks noGrp="1"/>
          </p:cNvSpPr>
          <p:nvPr>
            <p:ph idx="1"/>
          </p:nvPr>
        </p:nvSpPr>
        <p:spPr/>
        <p:txBody>
          <a:bodyPr/>
          <a:p>
            <a:r>
              <a:rPr lang="zh-CN" altLang="en-US"/>
              <a:t>1.字符串的快速检索</a:t>
            </a:r>
            <a:endParaRPr lang="zh-CN" altLang="en-US"/>
          </a:p>
          <a:p>
            <a:r>
              <a:rPr lang="zh-CN" altLang="en-US"/>
              <a:t>2.字符串排序</a:t>
            </a:r>
            <a:endParaRPr lang="zh-CN" altLang="en-US"/>
          </a:p>
          <a:p>
            <a:r>
              <a:rPr lang="zh-CN" altLang="en-US"/>
              <a:t>3.最长公共前缀</a:t>
            </a:r>
            <a:endParaRPr lang="zh-CN" altLang="en-US"/>
          </a:p>
          <a:p>
            <a:r>
              <a:rPr lang="zh-CN" altLang="en-US"/>
              <a:t>4.自动匹配前缀显示后缀</a:t>
            </a:r>
            <a:endParaRPr lang="zh-CN" altLang="en-US"/>
          </a:p>
        </p:txBody>
      </p:sp>
      <p:sp>
        <p:nvSpPr>
          <p:cNvPr id="5" name="矩形 4"/>
          <p:cNvSpPr/>
          <p:nvPr/>
        </p:nvSpPr>
        <p:spPr>
          <a:xfrm>
            <a:off x="977900" y="3982085"/>
            <a:ext cx="11021060" cy="2377440"/>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p>
            <a:pPr algn="l"/>
            <a:r>
              <a:rPr lang="zh-CN" altLang="en-US" sz="5400" b="1">
                <a:solidFill>
                  <a:schemeClr val="accent4"/>
                </a:solidFill>
                <a:effectLst/>
              </a:rPr>
              <a:t>要看代码</a:t>
            </a:r>
            <a:r>
              <a:rPr lang="zh-CN" altLang="en-US" sz="9600" b="1">
                <a:ln>
                  <a:noFill/>
                </a:ln>
                <a:solidFill>
                  <a:schemeClr val="accent4">
                    <a:lumMod val="60000"/>
                    <a:lumOff val="40000"/>
                  </a:schemeClr>
                </a:solidFill>
                <a:effectLst>
                  <a:glow rad="101600">
                    <a:schemeClr val="accent2">
                      <a:satMod val="175000"/>
                      <a:alpha val="40000"/>
                    </a:schemeClr>
                  </a:glow>
                </a:effectLst>
              </a:rPr>
              <a:t>？</a:t>
            </a:r>
            <a:r>
              <a:rPr lang="zh-CN" altLang="en-US" sz="5400">
                <a:solidFill>
                  <a:schemeClr val="accent4"/>
                </a:solidFill>
                <a:effectLst/>
              </a:rPr>
              <a:t>显然这不是今天的重点</a:t>
            </a:r>
            <a:endParaRPr lang="en-US" altLang="zh-CN" sz="5400">
              <a:solidFill>
                <a:schemeClr val="accent4"/>
              </a:solidFill>
              <a:effectLst/>
            </a:endParaRPr>
          </a:p>
          <a:p>
            <a:pPr algn="l"/>
            <a:r>
              <a:rPr lang="zh-CN" altLang="en-US" sz="5400">
                <a:solidFill>
                  <a:schemeClr val="accent4"/>
                </a:solidFill>
                <a:effectLst/>
              </a:rPr>
              <a:t>所以自行百度</a:t>
            </a:r>
            <a:r>
              <a:rPr lang="en-US" altLang="zh-CN" sz="5400">
                <a:solidFill>
                  <a:schemeClr val="accent4"/>
                </a:solidFill>
                <a:effectLst/>
              </a:rPr>
              <a:t>~</a:t>
            </a:r>
            <a:endParaRPr lang="en-US" altLang="zh-CN" sz="5400">
              <a:solidFill>
                <a:schemeClr val="accent4"/>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rPr lang="zh-CN" altLang="en-US"/>
              <a:t>后缀</a:t>
            </a:r>
            <a:r>
              <a:rPr lang="en-US" altLang="zh-CN"/>
              <a:t>Trie</a:t>
            </a:r>
            <a:r>
              <a:rPr lang="zh-CN" altLang="en-US"/>
              <a:t>树</a:t>
            </a:r>
            <a:endParaRPr lang="zh-CN" altLang="en-US"/>
          </a:p>
        </p:txBody>
      </p:sp>
      <p:sp>
        <p:nvSpPr>
          <p:cNvPr id="3" name="内容占位符 2"/>
          <p:cNvSpPr>
            <a:spLocks noGrp="1"/>
          </p:cNvSpPr>
          <p:nvPr>
            <p:ph idx="1"/>
          </p:nvPr>
        </p:nvSpPr>
        <p:spPr/>
        <p:txBody>
          <a:bodyPr>
            <a:normAutofit lnSpcReduction="20000"/>
          </a:bodyPr>
          <a:p>
            <a:r>
              <a:rPr lang="zh-CN" altLang="en-US"/>
              <a:t>简介：后缀</a:t>
            </a:r>
            <a:r>
              <a:rPr lang="en-US" altLang="zh-CN"/>
              <a:t>Trie</a:t>
            </a:r>
            <a:r>
              <a:rPr lang="zh-CN" altLang="en-US"/>
              <a:t>树，就是把一串字符的所有后缀保存并且压缩的字典树。相对于字典树来说，后缀</a:t>
            </a:r>
            <a:r>
              <a:rPr lang="en-US" altLang="zh-CN">
                <a:sym typeface="+mn-ea"/>
              </a:rPr>
              <a:t>Trie</a:t>
            </a:r>
            <a:r>
              <a:rPr lang="zh-CN" altLang="en-US"/>
              <a:t>树并不是针对大量字符串的，而是针对一个或几个字符串来解决问题，</a:t>
            </a:r>
            <a:endParaRPr lang="zh-CN" altLang="en-US"/>
          </a:p>
          <a:p>
            <a:endParaRPr lang="zh-CN" altLang="en-US"/>
          </a:p>
          <a:p>
            <a:r>
              <a:rPr lang="zh-CN" altLang="en-US"/>
              <a:t>比如字符串的回文子串，两个字符串的最长公共子串等等。</a:t>
            </a:r>
            <a:endParaRPr lang="zh-CN" altLang="en-US"/>
          </a:p>
          <a:p>
            <a:endParaRPr lang="zh-CN" altLang="en-US"/>
          </a:p>
          <a:p>
            <a:r>
              <a:rPr lang="zh-CN" altLang="en-US"/>
              <a:t>性质：一个字符串构造了一棵树，树中保存了该字符串所有的后缀。</a:t>
            </a:r>
            <a:endParaRPr lang="zh-CN" altLang="en-US"/>
          </a:p>
          <a:p>
            <a:endParaRPr lang="zh-CN" altLang="en-US"/>
          </a:p>
          <a:p>
            <a:r>
              <a:rPr lang="zh-CN" altLang="en-US"/>
              <a:t>操作：就是建立和应用。。。</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97510"/>
            <a:ext cx="10515600" cy="5779770"/>
          </a:xfrm>
        </p:spPr>
        <p:txBody>
          <a:bodyPr/>
          <a:p>
            <a:pPr marL="0" indent="0">
              <a:buNone/>
            </a:pPr>
            <a:r>
              <a:rPr lang="zh-CN" altLang="en-US"/>
              <a:t>依旧是个例子：</a:t>
            </a:r>
            <a:endParaRPr lang="zh-CN" altLang="en-US"/>
          </a:p>
          <a:p>
            <a:pPr marL="0" indent="0">
              <a:buNone/>
            </a:pPr>
            <a:r>
              <a:rPr lang="zh-CN" altLang="en-US"/>
              <a:t>比如单词banana，它的后缀有</a:t>
            </a:r>
            <a:r>
              <a:rPr lang="en-US" altLang="zh-CN"/>
              <a:t>:</a:t>
            </a:r>
            <a:endParaRPr lang="en-US" altLang="zh-CN"/>
          </a:p>
          <a:p>
            <a:pPr marL="0" indent="0">
              <a:buNone/>
            </a:pPr>
            <a:r>
              <a:rPr lang="en-US" altLang="zh-CN"/>
              <a:t>      </a:t>
            </a:r>
            <a:r>
              <a:rPr lang="zh-CN" altLang="en-US"/>
              <a:t>后缀        起点</a:t>
            </a:r>
            <a:endParaRPr lang="zh-CN" altLang="en-US"/>
          </a:p>
          <a:p>
            <a:pPr marL="457200" indent="-457200"/>
            <a:r>
              <a:rPr lang="en-US" altLang="zh-CN"/>
              <a:t>banana        1</a:t>
            </a:r>
            <a:endParaRPr lang="en-US" altLang="zh-CN"/>
          </a:p>
          <a:p>
            <a:pPr marL="457200" indent="-457200"/>
            <a:r>
              <a:rPr lang="en-US" altLang="zh-CN"/>
              <a:t>anana          2</a:t>
            </a:r>
            <a:endParaRPr lang="en-US" altLang="zh-CN"/>
          </a:p>
          <a:p>
            <a:pPr marL="457200" indent="-457200"/>
            <a:r>
              <a:rPr lang="en-US" altLang="zh-CN"/>
              <a:t>nana            3</a:t>
            </a:r>
            <a:endParaRPr lang="en-US" altLang="zh-CN"/>
          </a:p>
          <a:p>
            <a:pPr marL="457200" indent="-457200"/>
            <a:r>
              <a:rPr lang="en-US" altLang="zh-CN"/>
              <a:t>ana              4</a:t>
            </a:r>
            <a:endParaRPr lang="zh-CN" altLang="en-US"/>
          </a:p>
          <a:p>
            <a:pPr marL="457200" indent="-457200"/>
            <a:r>
              <a:rPr lang="en-US" altLang="zh-CN"/>
              <a:t>na                5</a:t>
            </a:r>
            <a:endParaRPr lang="en-US" altLang="zh-CN"/>
          </a:p>
          <a:p>
            <a:pPr marL="457200" indent="-457200"/>
            <a:r>
              <a:rPr lang="en-US" altLang="zh-CN"/>
              <a:t>a                  6</a:t>
            </a:r>
            <a:endParaRPr lang="en-US" altLang="zh-CN"/>
          </a:p>
          <a:p>
            <a:pPr marL="0" indent="0">
              <a:buNone/>
            </a:pPr>
            <a:r>
              <a:rPr lang="zh-CN" altLang="en-US"/>
              <a:t>得到的树为：</a:t>
            </a:r>
            <a:endParaRPr lang="zh-CN" altLang="en-US"/>
          </a:p>
          <a:p>
            <a:pPr marL="0" indent="0">
              <a:buNone/>
            </a:pPr>
            <a:r>
              <a:rPr lang="zh-CN" altLang="en-US"/>
              <a:t>显然这和前缀</a:t>
            </a:r>
            <a:r>
              <a:rPr lang="en-US" altLang="zh-CN"/>
              <a:t>Trie</a:t>
            </a:r>
            <a:r>
              <a:rPr lang="zh-CN" altLang="en-US"/>
              <a:t>树的建立没啥区别</a:t>
            </a:r>
            <a:endParaRPr lang="zh-CN" altLang="en-US"/>
          </a:p>
        </p:txBody>
      </p:sp>
      <p:pic>
        <p:nvPicPr>
          <p:cNvPr id="4" name="图片 3"/>
          <p:cNvPicPr>
            <a:picLocks noChangeAspect="1"/>
          </p:cNvPicPr>
          <p:nvPr/>
        </p:nvPicPr>
        <p:blipFill>
          <a:blip r:embed="rId1"/>
          <a:stretch>
            <a:fillRect/>
          </a:stretch>
        </p:blipFill>
        <p:spPr>
          <a:xfrm>
            <a:off x="6628130" y="-120015"/>
            <a:ext cx="5474970" cy="68948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additive="base">
                                        <p:cTn id="2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 calcmode="lin" valueType="num">
                                      <p:cBhvr additive="base">
                                        <p:cTn id="3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45" fill="hold">
                            <p:stCondLst>
                              <p:cond delay="500"/>
                            </p:stCondLst>
                            <p:childTnLst>
                              <p:par>
                                <p:cTn id="46" presetID="3" presetClass="entr" presetSubtype="10"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blinds(horizontal)">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优势</a:t>
            </a:r>
            <a:r>
              <a:rPr lang="en-US" altLang="zh-CN"/>
              <a:t>&amp;</a:t>
            </a:r>
            <a:r>
              <a:rPr lang="zh-CN" altLang="en-US"/>
              <a:t>应用：</a:t>
            </a:r>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后缀查询：</a:t>
            </a:r>
            <a:endParaRPr lang="zh-CN" altLang="en-US"/>
          </a:p>
          <a:p>
            <a:pPr marL="0" indent="0">
              <a:buNone/>
            </a:pPr>
            <a:r>
              <a:rPr lang="zh-CN" altLang="en-US"/>
              <a:t>如果你输入一个长度为N的文本并想在其中搜索一个长度为M的串, 传统的暴力匹配需要进行N*M次字符对比, 而一些改进过的匹配技术, 比如像Boyer-Moore算法, 可以在O(N+M)的时间开销内解决问题, 平均效率更是令人满意. 然而, 后缀Trie亮出了O(M)的牌子, 彻底鄙视了其他算法的成绩, 后缀Trie对比的次数仅仅相当于被搜索串的长度!</a:t>
            </a:r>
            <a:endParaRPr lang="zh-CN" altLang="en-US"/>
          </a:p>
          <a:p>
            <a:pPr marL="0" indent="0">
              <a:buNone/>
            </a:pPr>
            <a:endParaRPr lang="zh-CN" altLang="en-US"/>
          </a:p>
          <a:p>
            <a:pPr marL="0" indent="0">
              <a:buNone/>
            </a:pPr>
            <a:r>
              <a:rPr lang="zh-CN" altLang="en-US"/>
              <a:t> 这确实是可圈可点的威力, 这意味着你能通过仅仅7次对比便在莎士比亚所有作品中找出BANANAS. </a:t>
            </a:r>
            <a:endParaRPr lang="zh-CN" altLang="en-US"/>
          </a:p>
          <a:p>
            <a:pPr marL="0" indent="0">
              <a:buNone/>
            </a:pPr>
            <a:endParaRPr lang="zh-CN" altLang="en-US"/>
          </a:p>
          <a:p>
            <a:pPr marL="0" indent="0">
              <a:buNone/>
            </a:pPr>
            <a:r>
              <a:rPr lang="zh-CN" altLang="en-US"/>
              <a:t>听起来。。。不错？</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3" fill="hold">
                            <p:stCondLst>
                              <p:cond delay="500"/>
                            </p:stCondLst>
                            <p:childTnLst>
                              <p:par>
                                <p:cTn id="24" presetID="6" presetClass="emph" presetSubtype="0" fill="hold" nodeType="afterEffect">
                                  <p:stCondLst>
                                    <p:cond delay="0"/>
                                  </p:stCondLst>
                                  <p:childTnLst>
                                    <p:animScale>
                                      <p:cBhvr>
                                        <p:cTn id="25" dur="2000" fill="hold"/>
                                        <p:tgtEl>
                                          <p:spTgt spid="3">
                                            <p:txEl>
                                              <p:pRg st="5" end="5"/>
                                            </p:txEl>
                                          </p:spTgt>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更多的应用：</a:t>
            </a:r>
            <a:endParaRPr lang="zh-CN" altLang="en-US"/>
          </a:p>
        </p:txBody>
      </p:sp>
      <p:sp>
        <p:nvSpPr>
          <p:cNvPr id="3" name="内容占位符 2"/>
          <p:cNvSpPr>
            <a:spLocks noGrp="1"/>
          </p:cNvSpPr>
          <p:nvPr>
            <p:ph idx="1"/>
          </p:nvPr>
        </p:nvSpPr>
        <p:spPr/>
        <p:txBody>
          <a:bodyPr/>
          <a:p>
            <a:r>
              <a:rPr lang="zh-CN" altLang="en-US"/>
              <a:t>在文本T里查询T是否包含子串P（复杂度同流行的KMP相当）。</a:t>
            </a:r>
            <a:endParaRPr lang="zh-CN" altLang="en-US"/>
          </a:p>
          <a:p>
            <a:endParaRPr lang="zh-CN" altLang="en-US"/>
          </a:p>
          <a:p>
            <a:r>
              <a:rPr lang="zh-CN" altLang="en-US"/>
              <a:t>文本T里找出最长重复子串。比如abcdabcefda里abc同da都重复出现，而最长重复子串是abc。</a:t>
            </a:r>
            <a:endParaRPr lang="zh-CN" altLang="en-US"/>
          </a:p>
          <a:p>
            <a:endParaRPr lang="zh-CN" altLang="en-US"/>
          </a:p>
          <a:p>
            <a:r>
              <a:rPr lang="zh-CN" altLang="en-US"/>
              <a:t>找出字符串S1同S2的最长公共子串。</a:t>
            </a:r>
            <a:endParaRPr lang="zh-CN" altLang="en-US"/>
          </a:p>
          <a:p>
            <a:endParaRPr lang="zh-CN" altLang="en-US"/>
          </a:p>
          <a:p>
            <a:r>
              <a:rPr lang="zh-CN" altLang="en-US"/>
              <a:t>找出给定字符串里的最长回文</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10235"/>
            <a:ext cx="10515600" cy="5567045"/>
          </a:xfrm>
        </p:spPr>
        <p:txBody>
          <a:bodyPr/>
          <a:p>
            <a:pPr marL="0" indent="0">
              <a:buNone/>
            </a:pPr>
            <a:r>
              <a:rPr lang="zh-CN" altLang="en-US"/>
              <a:t>好那么就讲完了。。。怎么可能？</a:t>
            </a:r>
            <a:endParaRPr lang="zh-CN" altLang="en-US"/>
          </a:p>
          <a:p>
            <a:pPr marL="0" indent="0">
              <a:buNone/>
            </a:pPr>
            <a:endParaRPr lang="zh-CN" altLang="en-US"/>
          </a:p>
          <a:p>
            <a:pPr marL="0" indent="0">
              <a:buNone/>
            </a:pPr>
            <a:endParaRPr lang="zh-CN" altLang="en-US"/>
          </a:p>
        </p:txBody>
      </p:sp>
      <p:pic>
        <p:nvPicPr>
          <p:cNvPr id="4" name="图片 3" descr="touch_bbs_thread_img_22931755_1450451381.4458"/>
          <p:cNvPicPr>
            <a:picLocks noChangeAspect="1"/>
          </p:cNvPicPr>
          <p:nvPr/>
        </p:nvPicPr>
        <p:blipFill>
          <a:blip r:embed="rId1"/>
          <a:stretch>
            <a:fillRect/>
          </a:stretch>
        </p:blipFill>
        <p:spPr>
          <a:xfrm>
            <a:off x="3514090" y="1323340"/>
            <a:ext cx="5035550" cy="4638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后缀</a:t>
            </a:r>
            <a:r>
              <a:rPr lang="en-US" altLang="zh-CN"/>
              <a:t>Trie</a:t>
            </a:r>
            <a:r>
              <a:rPr lang="zh-CN" altLang="en-US"/>
              <a:t>的缺陷</a:t>
            </a:r>
            <a:endParaRPr lang="en-US" altLang="zh-CN"/>
          </a:p>
        </p:txBody>
      </p:sp>
      <p:sp>
        <p:nvSpPr>
          <p:cNvPr id="3" name="内容占位符 2"/>
          <p:cNvSpPr>
            <a:spLocks noGrp="1"/>
          </p:cNvSpPr>
          <p:nvPr>
            <p:ph idx="1"/>
          </p:nvPr>
        </p:nvSpPr>
        <p:spPr/>
        <p:txBody>
          <a:bodyPr/>
          <a:p>
            <a:r>
              <a:rPr lang="zh-CN" altLang="en-US"/>
              <a:t>构造后缀Trie也是需要时间的.</a:t>
            </a:r>
            <a:endParaRPr lang="zh-CN" altLang="en-US"/>
          </a:p>
          <a:p>
            <a:pPr marL="0" indent="0">
              <a:buNone/>
            </a:pPr>
            <a:endParaRPr lang="zh-CN" altLang="en-US"/>
          </a:p>
          <a:p>
            <a:r>
              <a:rPr lang="zh-CN" altLang="en-US"/>
              <a:t>后缀Trie之所以没有家喻户晓正是因为构造它需要O(n2)的时间和空间. 平方级的开销使它在最需要它的领域 --- 长串搜索 中被拒之门外.</a:t>
            </a:r>
            <a:endParaRPr lang="zh-CN" altLang="en-US"/>
          </a:p>
          <a:p>
            <a:endParaRPr lang="zh-CN" altLang="en-US"/>
          </a:p>
          <a:p>
            <a:r>
              <a:rPr lang="zh-CN" altLang="en-US"/>
              <a:t>怎么办？</a:t>
            </a:r>
            <a:endParaRPr lang="zh-CN" altLang="en-US"/>
          </a:p>
          <a:p>
            <a:endParaRPr lang="zh-CN" altLang="en-US"/>
          </a:p>
          <a:p>
            <a:endParaRPr lang="zh-CN" altLang="en-US"/>
          </a:p>
        </p:txBody>
      </p:sp>
      <p:sp>
        <p:nvSpPr>
          <p:cNvPr id="4" name="矩形 3">
            <a:hlinkClick r:id="rId1" action="ppaction://hlinksldjump"/>
          </p:cNvPr>
          <p:cNvSpPr/>
          <p:nvPr/>
        </p:nvSpPr>
        <p:spPr>
          <a:xfrm>
            <a:off x="27940" y="90805"/>
            <a:ext cx="6760845" cy="6647180"/>
          </a:xfrm>
          <a:prstGeom prst="rect">
            <a:avLst/>
          </a:prstGeom>
          <a:noFill/>
          <a:ln>
            <a:noFill/>
          </a:ln>
          <a:extLst>
            <a:ext uri="{909E8E84-426E-40DD-AFC4-6F175D3DCCD1}">
              <a14:hiddenFill xmlns:a14="http://schemas.microsoft.com/office/drawing/2010/main">
                <a:gradFill>
                  <a:gsLst>
                    <a:gs pos="0">
                      <a:schemeClr val="bg1"/>
                    </a:gs>
                    <a:gs pos="64000">
                      <a:srgbClr val="ECECEC">
                        <a:alpha val="100000"/>
                      </a:srgbClr>
                    </a:gs>
                    <a:gs pos="100000">
                      <a:schemeClr val="bg1">
                        <a:lumMod val="85000"/>
                      </a:schemeClr>
                    </a:gs>
                  </a:gsLst>
                  <a:path path="rect">
                    <a:fillToRect l="50000" t="50000" r="50000" b="50000"/>
                  </a:path>
                  <a:tileRect/>
                </a:gradFill>
              </a14:hiddenFill>
            </a:ext>
          </a:extLst>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09320" y="110490"/>
            <a:ext cx="10515600" cy="1325563"/>
          </a:xfrm>
        </p:spPr>
        <p:txBody>
          <a:bodyPr/>
          <a:p>
            <a:r>
              <a:rPr lang="zh-CN" altLang="en-US"/>
              <a:t>因此，回到今天的正题</a:t>
            </a:r>
            <a:r>
              <a:rPr lang="en-US" altLang="zh-CN"/>
              <a:t>——</a:t>
            </a:r>
            <a:r>
              <a:rPr lang="zh-CN" altLang="en-US"/>
              <a:t>后缀树</a:t>
            </a:r>
            <a:endParaRPr lang="zh-CN" altLang="en-US"/>
          </a:p>
        </p:txBody>
      </p:sp>
      <p:pic>
        <p:nvPicPr>
          <p:cNvPr id="6" name="图片 5" descr="24b16044ad34598283ba12e804f431adcbef8401"/>
          <p:cNvPicPr>
            <a:picLocks noChangeAspect="1"/>
          </p:cNvPicPr>
          <p:nvPr/>
        </p:nvPicPr>
        <p:blipFill>
          <a:blip r:embed="rId1"/>
          <a:stretch>
            <a:fillRect/>
          </a:stretch>
        </p:blipFill>
        <p:spPr>
          <a:xfrm>
            <a:off x="3556000" y="1496695"/>
            <a:ext cx="4853940" cy="4853940"/>
          </a:xfrm>
          <a:prstGeom prst="rect">
            <a:avLst/>
          </a:prstGeom>
        </p:spPr>
      </p:pic>
      <p:sp>
        <p:nvSpPr>
          <p:cNvPr id="7" name="矩形 6">
            <a:hlinkClick r:id="" action="ppaction://hlinkshowjump?jump=nextslide"/>
          </p:cNvPr>
          <p:cNvSpPr/>
          <p:nvPr/>
        </p:nvSpPr>
        <p:spPr>
          <a:xfrm>
            <a:off x="41910" y="-50165"/>
            <a:ext cx="5842000" cy="6802755"/>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a:t>
            </a:r>
            <a:r>
              <a:rPr lang="zh-CN" altLang="en-US"/>
              <a:t>后缀树</a:t>
            </a:r>
            <a:endParaRPr lang="zh-CN" altLang="en-US"/>
          </a:p>
        </p:txBody>
      </p:sp>
      <p:sp>
        <p:nvSpPr>
          <p:cNvPr id="3" name="内容占位符 2"/>
          <p:cNvSpPr>
            <a:spLocks noGrp="1"/>
          </p:cNvSpPr>
          <p:nvPr>
            <p:ph idx="1"/>
          </p:nvPr>
        </p:nvSpPr>
        <p:spPr/>
        <p:txBody>
          <a:bodyPr/>
          <a:p>
            <a:r>
              <a:rPr lang="zh-CN" altLang="en-US"/>
              <a:t>先上两张图来体会一下满满的恶意</a:t>
            </a:r>
            <a:r>
              <a:rPr lang="en-US" altLang="zh-CN"/>
              <a:t>~</a:t>
            </a:r>
            <a:endParaRPr lang="en-US" altLang="zh-CN"/>
          </a:p>
        </p:txBody>
      </p:sp>
      <p:pic>
        <p:nvPicPr>
          <p:cNvPr id="4" name="图片 3"/>
          <p:cNvPicPr>
            <a:picLocks noChangeAspect="1"/>
          </p:cNvPicPr>
          <p:nvPr/>
        </p:nvPicPr>
        <p:blipFill>
          <a:blip r:embed="rId1"/>
          <a:stretch>
            <a:fillRect/>
          </a:stretch>
        </p:blipFill>
        <p:spPr>
          <a:xfrm>
            <a:off x="961390" y="2247265"/>
            <a:ext cx="5712460" cy="4448810"/>
          </a:xfrm>
          <a:prstGeom prst="rect">
            <a:avLst/>
          </a:prstGeom>
        </p:spPr>
      </p:pic>
      <p:pic>
        <p:nvPicPr>
          <p:cNvPr id="5" name="图片 4" descr="火狐截图_2017-01-19T03-45-45.437Z"/>
          <p:cNvPicPr>
            <a:picLocks noChangeAspect="1"/>
          </p:cNvPicPr>
          <p:nvPr/>
        </p:nvPicPr>
        <p:blipFill>
          <a:blip r:embed="rId2"/>
          <a:stretch>
            <a:fillRect/>
          </a:stretch>
        </p:blipFill>
        <p:spPr>
          <a:xfrm>
            <a:off x="6742430" y="467360"/>
            <a:ext cx="5142865" cy="58521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引言：</a:t>
            </a:r>
            <a:endParaRPr lang="zh-CN" altLang="en-US"/>
          </a:p>
        </p:txBody>
      </p:sp>
      <p:sp>
        <p:nvSpPr>
          <p:cNvPr id="3" name="内容占位符 2"/>
          <p:cNvSpPr>
            <a:spLocks noGrp="1"/>
          </p:cNvSpPr>
          <p:nvPr>
            <p:ph idx="1"/>
          </p:nvPr>
        </p:nvSpPr>
        <p:spPr>
          <a:xfrm>
            <a:off x="838200" y="1500505"/>
            <a:ext cx="10515600" cy="4676775"/>
          </a:xfrm>
        </p:spPr>
        <p:txBody>
          <a:bodyPr>
            <a:normAutofit lnSpcReduction="20000"/>
          </a:bodyPr>
          <a:p>
            <a:r>
              <a:rPr lang="zh-CN" altLang="en-US"/>
              <a:t>后缀树跟后缀Trie有着一样的布局, 用法相同，但它把只有一个儿子的节点给剔除了. 这个过程被称为路径压缩, 这意味着树上的某些边将表示一个序列而不是单独的字符.</a:t>
            </a:r>
            <a:endParaRPr lang="zh-CN" altLang="en-US"/>
          </a:p>
          <a:p>
            <a:endParaRPr lang="zh-CN" altLang="en-US"/>
          </a:p>
          <a:p>
            <a:r>
              <a:rPr lang="zh-CN" altLang="en-US"/>
              <a:t>经过证明, 在最坏情况下, 后缀树的节点数也不会超过2N (N为文本的长度). 这使构造后缀树的线性时空开销成为可能.</a:t>
            </a:r>
            <a:endParaRPr lang="zh-CN" altLang="en-US"/>
          </a:p>
          <a:p>
            <a:endParaRPr lang="zh-CN" altLang="en-US"/>
          </a:p>
          <a:p>
            <a:r>
              <a:rPr lang="zh-CN" altLang="en-US"/>
              <a:t>同时，在一个谜之人物的改进下，后缀树插入字符串的效率达到了</a:t>
            </a:r>
            <a:r>
              <a:rPr lang="en-US" altLang="zh-CN"/>
              <a:t>O(N)</a:t>
            </a:r>
            <a:r>
              <a:rPr lang="zh-CN" altLang="en-US"/>
              <a:t>，这是一个惊人的效率。。。</a:t>
            </a:r>
            <a:r>
              <a:rPr lang="en-US" altLang="zh-CN"/>
              <a:t>(</a:t>
            </a:r>
            <a:r>
              <a:rPr lang="zh-CN" altLang="en-US"/>
              <a:t>某最快</a:t>
            </a:r>
            <a:r>
              <a:rPr lang="en-US" altLang="zh-CN"/>
              <a:t>O(NlogN)</a:t>
            </a:r>
            <a:r>
              <a:rPr lang="zh-CN" altLang="en-US"/>
              <a:t>的数组并没它快</a:t>
            </a:r>
            <a:r>
              <a:rPr lang="en-US" altLang="zh-CN"/>
              <a:t>)</a:t>
            </a:r>
            <a:endParaRPr lang="en-US" altLang="zh-CN"/>
          </a:p>
          <a:p>
            <a:endParaRPr lang="en-US" altLang="zh-CN"/>
          </a:p>
          <a:p>
            <a:r>
              <a:rPr lang="zh-CN" altLang="en-US" b="1"/>
              <a:t>这意味着一点：又迷又臭又长的插入代码！！！</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开始准备：</a:t>
            </a:r>
            <a:endParaRPr lang="zh-CN" altLang="en-US"/>
          </a:p>
        </p:txBody>
      </p:sp>
      <p:sp>
        <p:nvSpPr>
          <p:cNvPr id="3" name="内容占位符 2"/>
          <p:cNvSpPr>
            <a:spLocks noGrp="1"/>
          </p:cNvSpPr>
          <p:nvPr>
            <p:ph idx="1"/>
          </p:nvPr>
        </p:nvSpPr>
        <p:spPr/>
        <p:txBody>
          <a:bodyPr/>
          <a:p>
            <a:endParaRPr lang="zh-CN" altLang="en-US"/>
          </a:p>
          <a:p>
            <a:r>
              <a:rPr lang="zh-CN" altLang="en-US"/>
              <a:t>    后缀树基本上像一个</a:t>
            </a:r>
            <a:r>
              <a:rPr lang="en-US" altLang="zh-CN"/>
              <a:t>Trie</a:t>
            </a:r>
            <a:r>
              <a:rPr lang="zh-CN" altLang="en-US"/>
              <a:t>结构。所以它有一个根节点，从根节点引出新的节点，以及进一步从新节点引出其它节点，依次类推。</a:t>
            </a:r>
            <a:endParaRPr lang="zh-CN" altLang="en-US"/>
          </a:p>
          <a:p>
            <a:r>
              <a:rPr lang="zh-CN" altLang="en-US"/>
              <a:t>    但是：与</a:t>
            </a:r>
            <a:r>
              <a:rPr lang="en-US" altLang="zh-CN"/>
              <a:t>Trie</a:t>
            </a:r>
            <a:r>
              <a:rPr lang="zh-CN" altLang="en-US"/>
              <a:t>中不同，边标签不是单个字符。相反,每个边的标签是使用一对整数[从哪,到哪]。这些都是指向文本的指针。从这个意义上说，每个边有任意长度的字符串标签，但只需要O(1)的空间(两个指针)。</a:t>
            </a:r>
            <a:endParaRPr lang="zh-CN" altLang="en-US"/>
          </a:p>
          <a:p>
            <a:r>
              <a:rPr lang="zh-CN" altLang="en-US"/>
              <a:t>在接下来的内容中，我们定义</a:t>
            </a:r>
            <a:r>
              <a:rPr lang="en-US" altLang="zh-CN"/>
              <a:t>‘#’</a:t>
            </a:r>
            <a:r>
              <a:rPr lang="zh-CN" altLang="en-US"/>
              <a:t>为当前末尾；</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让我们先演示一个简单的。。。</a:t>
            </a:r>
            <a:endParaRPr lang="zh-CN" altLang="en-US"/>
          </a:p>
        </p:txBody>
      </p:sp>
      <p:sp>
        <p:nvSpPr>
          <p:cNvPr id="3" name="内容占位符 2"/>
          <p:cNvSpPr>
            <a:spLocks noGrp="1"/>
          </p:cNvSpPr>
          <p:nvPr>
            <p:ph idx="1"/>
          </p:nvPr>
        </p:nvSpPr>
        <p:spPr/>
        <p:txBody>
          <a:bodyPr>
            <a:normAutofit fontScale="90000"/>
          </a:bodyPr>
          <a:p>
            <a:r>
              <a:rPr lang="zh-CN" altLang="en-US"/>
              <a:t>首先展示创建一个特别简单的字符串的后缀树，这个字符串没有重复的字符，如：</a:t>
            </a:r>
            <a:endParaRPr lang="zh-CN" altLang="en-US"/>
          </a:p>
          <a:p>
            <a:r>
              <a:rPr lang="zh-CN" altLang="en-US"/>
              <a:t>abc</a:t>
            </a:r>
            <a:endParaRPr lang="zh-CN" altLang="en-US"/>
          </a:p>
          <a:p>
            <a:r>
              <a:rPr lang="zh-CN" altLang="en-US"/>
              <a:t>这个算法工作的顺序为在原串上从左到右插入。</a:t>
            </a:r>
            <a:endParaRPr lang="zh-CN" altLang="en-US"/>
          </a:p>
          <a:p>
            <a:r>
              <a:rPr lang="zh-CN" altLang="en-US"/>
              <a:t>字符串的每个字符都有一个步骤。每一步都可能涉及到多个个体的操作,但是最后的总数量操作是O(n)</a:t>
            </a:r>
            <a:r>
              <a:rPr lang="en-US" altLang="zh-CN"/>
              <a:t>(</a:t>
            </a:r>
            <a:r>
              <a:rPr lang="zh-CN" altLang="en-US"/>
              <a:t>最后可知</a:t>
            </a:r>
            <a:r>
              <a:rPr lang="en-US" altLang="zh-CN"/>
              <a:t>)</a:t>
            </a:r>
            <a:r>
              <a:rPr lang="zh-CN" altLang="en-US"/>
              <a:t>。</a:t>
            </a:r>
            <a:endParaRPr lang="zh-CN" altLang="en-US"/>
          </a:p>
          <a:p>
            <a:endParaRPr lang="zh-CN" altLang="en-US"/>
          </a:p>
          <a:p>
            <a:r>
              <a:rPr lang="zh-CN" altLang="en-US"/>
              <a:t>所以我们从左开始，第一次插入单个字符</a:t>
            </a:r>
            <a:r>
              <a:rPr lang="en-US" altLang="zh-CN"/>
              <a:t>'</a:t>
            </a:r>
            <a:r>
              <a:rPr lang="zh-CN" altLang="en-US"/>
              <a:t>a</a:t>
            </a:r>
            <a:r>
              <a:rPr lang="en-US" altLang="zh-CN"/>
              <a:t>'</a:t>
            </a:r>
            <a:r>
              <a:rPr lang="zh-CN" altLang="en-US"/>
              <a:t>创建一个从根节点(在左边)到一个叶节点的边，和作为[0,#)的标签，这意味着边代表了子串在位置0开始，结束在</a:t>
            </a:r>
            <a:r>
              <a:rPr lang="en-US" altLang="zh-CN"/>
              <a:t>'#'</a:t>
            </a:r>
            <a:r>
              <a:rPr lang="zh-CN" altLang="en-US"/>
              <a:t>，即当前的结尾。现在，</a:t>
            </a:r>
            <a:r>
              <a:rPr lang="en-US" altLang="zh-CN"/>
              <a:t>‘#’</a:t>
            </a:r>
            <a:r>
              <a:rPr lang="zh-CN" altLang="en-US"/>
              <a:t>在位置1(</a:t>
            </a:r>
            <a:r>
              <a:rPr lang="en-US" altLang="zh-CN"/>
              <a:t>'</a:t>
            </a:r>
            <a:r>
              <a:rPr lang="zh-CN" altLang="en-US"/>
              <a:t>a</a:t>
            </a:r>
            <a:r>
              <a:rPr lang="en-US" altLang="zh-CN"/>
              <a:t>'</a:t>
            </a:r>
            <a:r>
              <a:rPr lang="zh-CN" altLang="en-US"/>
              <a:t>之后的右边)。 </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 因此，我们拥有一棵起始树，这棵树看起来如下：</a:t>
            </a:r>
            <a:endParaRPr lang="zh-CN" altLang="en-US"/>
          </a:p>
          <a:p>
            <a:endParaRPr lang="zh-CN" altLang="en-US"/>
          </a:p>
          <a:p>
            <a:endParaRPr lang="zh-CN" altLang="en-US"/>
          </a:p>
          <a:p>
            <a:endParaRPr lang="zh-CN" altLang="en-US"/>
          </a:p>
          <a:p>
            <a:r>
              <a:rPr lang="zh-CN" altLang="en-US"/>
              <a:t>而其意义如下：</a:t>
            </a:r>
            <a:endParaRPr lang="zh-CN" altLang="en-US"/>
          </a:p>
          <a:p>
            <a:endParaRPr lang="zh-CN" altLang="en-US"/>
          </a:p>
        </p:txBody>
      </p:sp>
      <p:pic>
        <p:nvPicPr>
          <p:cNvPr id="4" name="图片 3"/>
          <p:cNvPicPr>
            <a:picLocks noChangeAspect="1"/>
          </p:cNvPicPr>
          <p:nvPr/>
        </p:nvPicPr>
        <p:blipFill>
          <a:blip r:embed="rId1"/>
          <a:stretch>
            <a:fillRect/>
          </a:stretch>
        </p:blipFill>
        <p:spPr>
          <a:xfrm>
            <a:off x="1244600" y="2385060"/>
            <a:ext cx="3315335" cy="1082675"/>
          </a:xfrm>
          <a:prstGeom prst="rect">
            <a:avLst/>
          </a:prstGeom>
        </p:spPr>
      </p:pic>
      <p:pic>
        <p:nvPicPr>
          <p:cNvPr id="5" name="图片 4"/>
          <p:cNvPicPr>
            <a:picLocks noChangeAspect="1"/>
          </p:cNvPicPr>
          <p:nvPr/>
        </p:nvPicPr>
        <p:blipFill>
          <a:blip r:embed="rId2"/>
          <a:stretch>
            <a:fillRect/>
          </a:stretch>
        </p:blipFill>
        <p:spPr>
          <a:xfrm>
            <a:off x="1315720" y="4365625"/>
            <a:ext cx="2642870" cy="9232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现在我们前进到位置2(</a:t>
            </a:r>
            <a:r>
              <a:rPr lang="en-US" altLang="zh-CN"/>
              <a:t>'</a:t>
            </a:r>
            <a:r>
              <a:rPr lang="zh-CN" altLang="en-US"/>
              <a:t>b</a:t>
            </a:r>
            <a:r>
              <a:rPr lang="en-US" altLang="zh-CN"/>
              <a:t>'</a:t>
            </a:r>
            <a:r>
              <a:rPr lang="zh-CN" altLang="en-US"/>
              <a:t>的右边）。 我们每个步骤的目标是插入至当前位置的所有后缀。</a:t>
            </a:r>
            <a:endParaRPr lang="zh-CN" altLang="en-US"/>
          </a:p>
          <a:p>
            <a:r>
              <a:rPr lang="zh-CN" altLang="en-US"/>
              <a:t>我们通过以下动作完成目标：</a:t>
            </a:r>
            <a:endParaRPr lang="zh-CN" altLang="en-US"/>
          </a:p>
          <a:p>
            <a:endParaRPr lang="zh-CN" altLang="en-US"/>
          </a:p>
          <a:p>
            <a:r>
              <a:rPr lang="zh-CN" altLang="en-US"/>
              <a:t>     扩展已存在边</a:t>
            </a:r>
            <a:r>
              <a:rPr lang="en-US" altLang="zh-CN"/>
              <a:t>'</a:t>
            </a:r>
            <a:r>
              <a:rPr lang="zh-CN" altLang="en-US"/>
              <a:t>a</a:t>
            </a:r>
            <a:r>
              <a:rPr lang="en-US" altLang="zh-CN"/>
              <a:t>'</a:t>
            </a:r>
            <a:r>
              <a:rPr lang="zh-CN" altLang="en-US"/>
              <a:t>为</a:t>
            </a:r>
            <a:r>
              <a:rPr lang="en-US" altLang="zh-CN"/>
              <a:t>'</a:t>
            </a:r>
            <a:r>
              <a:rPr lang="zh-CN" altLang="en-US"/>
              <a:t>ab</a:t>
            </a:r>
            <a:r>
              <a:rPr lang="en-US" altLang="zh-CN"/>
              <a:t>'</a:t>
            </a:r>
            <a:endParaRPr lang="en-US" altLang="zh-CN"/>
          </a:p>
          <a:p>
            <a:r>
              <a:rPr lang="zh-CN" altLang="en-US"/>
              <a:t>     插入一条新边</a:t>
            </a:r>
            <a:r>
              <a:rPr lang="en-US" altLang="zh-CN"/>
              <a:t>'</a:t>
            </a:r>
            <a:r>
              <a:rPr lang="zh-CN" altLang="en-US"/>
              <a:t>b</a:t>
            </a:r>
            <a:r>
              <a:rPr lang="en-US" altLang="zh-CN"/>
              <a:t>'</a:t>
            </a:r>
            <a:endParaRPr lang="en-US" altLang="zh-CN"/>
          </a:p>
          <a:p>
            <a:endParaRPr lang="zh-CN" altLang="en-US"/>
          </a:p>
          <a:p>
            <a:r>
              <a:rPr lang="zh-CN" altLang="en-US"/>
              <a:t>它看起来如下： </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p:cNvPicPr>
            <a:picLocks noChangeAspect="1"/>
          </p:cNvPicPr>
          <p:nvPr>
            <p:ph idx="1"/>
          </p:nvPr>
        </p:nvPicPr>
        <p:blipFill>
          <a:blip r:embed="rId1"/>
          <a:stretch>
            <a:fillRect/>
          </a:stretch>
        </p:blipFill>
        <p:spPr>
          <a:xfrm>
            <a:off x="706120" y="542290"/>
            <a:ext cx="3617595" cy="2292350"/>
          </a:xfrm>
          <a:prstGeom prst="rect">
            <a:avLst/>
          </a:prstGeom>
        </p:spPr>
      </p:pic>
      <p:sp>
        <p:nvSpPr>
          <p:cNvPr id="5" name="文本框 4"/>
          <p:cNvSpPr txBox="1"/>
          <p:nvPr/>
        </p:nvSpPr>
        <p:spPr>
          <a:xfrm>
            <a:off x="890270" y="3032125"/>
            <a:ext cx="4314190" cy="518160"/>
          </a:xfrm>
          <a:prstGeom prst="rect">
            <a:avLst/>
          </a:prstGeom>
          <a:noFill/>
        </p:spPr>
        <p:txBody>
          <a:bodyPr wrap="square" rtlCol="0">
            <a:spAutoFit/>
          </a:bodyPr>
          <a:p>
            <a:r>
              <a:rPr lang="zh-CN" altLang="en-US" sz="2800"/>
              <a:t>而其意义如下：</a:t>
            </a:r>
            <a:r>
              <a:rPr lang="zh-CN" altLang="en-US"/>
              <a:t> </a:t>
            </a:r>
            <a:endParaRPr lang="zh-CN" altLang="en-US"/>
          </a:p>
        </p:txBody>
      </p:sp>
      <p:pic>
        <p:nvPicPr>
          <p:cNvPr id="6" name="图片 5"/>
          <p:cNvPicPr>
            <a:picLocks noChangeAspect="1"/>
          </p:cNvPicPr>
          <p:nvPr/>
        </p:nvPicPr>
        <p:blipFill>
          <a:blip r:embed="rId2"/>
          <a:stretch>
            <a:fillRect/>
          </a:stretch>
        </p:blipFill>
        <p:spPr>
          <a:xfrm>
            <a:off x="1009650" y="3736340"/>
            <a:ext cx="3386455" cy="2424430"/>
          </a:xfrm>
          <a:prstGeom prst="rect">
            <a:avLst/>
          </a:prstGeom>
        </p:spPr>
      </p:pic>
      <p:sp>
        <p:nvSpPr>
          <p:cNvPr id="7" name="文本框 6"/>
          <p:cNvSpPr txBox="1"/>
          <p:nvPr/>
        </p:nvSpPr>
        <p:spPr>
          <a:xfrm>
            <a:off x="5274945" y="939165"/>
            <a:ext cx="5996940" cy="4358640"/>
          </a:xfrm>
          <a:prstGeom prst="rect">
            <a:avLst/>
          </a:prstGeom>
          <a:noFill/>
        </p:spPr>
        <p:txBody>
          <a:bodyPr wrap="square" rtlCol="0">
            <a:spAutoFit/>
          </a:bodyPr>
          <a:p>
            <a:pPr indent="0">
              <a:buNone/>
            </a:pPr>
            <a:r>
              <a:rPr lang="zh-CN" altLang="en-US" sz="2800"/>
              <a:t>我们看到了两点：</a:t>
            </a:r>
            <a:endParaRPr lang="zh-CN" altLang="en-US" sz="2800"/>
          </a:p>
          <a:p>
            <a:pPr marL="457200" indent="-457200">
              <a:buFont typeface="Arial" panose="020B0604020202020204" pitchFamily="34" charset="0"/>
              <a:buChar char="•"/>
            </a:pPr>
            <a:endParaRPr lang="zh-CN" altLang="en-US" sz="2800"/>
          </a:p>
          <a:p>
            <a:pPr marL="457200" indent="-457200">
              <a:buFont typeface="Arial" panose="020B0604020202020204" pitchFamily="34" charset="0"/>
              <a:buChar char="•"/>
            </a:pPr>
            <a:r>
              <a:rPr lang="en-US" altLang="zh-CN" sz="2800"/>
              <a:t>'</a:t>
            </a:r>
            <a:r>
              <a:rPr lang="zh-CN" altLang="en-US" sz="2800"/>
              <a:t>ab</a:t>
            </a:r>
            <a:r>
              <a:rPr lang="en-US" altLang="zh-CN" sz="2800"/>
              <a:t>'</a:t>
            </a:r>
            <a:r>
              <a:rPr lang="zh-CN" altLang="en-US" sz="2800"/>
              <a:t>边的图示与它在起始树:[0,#]边的图示是相同的。它的意义却已经自动更改了，因为我们把当前的位置#从1更改到2。</a:t>
            </a:r>
            <a:r>
              <a:rPr lang="en-US" altLang="zh-CN" sz="2800"/>
              <a:t>(</a:t>
            </a:r>
            <a:r>
              <a:rPr lang="zh-CN" altLang="en-US" sz="2800"/>
              <a:t>巧妙地偷懒</a:t>
            </a:r>
            <a:r>
              <a:rPr lang="en-US" altLang="zh-CN" sz="2800"/>
              <a:t>~)</a:t>
            </a:r>
            <a:endParaRPr lang="en-US" altLang="zh-CN" sz="2800"/>
          </a:p>
          <a:p>
            <a:pPr marL="457200" indent="-457200">
              <a:buFont typeface="Arial" panose="020B0604020202020204" pitchFamily="34" charset="0"/>
              <a:buChar char="•"/>
            </a:pPr>
            <a:endParaRPr lang="zh-CN" altLang="en-US" sz="2800"/>
          </a:p>
          <a:p>
            <a:pPr marL="457200" indent="-457200">
              <a:buFont typeface="Arial" panose="020B0604020202020204" pitchFamily="34" charset="0"/>
              <a:buChar char="•"/>
            </a:pPr>
            <a:r>
              <a:rPr lang="zh-CN" altLang="en-US" sz="2800"/>
              <a:t>每条边使用的空间复杂度为O(1),因为无论边代表多少个字符 ，它都是由指向文本里的两个指针组成。</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 calcmode="lin" valueType="num">
                                      <p:cBhvr additive="base">
                                        <p:cTn id="1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 calcmode="lin" valueType="num">
                                      <p:cBhvr additive="base">
                                        <p:cTn id="2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 calcmode="lin" valueType="num">
                                      <p:cBhvr additive="base">
                                        <p:cTn id="2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25145"/>
            <a:ext cx="10515600" cy="5652135"/>
          </a:xfrm>
        </p:spPr>
        <p:txBody>
          <a:bodyPr/>
          <a:p>
            <a:r>
              <a:rPr lang="zh-CN" altLang="en-US"/>
              <a:t>接着我们再次增加位置，并且修改树：给每个已经存在的边增加</a:t>
            </a:r>
            <a:r>
              <a:rPr lang="en-US" altLang="zh-CN"/>
              <a:t>'</a:t>
            </a:r>
            <a:r>
              <a:rPr lang="zh-CN" altLang="en-US"/>
              <a:t>c</a:t>
            </a:r>
            <a:r>
              <a:rPr lang="en-US" altLang="zh-CN"/>
              <a:t>'</a:t>
            </a:r>
            <a:r>
              <a:rPr lang="zh-CN" altLang="en-US"/>
              <a:t>，插入一条表示新后缀</a:t>
            </a:r>
            <a:r>
              <a:rPr lang="en-US" altLang="zh-CN"/>
              <a:t>'</a:t>
            </a:r>
            <a:r>
              <a:rPr lang="zh-CN" altLang="en-US"/>
              <a:t>c</a:t>
            </a:r>
            <a:r>
              <a:rPr lang="en-US" altLang="zh-CN"/>
              <a:t>'</a:t>
            </a:r>
            <a:r>
              <a:rPr lang="zh-CN" altLang="en-US"/>
              <a:t>的边。</a:t>
            </a:r>
            <a:endParaRPr lang="zh-CN" altLang="en-US"/>
          </a:p>
          <a:p>
            <a:r>
              <a:rPr lang="zh-CN" altLang="en-US"/>
              <a:t>在我们的图示里，它看起来如下：</a:t>
            </a:r>
            <a:endParaRPr lang="zh-CN" altLang="en-US"/>
          </a:p>
          <a:p>
            <a:endParaRPr lang="zh-CN" altLang="en-US"/>
          </a:p>
          <a:p>
            <a:endParaRPr lang="zh-CN" altLang="en-US"/>
          </a:p>
          <a:p>
            <a:endParaRPr lang="zh-CN" altLang="en-US"/>
          </a:p>
          <a:p>
            <a:endParaRPr lang="zh-CN" altLang="en-US"/>
          </a:p>
          <a:p>
            <a:endParaRPr lang="zh-CN" altLang="en-US"/>
          </a:p>
          <a:p>
            <a:r>
              <a:rPr lang="zh-CN" altLang="en-US"/>
              <a:t>而其意义如右： </a:t>
            </a:r>
            <a:endParaRPr lang="zh-CN" altLang="en-US"/>
          </a:p>
        </p:txBody>
      </p:sp>
      <p:pic>
        <p:nvPicPr>
          <p:cNvPr id="4" name="图片 3"/>
          <p:cNvPicPr>
            <a:picLocks noChangeAspect="1"/>
          </p:cNvPicPr>
          <p:nvPr/>
        </p:nvPicPr>
        <p:blipFill>
          <a:blip r:embed="rId1"/>
          <a:stretch>
            <a:fillRect/>
          </a:stretch>
        </p:blipFill>
        <p:spPr>
          <a:xfrm>
            <a:off x="1229995" y="2014220"/>
            <a:ext cx="2404110" cy="2475865"/>
          </a:xfrm>
          <a:prstGeom prst="rect">
            <a:avLst/>
          </a:prstGeom>
        </p:spPr>
      </p:pic>
      <p:pic>
        <p:nvPicPr>
          <p:cNvPr id="5" name="图片 4"/>
          <p:cNvPicPr>
            <a:picLocks noChangeAspect="1"/>
          </p:cNvPicPr>
          <p:nvPr/>
        </p:nvPicPr>
        <p:blipFill>
          <a:blip r:embed="rId2"/>
          <a:stretch>
            <a:fillRect/>
          </a:stretch>
        </p:blipFill>
        <p:spPr>
          <a:xfrm>
            <a:off x="4917440" y="1985645"/>
            <a:ext cx="2331085" cy="25253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52170" y="709295"/>
            <a:ext cx="10840720" cy="5467985"/>
          </a:xfrm>
        </p:spPr>
        <p:txBody>
          <a:bodyPr>
            <a:normAutofit lnSpcReduction="10000"/>
          </a:bodyPr>
          <a:p>
            <a:r>
              <a:rPr lang="zh-CN" altLang="en-US"/>
              <a:t>我们看到：</a:t>
            </a:r>
            <a:endParaRPr lang="zh-CN" altLang="en-US"/>
          </a:p>
          <a:p>
            <a:endParaRPr lang="zh-CN" altLang="en-US"/>
          </a:p>
          <a:p>
            <a:r>
              <a:rPr lang="zh-CN" altLang="en-US"/>
              <a:t>   这棵树是经过上面的每个步骤后至当前位置的正确的后缀树。</a:t>
            </a:r>
            <a:endParaRPr lang="zh-CN" altLang="en-US"/>
          </a:p>
          <a:p>
            <a:endParaRPr lang="zh-CN" altLang="en-US"/>
          </a:p>
          <a:p>
            <a:pPr marL="457200" indent="-457200"/>
            <a:r>
              <a:rPr lang="zh-CN" altLang="en-US"/>
              <a:t>步骤数目与文本中包含的字符一样多。</a:t>
            </a:r>
            <a:endParaRPr lang="zh-CN" altLang="en-US"/>
          </a:p>
          <a:p>
            <a:endParaRPr lang="zh-CN" altLang="en-US"/>
          </a:p>
          <a:p>
            <a:r>
              <a:rPr lang="zh-CN" altLang="en-US"/>
              <a:t>   每个步骤的工作量是O(1)，因为所有已经存在的边都是增加#来自动更改的，而且为最后一个字符插入一条新边的时间复杂度为  O(1)。因此对一个长度为n的字符串来说，只需要O(n)时间复杂度。</a:t>
            </a:r>
            <a:endParaRPr lang="zh-CN" altLang="en-US"/>
          </a:p>
          <a:p>
            <a:endParaRPr lang="zh-CN" altLang="en-US"/>
          </a:p>
          <a:p>
            <a:r>
              <a:rPr lang="zh-CN" altLang="en-US"/>
              <a:t>这就完了？？？</a:t>
            </a:r>
            <a:r>
              <a:rPr lang="zh-CN" altLang="en-US" b="1"/>
              <a:t>怎么可能</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95655" y="336550"/>
            <a:ext cx="10515600" cy="1325563"/>
          </a:xfrm>
        </p:spPr>
        <p:txBody>
          <a:bodyPr/>
          <a:p>
            <a:pPr algn="ctr"/>
            <a:r>
              <a:rPr lang="zh-CN" altLang="en-US">
                <a:ln w="22225">
                  <a:solidFill>
                    <a:schemeClr val="accent2"/>
                  </a:solidFill>
                  <a:prstDash val="solid"/>
                </a:ln>
                <a:solidFill>
                  <a:srgbClr val="FF0000"/>
                </a:solidFill>
                <a:effectLst>
                  <a:glow rad="228600">
                    <a:schemeClr val="accent2">
                      <a:satMod val="175000"/>
                      <a:alpha val="40000"/>
                    </a:schemeClr>
                  </a:glow>
                </a:effectLst>
              </a:rPr>
              <a:t>正文警告</a:t>
            </a:r>
            <a:r>
              <a:rPr lang="en-US" altLang="zh-CN">
                <a:ln w="22225">
                  <a:solidFill>
                    <a:schemeClr val="accent2"/>
                  </a:solidFill>
                  <a:prstDash val="solid"/>
                </a:ln>
                <a:solidFill>
                  <a:srgbClr val="FF0000"/>
                </a:solidFill>
                <a:effectLst>
                  <a:glow rad="228600">
                    <a:schemeClr val="accent2">
                      <a:satMod val="175000"/>
                      <a:alpha val="40000"/>
                    </a:schemeClr>
                  </a:glow>
                </a:effectLst>
              </a:rPr>
              <a:t>-</a:t>
            </a:r>
            <a:r>
              <a:rPr lang="zh-CN" altLang="en-US">
                <a:ln w="22225">
                  <a:solidFill>
                    <a:schemeClr val="accent2"/>
                  </a:solidFill>
                  <a:prstDash val="solid"/>
                </a:ln>
                <a:solidFill>
                  <a:srgbClr val="FF0000"/>
                </a:solidFill>
                <a:effectLst>
                  <a:glow rad="228600">
                    <a:schemeClr val="accent2">
                      <a:satMod val="175000"/>
                      <a:alpha val="40000"/>
                    </a:schemeClr>
                  </a:glow>
                </a:effectLst>
              </a:rPr>
              <a:t>前方高能</a:t>
            </a:r>
            <a:endParaRPr lang="zh-CN" altLang="en-US">
              <a:ln w="22225">
                <a:solidFill>
                  <a:schemeClr val="accent2"/>
                </a:solidFill>
                <a:prstDash val="solid"/>
              </a:ln>
              <a:solidFill>
                <a:srgbClr val="FF0000"/>
              </a:solidFill>
              <a:effectLst>
                <a:glow rad="228600">
                  <a:schemeClr val="accent2">
                    <a:satMod val="175000"/>
                    <a:alpha val="40000"/>
                  </a:schemeClr>
                </a:glow>
              </a:effectLst>
            </a:endParaRPr>
          </a:p>
        </p:txBody>
      </p:sp>
      <p:pic>
        <p:nvPicPr>
          <p:cNvPr id="6" name="图片 5" descr="stg6enm1"/>
          <p:cNvPicPr>
            <a:picLocks noChangeAspect="1"/>
          </p:cNvPicPr>
          <p:nvPr/>
        </p:nvPicPr>
        <p:blipFill>
          <a:blip r:embed="rId1"/>
          <a:stretch>
            <a:fillRect/>
          </a:stretch>
        </p:blipFill>
        <p:spPr>
          <a:xfrm>
            <a:off x="4646295" y="1727200"/>
            <a:ext cx="2805430" cy="2533015"/>
          </a:xfrm>
          <a:prstGeom prst="rect">
            <a:avLst/>
          </a:prstGeom>
        </p:spPr>
      </p:pic>
      <p:pic>
        <p:nvPicPr>
          <p:cNvPr id="7" name="图片 6" descr="stg6enm2"/>
          <p:cNvPicPr>
            <a:picLocks noChangeAspect="1"/>
          </p:cNvPicPr>
          <p:nvPr/>
        </p:nvPicPr>
        <p:blipFill>
          <a:blip r:embed="rId2"/>
          <a:stretch>
            <a:fillRect/>
          </a:stretch>
        </p:blipFill>
        <p:spPr>
          <a:xfrm>
            <a:off x="2212975" y="4284345"/>
            <a:ext cx="8087995" cy="15417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67690"/>
            <a:ext cx="10515600" cy="5609590"/>
          </a:xfrm>
        </p:spPr>
        <p:txBody>
          <a:bodyPr/>
          <a:p>
            <a:r>
              <a:t> 当然，后缀树表</a:t>
            </a:r>
            <a:r>
              <a:rPr lang="zh-CN"/>
              <a:t>现得</a:t>
            </a:r>
            <a:r>
              <a:t>如此</a:t>
            </a:r>
            <a:r>
              <a:rPr lang="zh-CN"/>
              <a:t>友</a:t>
            </a:r>
            <a:r>
              <a:t>好只是因为我们的字符串没有任何重复</a:t>
            </a:r>
            <a:r>
              <a:rPr lang="zh-CN"/>
              <a:t>部分</a:t>
            </a:r>
            <a:r>
              <a:t>。现在我们看一个更</a:t>
            </a:r>
            <a:r>
              <a:rPr lang="zh-CN"/>
              <a:t>接近现</a:t>
            </a:r>
            <a:r>
              <a:t>实的字符串：</a:t>
            </a:r>
          </a:p>
          <a:p/>
          <a:p>
            <a:r>
              <a:t>abcabxabcd</a:t>
            </a:r>
          </a:p>
          <a:p/>
          <a:p>
            <a:r>
              <a:t>这个字符串像前面例子里一样是abc开始的，接着重复ab ，紧跟着x，再接着重复abc，紧跟着d。 </a:t>
            </a:r>
          </a:p>
          <a:p/>
          <a:p>
            <a:r>
              <a:rPr lang="zh-CN"/>
              <a:t>这就有意思了</a:t>
            </a:r>
            <a:r>
              <a:rPr lang="en-US" altLang="zh-CN"/>
              <a:t>~</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96265"/>
            <a:ext cx="10515600" cy="5581015"/>
          </a:xfrm>
        </p:spPr>
        <p:txBody>
          <a:bodyPr/>
          <a:p>
            <a:r>
              <a:t>步骤1到3：经过了前三个步骤后，我们拥有了前面例子的那棵树：</a:t>
            </a:r>
          </a:p>
          <a:p/>
          <a:p>
            <a:r>
              <a:rPr lang="zh-CN"/>
              <a:t>目前为止它还是如此的单纯。。。</a:t>
            </a:r>
            <a:r>
              <a:t> </a:t>
            </a:r>
          </a:p>
        </p:txBody>
      </p:sp>
      <p:pic>
        <p:nvPicPr>
          <p:cNvPr id="4" name="图片 3"/>
          <p:cNvPicPr>
            <a:picLocks noChangeAspect="1"/>
          </p:cNvPicPr>
          <p:nvPr/>
        </p:nvPicPr>
        <p:blipFill>
          <a:blip r:embed="rId1"/>
          <a:stretch>
            <a:fillRect/>
          </a:stretch>
        </p:blipFill>
        <p:spPr>
          <a:xfrm>
            <a:off x="1169670" y="2056765"/>
            <a:ext cx="3176905" cy="3441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60070"/>
            <a:ext cx="10515600" cy="5617210"/>
          </a:xfrm>
        </p:spPr>
        <p:txBody>
          <a:bodyPr/>
          <a:p>
            <a:r>
              <a:t>步骤4：我们移动#到位置4。这隐含地更改所有已经存在的边为如下： </a:t>
            </a:r>
          </a:p>
        </p:txBody>
      </p:sp>
      <p:pic>
        <p:nvPicPr>
          <p:cNvPr id="4" name="图片 3"/>
          <p:cNvPicPr>
            <a:picLocks noChangeAspect="1"/>
          </p:cNvPicPr>
          <p:nvPr/>
        </p:nvPicPr>
        <p:blipFill>
          <a:blip r:embed="rId1"/>
          <a:stretch>
            <a:fillRect/>
          </a:stretch>
        </p:blipFill>
        <p:spPr>
          <a:xfrm>
            <a:off x="1264920" y="1833245"/>
            <a:ext cx="3295015" cy="3654425"/>
          </a:xfrm>
          <a:prstGeom prst="rect">
            <a:avLst/>
          </a:prstGeom>
        </p:spPr>
      </p:pic>
      <p:sp>
        <p:nvSpPr>
          <p:cNvPr id="5" name="文本框 4"/>
          <p:cNvSpPr txBox="1"/>
          <p:nvPr/>
        </p:nvSpPr>
        <p:spPr>
          <a:xfrm>
            <a:off x="6225540" y="1564005"/>
            <a:ext cx="4587240" cy="2651760"/>
          </a:xfrm>
          <a:prstGeom prst="rect">
            <a:avLst/>
          </a:prstGeom>
          <a:noFill/>
        </p:spPr>
        <p:txBody>
          <a:bodyPr wrap="square" rtlCol="0">
            <a:spAutoFit/>
          </a:bodyPr>
          <a:p>
            <a:r>
              <a:rPr sz="2800"/>
              <a:t>而且</a:t>
            </a:r>
            <a:r>
              <a:rPr lang="zh-CN" sz="2800"/>
              <a:t>按照</a:t>
            </a:r>
            <a:r>
              <a:rPr sz="2800"/>
              <a:t>我们需要在根节点插入当前步骤的最末的后缀</a:t>
            </a:r>
            <a:r>
              <a:rPr lang="en-US" sz="2800"/>
              <a:t>'</a:t>
            </a:r>
            <a:r>
              <a:rPr sz="2800"/>
              <a:t>a</a:t>
            </a:r>
            <a:r>
              <a:rPr lang="en-US" sz="2800"/>
              <a:t>'</a:t>
            </a:r>
            <a:r>
              <a:rPr sz="2800"/>
              <a:t>。 </a:t>
            </a:r>
            <a:endParaRPr sz="2800"/>
          </a:p>
          <a:p>
            <a:endParaRPr lang="en-US" altLang="zh-CN" sz="2800"/>
          </a:p>
          <a:p>
            <a:r>
              <a:rPr lang="zh-CN" altLang="en-US" sz="2800"/>
              <a:t>然而。。。我们要开始愉悦地搞事情。。。</a:t>
            </a:r>
            <a:endParaRPr lang="zh-CN" altLang="en-US"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267335"/>
            <a:ext cx="10515600" cy="5909945"/>
          </a:xfrm>
        </p:spPr>
        <p:txBody>
          <a:bodyPr>
            <a:normAutofit lnSpcReduction="10000"/>
          </a:bodyPr>
          <a:p>
            <a:endParaRPr lang="zh-CN" altLang="en-US"/>
          </a:p>
          <a:p>
            <a:endParaRPr lang="zh-CN" altLang="en-US"/>
          </a:p>
          <a:p>
            <a:r>
              <a:rPr lang="zh-CN" altLang="en-US"/>
              <a:t>在我们开始搞事情之前，我们引入除</a:t>
            </a:r>
            <a:r>
              <a:rPr lang="en-US" altLang="zh-CN"/>
              <a:t>'</a:t>
            </a:r>
            <a:r>
              <a:rPr lang="zh-CN" altLang="en-US"/>
              <a:t>#</a:t>
            </a:r>
            <a:r>
              <a:rPr lang="en-US" altLang="zh-CN"/>
              <a:t>'</a:t>
            </a:r>
            <a:r>
              <a:rPr lang="zh-CN" altLang="en-US"/>
              <a:t>之外的 两个或变量，当然这些变量一直都存在，只是我们迄今为止没有使用它们：</a:t>
            </a:r>
            <a:endParaRPr lang="zh-CN" altLang="en-US"/>
          </a:p>
          <a:p>
            <a:endParaRPr lang="zh-CN" altLang="en-US"/>
          </a:p>
          <a:p>
            <a:r>
              <a:rPr lang="zh-CN" altLang="en-US"/>
              <a:t>活动点：由</a:t>
            </a:r>
            <a:r>
              <a:rPr lang="en-US" altLang="zh-CN"/>
              <a:t>3</a:t>
            </a:r>
            <a:r>
              <a:rPr lang="zh-CN" altLang="en-US"/>
              <a:t>个变量组成（活动节点，活动边，活动长度）</a:t>
            </a:r>
            <a:endParaRPr lang="zh-CN" altLang="en-US"/>
          </a:p>
          <a:p>
            <a:r>
              <a:rPr lang="zh-CN" altLang="en-US">
                <a:sym typeface="+mn-ea"/>
              </a:rPr>
              <a:t>剩余后缀数</a:t>
            </a:r>
            <a:r>
              <a:rPr lang="en-US" altLang="zh-CN"/>
              <a:t>(</a:t>
            </a:r>
            <a:r>
              <a:rPr lang="zh-CN" altLang="en-US">
                <a:sym typeface="+mn-ea"/>
              </a:rPr>
              <a:t>未插入的后缀数</a:t>
            </a:r>
            <a:r>
              <a:rPr lang="en-US" altLang="zh-CN"/>
              <a:t>)</a:t>
            </a:r>
            <a:r>
              <a:rPr lang="zh-CN" altLang="en-US"/>
              <a:t>：从前几步遗留下来未插入的后缀的数量</a:t>
            </a:r>
            <a:endParaRPr lang="zh-CN" altLang="en-US"/>
          </a:p>
        </p:txBody>
      </p:sp>
      <p:pic>
        <p:nvPicPr>
          <p:cNvPr id="4" name="图片 3"/>
          <p:cNvPicPr>
            <a:picLocks noChangeAspect="1"/>
          </p:cNvPicPr>
          <p:nvPr/>
        </p:nvPicPr>
        <p:blipFill>
          <a:blip r:embed="rId1"/>
          <a:stretch>
            <a:fillRect/>
          </a:stretch>
        </p:blipFill>
        <p:spPr>
          <a:xfrm>
            <a:off x="8814435" y="3361055"/>
            <a:ext cx="3274060" cy="2743835"/>
          </a:xfrm>
          <a:prstGeom prst="rect">
            <a:avLst/>
          </a:prstGeom>
        </p:spPr>
      </p:pic>
      <p:sp>
        <p:nvSpPr>
          <p:cNvPr id="5" name="矩形 4"/>
          <p:cNvSpPr/>
          <p:nvPr/>
        </p:nvSpPr>
        <p:spPr>
          <a:xfrm>
            <a:off x="506730" y="4105910"/>
            <a:ext cx="8412480" cy="914400"/>
          </a:xfrm>
          <a:prstGeom prst="rect">
            <a:avLst/>
          </a:prstGeom>
          <a:noFill/>
          <a:ln>
            <a:noFill/>
          </a:ln>
        </p:spPr>
        <p:txBody>
          <a:bodyPr wrap="none" rtlCol="0" anchor="t">
            <a:spAutoFit/>
          </a:bodyPr>
          <a:p>
            <a:pPr algn="ctr"/>
            <a:r>
              <a:rPr lang="zh-CN" altLang="en-US" sz="5400">
                <a:ln w="22225">
                  <a:solidFill>
                    <a:schemeClr val="accent2"/>
                  </a:solidFill>
                  <a:prstDash val="solid"/>
                </a:ln>
                <a:solidFill>
                  <a:schemeClr val="accent2">
                    <a:lumMod val="40000"/>
                    <a:lumOff val="60000"/>
                  </a:schemeClr>
                </a:solidFill>
                <a:effectLst/>
              </a:rPr>
              <a:t>我想你们现在一定是这样的</a:t>
            </a:r>
            <a:endParaRPr lang="zh-CN" altLang="en-US" sz="5400">
              <a:ln w="22225">
                <a:solidFill>
                  <a:schemeClr val="accent2"/>
                </a:solidFill>
                <a:prstDash val="solid"/>
              </a:ln>
              <a:solidFill>
                <a:schemeClr val="accent2">
                  <a:lumMod val="40000"/>
                  <a:lumOff val="60000"/>
                </a:schemeClr>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22935"/>
            <a:ext cx="10515600" cy="5979160"/>
          </a:xfrm>
        </p:spPr>
        <p:txBody>
          <a:bodyPr>
            <a:normAutofit/>
          </a:bodyPr>
          <a:p>
            <a:r>
              <a:rPr lang="zh-CN" altLang="en-US"/>
              <a:t>这两个东西的意思我越说你们只会越懵逼，看例子你们才有懂的可能。。。现在我们先就这样说：</a:t>
            </a:r>
            <a:endParaRPr lang="zh-CN" altLang="en-US"/>
          </a:p>
          <a:p>
            <a:endParaRPr lang="zh-CN" altLang="en-US"/>
          </a:p>
          <a:p>
            <a:r>
              <a:rPr lang="zh-CN" altLang="en-US">
                <a:sym typeface="+mn-ea"/>
              </a:rPr>
              <a:t>在简单的</a:t>
            </a:r>
            <a:r>
              <a:rPr lang="en-US" altLang="zh-CN">
                <a:sym typeface="+mn-ea"/>
              </a:rPr>
              <a:t>'</a:t>
            </a:r>
            <a:r>
              <a:rPr lang="zh-CN" altLang="en-US">
                <a:sym typeface="+mn-ea"/>
              </a:rPr>
              <a:t>ab</a:t>
            </a:r>
            <a:r>
              <a:rPr lang="en-US" altLang="zh-CN">
                <a:sym typeface="+mn-ea"/>
              </a:rPr>
              <a:t>c'</a:t>
            </a:r>
            <a:r>
              <a:rPr lang="zh-CN" altLang="en-US">
                <a:sym typeface="+mn-ea"/>
              </a:rPr>
              <a:t>例子里，活动点总是(root,'0x',0),也就是说，活动节点是根节点，活动边是由</a:t>
            </a:r>
            <a:r>
              <a:rPr lang="en-US" altLang="zh-CN">
                <a:sym typeface="+mn-ea"/>
              </a:rPr>
              <a:t>NULL</a:t>
            </a:r>
            <a:r>
              <a:rPr lang="zh-CN" altLang="en-US">
                <a:sym typeface="+mn-ea"/>
              </a:rPr>
              <a:t>字符'0x'指定的边，活动长度是0。这么做的结果是我们在每一步骤里插入的一条新边是作为新创建的边插入到根节点。不久我们就会明白为什么需要表示这条信息。 </a:t>
            </a:r>
            <a:endParaRPr lang="zh-CN" altLang="en-US"/>
          </a:p>
          <a:p>
            <a:r>
              <a:rPr lang="zh-CN" altLang="en-US">
                <a:sym typeface="+mn-ea"/>
              </a:rPr>
              <a:t>在每个步骤开始时未插入的后缀数总是设置为1。它的意义是我们主动插入到每一步骤末尾的后缀数目是1（总是最后一个字符）。</a:t>
            </a:r>
            <a:endParaRPr lang="zh-CN" altLang="en-US"/>
          </a:p>
          <a:p>
            <a:endParaRPr lang="zh-CN" altLang="en-US"/>
          </a:p>
          <a:p>
            <a:r>
              <a:rPr lang="zh-CN" altLang="en-US">
                <a:sym typeface="+mn-ea"/>
              </a:rPr>
              <a:t>所以这还只是开始？？</a:t>
            </a:r>
            <a:endParaRPr lang="zh-CN" altLang="en-US"/>
          </a:p>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80720"/>
            <a:ext cx="10515600" cy="5496560"/>
          </a:xfrm>
        </p:spPr>
        <p:txBody>
          <a:bodyPr>
            <a:normAutofit lnSpcReduction="20000"/>
          </a:bodyPr>
          <a:p>
            <a:r>
              <a:rPr lang="zh-CN" altLang="en-US" sz="2400"/>
              <a:t>现在这两个值将有变化了，当我们给根节点插入当前最后一个字符a的时候，我们注意到已经存在一条以a开始的边：</a:t>
            </a:r>
            <a:r>
              <a:rPr lang="en-US" altLang="zh-CN" sz="2400"/>
              <a:t>'</a:t>
            </a:r>
            <a:r>
              <a:rPr lang="zh-CN" altLang="en-US" sz="2400"/>
              <a:t>abca</a:t>
            </a:r>
            <a:r>
              <a:rPr lang="en-US" altLang="zh-CN" sz="2400"/>
              <a:t>'</a:t>
            </a:r>
            <a:r>
              <a:rPr lang="zh-CN" altLang="en-US" sz="2400"/>
              <a:t>。在这种情况下我们做如下工作：</a:t>
            </a:r>
            <a:endParaRPr lang="zh-CN" altLang="en-US" sz="2400"/>
          </a:p>
          <a:p>
            <a:endParaRPr lang="zh-CN" altLang="en-US" sz="2400"/>
          </a:p>
          <a:p>
            <a:r>
              <a:rPr lang="zh-CN" altLang="en-US" sz="2400"/>
              <a:t>    我们</a:t>
            </a:r>
            <a:r>
              <a:rPr lang="zh-CN" altLang="en-US" sz="2400" b="1"/>
              <a:t>不向</a:t>
            </a:r>
            <a:r>
              <a:rPr lang="zh-CN" altLang="en-US" sz="2400"/>
              <a:t>根节点插入一条新边[4,#]。相反，我们注意到后缀a已经在我们的树里。它终止在一条已有的更长的边的中间位置，不过我们不能被这干扰，我们还是</a:t>
            </a:r>
            <a:r>
              <a:rPr lang="zh-CN" altLang="en-US" sz="2400" b="1"/>
              <a:t>保留它们原来的样子。</a:t>
            </a:r>
            <a:endParaRPr lang="zh-CN" altLang="en-US" sz="2400" b="1"/>
          </a:p>
          <a:p>
            <a:endParaRPr lang="zh-CN" altLang="en-US" sz="2400" b="1"/>
          </a:p>
          <a:p>
            <a:r>
              <a:rPr lang="zh-CN" altLang="en-US" sz="2400"/>
              <a:t>    我们设置活动点为(root,'a',1)。这意味着活动点现在是在根节点的</a:t>
            </a:r>
            <a:r>
              <a:rPr lang="zh-CN" altLang="en-US" sz="2400" b="1"/>
              <a:t>以</a:t>
            </a:r>
            <a:r>
              <a:rPr lang="en-US" altLang="zh-CN" sz="2400" b="1"/>
              <a:t>'</a:t>
            </a:r>
            <a:r>
              <a:rPr lang="zh-CN" altLang="en-US" sz="2400" b="1"/>
              <a:t>a</a:t>
            </a:r>
            <a:r>
              <a:rPr lang="en-US" altLang="zh-CN" sz="2400" b="1"/>
              <a:t>'</a:t>
            </a:r>
            <a:r>
              <a:rPr lang="zh-CN" altLang="en-US" sz="2400" b="1"/>
              <a:t>开始</a:t>
            </a:r>
            <a:r>
              <a:rPr lang="zh-CN" altLang="en-US" sz="2400"/>
              <a:t>的向外延伸的边的中间某个位置，并且具体地指</a:t>
            </a:r>
            <a:r>
              <a:rPr lang="zh-CN" altLang="en-US" sz="2400" b="1"/>
              <a:t>这条边的位置1</a:t>
            </a:r>
            <a:r>
              <a:rPr lang="en-US" altLang="zh-CN" sz="2400" b="1"/>
              <a:t>(</a:t>
            </a:r>
            <a:r>
              <a:rPr lang="zh-CN" altLang="en-US" sz="2400" b="1"/>
              <a:t>即</a:t>
            </a:r>
            <a:r>
              <a:rPr lang="en-US" altLang="zh-CN" sz="2400" b="1"/>
              <a:t>'a')</a:t>
            </a:r>
            <a:r>
              <a:rPr lang="zh-CN" altLang="en-US" sz="2400" b="1"/>
              <a:t>之后</a:t>
            </a:r>
            <a:r>
              <a:rPr lang="zh-CN" altLang="en-US" sz="2400"/>
              <a:t>。我们注意到这条边只是由它的首个字符</a:t>
            </a:r>
            <a:r>
              <a:rPr lang="en-US" altLang="zh-CN" sz="2400"/>
              <a:t>'</a:t>
            </a:r>
            <a:r>
              <a:rPr lang="zh-CN" altLang="en-US" sz="2400"/>
              <a:t>a</a:t>
            </a:r>
            <a:r>
              <a:rPr lang="en-US" altLang="zh-CN" sz="2400"/>
              <a:t>'</a:t>
            </a:r>
            <a:r>
              <a:rPr lang="zh-CN" altLang="en-US" sz="2400"/>
              <a:t>来声明的。这就足够了，因为以一个特定的字符开始的只有一条边（显然）。</a:t>
            </a:r>
            <a:endParaRPr lang="zh-CN" altLang="en-US" sz="2400"/>
          </a:p>
          <a:p>
            <a:endParaRPr lang="zh-CN" altLang="en-US" sz="2400"/>
          </a:p>
          <a:p>
            <a:r>
              <a:rPr lang="zh-CN" altLang="en-US" sz="2400"/>
              <a:t>    我们还增加了剩余后缀数， 那么在下一步骤开始的时候，剩余后缀数为2，</a:t>
            </a:r>
            <a:endParaRPr lang="zh-CN" altLang="en-US" sz="2400"/>
          </a:p>
          <a:p>
            <a:pPr marL="0" indent="0">
              <a:buNone/>
            </a:pPr>
            <a:r>
              <a:rPr lang="zh-CN" altLang="en-US" sz="2400"/>
              <a:t>因为我们</a:t>
            </a:r>
            <a:r>
              <a:rPr lang="zh-CN" altLang="en-US" sz="2400" b="1"/>
              <a:t>并没有加入当前步要加入的新边</a:t>
            </a:r>
            <a:endParaRPr lang="zh-CN" altLang="en-US" sz="2400" b="1"/>
          </a:p>
        </p:txBody>
      </p:sp>
      <p:pic>
        <p:nvPicPr>
          <p:cNvPr id="4" name="图片 3"/>
          <p:cNvPicPr>
            <a:picLocks noChangeAspect="1"/>
          </p:cNvPicPr>
          <p:nvPr/>
        </p:nvPicPr>
        <p:blipFill>
          <a:blip r:embed="rId1"/>
          <a:stretch>
            <a:fillRect/>
          </a:stretch>
        </p:blipFill>
        <p:spPr>
          <a:xfrm>
            <a:off x="7844790" y="1510030"/>
            <a:ext cx="3274060" cy="2743835"/>
          </a:xfrm>
          <a:prstGeom prst="rect">
            <a:avLst/>
          </a:prstGeom>
        </p:spPr>
      </p:pic>
      <p:sp>
        <p:nvSpPr>
          <p:cNvPr id="5" name="矩形 4"/>
          <p:cNvSpPr/>
          <p:nvPr/>
        </p:nvSpPr>
        <p:spPr>
          <a:xfrm>
            <a:off x="4958715" y="2363470"/>
            <a:ext cx="2926080" cy="914400"/>
          </a:xfrm>
          <a:prstGeom prst="rect">
            <a:avLst/>
          </a:prstGeom>
          <a:noFill/>
          <a:ln>
            <a:noFill/>
          </a:ln>
        </p:spPr>
        <p:txBody>
          <a:bodyPr wrap="none" rtlCol="0" anchor="t">
            <a:spAutoFit/>
          </a:bodyPr>
          <a:p>
            <a:pPr algn="ctr"/>
            <a:r>
              <a:rPr lang="zh-CN" altLang="en-US" sz="5400">
                <a:ln w="22225">
                  <a:solidFill>
                    <a:schemeClr val="accent2"/>
                  </a:solidFill>
                  <a:prstDash val="solid"/>
                </a:ln>
                <a:solidFill>
                  <a:schemeClr val="accent2">
                    <a:lumMod val="40000"/>
                    <a:lumOff val="60000"/>
                  </a:schemeClr>
                </a:solidFill>
                <a:effectLst/>
              </a:rPr>
              <a:t>是否还是</a:t>
            </a:r>
            <a:endParaRPr lang="zh-CN" altLang="en-US" sz="5400">
              <a:ln w="22225">
                <a:solidFill>
                  <a:schemeClr val="accent2"/>
                </a:solidFill>
                <a:prstDash val="solid"/>
              </a:ln>
              <a:solidFill>
                <a:schemeClr val="accent2">
                  <a:lumMod val="40000"/>
                  <a:lumOff val="60000"/>
                </a:schemeClr>
              </a:solidFill>
              <a:effectLst/>
            </a:endParaRPr>
          </a:p>
        </p:txBody>
      </p:sp>
      <p:sp>
        <p:nvSpPr>
          <p:cNvPr id="6" name="矩形 5"/>
          <p:cNvSpPr/>
          <p:nvPr/>
        </p:nvSpPr>
        <p:spPr>
          <a:xfrm>
            <a:off x="6223000" y="5601970"/>
            <a:ext cx="4639310" cy="921385"/>
          </a:xfrm>
          <a:prstGeom prst="rect">
            <a:avLst/>
          </a:prstGeom>
          <a:noFill/>
          <a:ln>
            <a:noFill/>
          </a:ln>
        </p:spPr>
        <p:txBody>
          <a:bodyPr wrap="none" rtlCol="0" anchor="t">
            <a:spAutoFit/>
          </a:bodyPr>
          <a:p>
            <a:pPr algn="ctr"/>
            <a:r>
              <a:rPr lang="zh-CN" altLang="en-US" sz="5400">
                <a:ln w="22225">
                  <a:solidFill>
                    <a:schemeClr val="accent2"/>
                  </a:solidFill>
                  <a:prstDash val="solid"/>
                </a:ln>
                <a:solidFill>
                  <a:schemeClr val="accent2">
                    <a:lumMod val="40000"/>
                    <a:lumOff val="60000"/>
                  </a:schemeClr>
                </a:solidFill>
                <a:effectLst/>
              </a:rPr>
              <a:t>这是正常现象</a:t>
            </a:r>
            <a:r>
              <a:rPr lang="en-US" altLang="zh-CN" sz="5400">
                <a:ln w="22225">
                  <a:solidFill>
                    <a:schemeClr val="accent2"/>
                  </a:solidFill>
                  <a:prstDash val="solid"/>
                </a:ln>
                <a:solidFill>
                  <a:schemeClr val="accent2">
                    <a:lumMod val="40000"/>
                    <a:lumOff val="60000"/>
                  </a:schemeClr>
                </a:solidFill>
                <a:effectLst/>
              </a:rPr>
              <a:t>~</a:t>
            </a:r>
            <a:endParaRPr lang="en-US" altLang="zh-CN" sz="5400">
              <a:ln w="22225">
                <a:solidFill>
                  <a:schemeClr val="accent2"/>
                </a:solidFill>
                <a:prstDash val="solid"/>
              </a:ln>
              <a:solidFill>
                <a:schemeClr val="accent2">
                  <a:lumMod val="40000"/>
                  <a:lumOff val="60000"/>
                </a:schemeClr>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283845"/>
            <a:ext cx="10515600" cy="5893435"/>
          </a:xfrm>
        </p:spPr>
        <p:txBody>
          <a:bodyPr/>
          <a:p>
            <a:r>
              <a:rPr lang="zh-CN" altLang="en-US"/>
              <a:t>注意：当发现我们需要插入的最终后缀已经存在在这棵树里的一条边的时候，这棵树</a:t>
            </a:r>
            <a:r>
              <a:rPr lang="zh-CN" altLang="en-US" b="1"/>
              <a:t>根本就没有改变</a:t>
            </a:r>
            <a:r>
              <a:rPr lang="zh-CN" altLang="en-US"/>
              <a:t>（我们</a:t>
            </a:r>
            <a:r>
              <a:rPr lang="zh-CN" altLang="en-US" b="1"/>
              <a:t>只是</a:t>
            </a:r>
            <a:r>
              <a:rPr lang="zh-CN" altLang="en-US"/>
              <a:t>修改了活动节点和剩余后缀数）。</a:t>
            </a:r>
            <a:r>
              <a:rPr lang="en-US" altLang="zh-CN"/>
              <a:t>(</a:t>
            </a:r>
            <a:r>
              <a:rPr lang="zh-CN" altLang="en-US"/>
              <a:t>观察</a:t>
            </a:r>
            <a:r>
              <a:rPr lang="en-US" altLang="zh-CN"/>
              <a:t>1)</a:t>
            </a:r>
            <a:endParaRPr lang="en-US" altLang="zh-CN"/>
          </a:p>
          <a:p>
            <a:endParaRPr lang="zh-CN" altLang="en-US"/>
          </a:p>
          <a:p>
            <a:r>
              <a:rPr lang="zh-CN" altLang="en-US"/>
              <a:t>那么这棵树就暂时不再能准确的表示至当前位置的后缀树了，不过它确实包含了所有的后缀（因为最终的后缀</a:t>
            </a:r>
            <a:r>
              <a:rPr lang="en-US" altLang="zh-CN"/>
              <a:t>'</a:t>
            </a:r>
            <a:r>
              <a:rPr lang="zh-CN" altLang="en-US"/>
              <a:t>a</a:t>
            </a:r>
            <a:r>
              <a:rPr lang="en-US" altLang="zh-CN"/>
              <a:t>'</a:t>
            </a:r>
            <a:r>
              <a:rPr lang="zh-CN" altLang="en-US"/>
              <a:t>隐含地包含在了它存在的那条长边里）。</a:t>
            </a:r>
            <a:endParaRPr lang="zh-CN" altLang="en-US"/>
          </a:p>
          <a:p>
            <a:endParaRPr lang="zh-CN" altLang="en-US"/>
          </a:p>
          <a:p>
            <a:r>
              <a:rPr lang="zh-CN" altLang="en-US"/>
              <a:t>因此，除了修改变量外（所有这些变量都是定长的，因此空间复杂度是 O(1)），在这一步里没有做其他工作。</a:t>
            </a:r>
            <a:endParaRPr lang="zh-CN" altLang="en-US"/>
          </a:p>
          <a:p>
            <a:endParaRPr lang="zh-CN" altLang="en-US"/>
          </a:p>
          <a:p>
            <a:r>
              <a:rPr lang="zh-CN" altLang="en-US"/>
              <a:t>懵逼吗？友情提示：这才刚刚开始。。。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82905"/>
            <a:ext cx="10515600" cy="5794375"/>
          </a:xfrm>
        </p:spPr>
        <p:txBody>
          <a:bodyPr>
            <a:normAutofit lnSpcReduction="20000"/>
          </a:bodyPr>
          <a:p>
            <a:r>
              <a:rPr lang="zh-CN" altLang="en-US"/>
              <a:t> 步骤5：我们修改当前的位置</a:t>
            </a:r>
            <a:r>
              <a:rPr lang="en-US" altLang="zh-CN"/>
              <a:t>'</a:t>
            </a:r>
            <a:r>
              <a:rPr lang="zh-CN" altLang="en-US"/>
              <a:t>#</a:t>
            </a:r>
            <a:r>
              <a:rPr lang="en-US" altLang="zh-CN"/>
              <a:t>'</a:t>
            </a:r>
            <a:r>
              <a:rPr lang="zh-CN" altLang="en-US"/>
              <a:t>为5。这将自动更新这棵树</a:t>
            </a:r>
            <a:endParaRPr lang="zh-CN" altLang="en-US"/>
          </a:p>
          <a:p>
            <a:endParaRPr lang="zh-CN" altLang="en-US"/>
          </a:p>
          <a:p>
            <a:r>
              <a:rPr lang="zh-CN" altLang="en-US"/>
              <a:t>而且 由于剩余后缀数为2 ，我们需要插入目前</a:t>
            </a:r>
            <a:endParaRPr lang="zh-CN" altLang="en-US"/>
          </a:p>
          <a:p>
            <a:pPr marL="0" indent="0">
              <a:buNone/>
            </a:pPr>
            <a:r>
              <a:rPr lang="zh-CN" altLang="en-US"/>
              <a:t>位置的两个最终后缀：</a:t>
            </a:r>
            <a:r>
              <a:rPr lang="en-US" altLang="zh-CN"/>
              <a:t>'</a:t>
            </a:r>
            <a:r>
              <a:rPr lang="zh-CN" altLang="en-US"/>
              <a:t>ab</a:t>
            </a:r>
            <a:r>
              <a:rPr lang="en-US" altLang="zh-CN"/>
              <a:t>'</a:t>
            </a:r>
            <a:r>
              <a:rPr lang="zh-CN" altLang="en-US"/>
              <a:t>和</a:t>
            </a:r>
            <a:r>
              <a:rPr lang="en-US" altLang="zh-CN"/>
              <a:t>'</a:t>
            </a:r>
            <a:r>
              <a:rPr lang="zh-CN" altLang="en-US"/>
              <a:t>b</a:t>
            </a:r>
            <a:r>
              <a:rPr lang="en-US" altLang="zh-CN"/>
              <a:t>'</a:t>
            </a:r>
            <a:r>
              <a:rPr lang="zh-CN" altLang="en-US"/>
              <a:t>。因为：</a:t>
            </a:r>
            <a:endParaRPr lang="zh-CN" altLang="en-US"/>
          </a:p>
          <a:p>
            <a:endParaRPr lang="zh-CN" altLang="en-US"/>
          </a:p>
          <a:p>
            <a:pPr marL="0" indent="0">
              <a:buNone/>
            </a:pPr>
            <a:r>
              <a:rPr lang="zh-CN" altLang="en-US"/>
              <a:t> </a:t>
            </a:r>
            <a:endParaRPr lang="zh-CN" altLang="en-US"/>
          </a:p>
          <a:p>
            <a:r>
              <a:rPr lang="zh-CN" altLang="en-US"/>
              <a:t>前一步骤的</a:t>
            </a:r>
            <a:r>
              <a:rPr lang="en-US" altLang="zh-CN"/>
              <a:t>'</a:t>
            </a:r>
            <a:r>
              <a:rPr lang="zh-CN" altLang="en-US"/>
              <a:t>a</a:t>
            </a:r>
            <a:r>
              <a:rPr lang="en-US" altLang="zh-CN"/>
              <a:t>'</a:t>
            </a:r>
            <a:r>
              <a:rPr lang="zh-CN" altLang="en-US"/>
              <a:t>后缀</a:t>
            </a:r>
            <a:r>
              <a:rPr lang="zh-CN" altLang="en-US" b="1"/>
              <a:t>从来都没有真正地插入</a:t>
            </a:r>
            <a:r>
              <a:rPr lang="zh-CN" altLang="en-US"/>
              <a:t>。因此它保留下来等待被插入，然而由于我们已经向前走了一步，它现在由</a:t>
            </a:r>
            <a:r>
              <a:rPr lang="en-US" altLang="zh-CN"/>
              <a:t>'</a:t>
            </a:r>
            <a:r>
              <a:rPr lang="zh-CN" altLang="en-US"/>
              <a:t>a</a:t>
            </a:r>
            <a:r>
              <a:rPr lang="en-US" altLang="zh-CN"/>
              <a:t>'</a:t>
            </a:r>
            <a:r>
              <a:rPr lang="zh-CN" altLang="en-US"/>
              <a:t>延长为</a:t>
            </a:r>
            <a:r>
              <a:rPr lang="en-US" altLang="zh-CN"/>
              <a:t>'</a:t>
            </a:r>
            <a:r>
              <a:rPr lang="zh-CN" altLang="en-US"/>
              <a:t>ab</a:t>
            </a:r>
            <a:r>
              <a:rPr lang="en-US" altLang="zh-CN"/>
              <a:t>'</a:t>
            </a:r>
            <a:r>
              <a:rPr lang="zh-CN" altLang="en-US"/>
              <a:t>。还有，我们需要插入新的边</a:t>
            </a:r>
            <a:r>
              <a:rPr lang="en-US" altLang="zh-CN"/>
              <a:t>'</a:t>
            </a:r>
            <a:r>
              <a:rPr lang="zh-CN" altLang="en-US"/>
              <a:t>b</a:t>
            </a:r>
            <a:r>
              <a:rPr lang="en-US" altLang="zh-CN"/>
              <a:t>'</a:t>
            </a:r>
            <a:r>
              <a:rPr lang="zh-CN" altLang="en-US"/>
              <a:t>。</a:t>
            </a:r>
            <a:endParaRPr lang="zh-CN" altLang="en-US"/>
          </a:p>
          <a:p>
            <a:endParaRPr lang="zh-CN" altLang="en-US"/>
          </a:p>
          <a:p>
            <a:r>
              <a:rPr lang="zh-CN" altLang="en-US"/>
              <a:t> 实际上，插入</a:t>
            </a:r>
            <a:r>
              <a:rPr lang="en-US" altLang="zh-CN"/>
              <a:t>'ab'</a:t>
            </a:r>
            <a:r>
              <a:rPr lang="zh-CN" altLang="en-US"/>
              <a:t>意味着我们要修改活动点（它现在指向的是abcab边里的</a:t>
            </a:r>
            <a:r>
              <a:rPr lang="en-US" altLang="zh-CN"/>
              <a:t>'</a:t>
            </a:r>
            <a:r>
              <a:rPr lang="zh-CN" altLang="en-US"/>
              <a:t>a</a:t>
            </a:r>
            <a:r>
              <a:rPr lang="en-US" altLang="zh-CN"/>
              <a:t>'</a:t>
            </a:r>
            <a:r>
              <a:rPr lang="zh-CN" altLang="en-US"/>
              <a:t>之后），而且插入当前的最后一个字符</a:t>
            </a:r>
            <a:r>
              <a:rPr lang="en-US" altLang="zh-CN"/>
              <a:t>'</a:t>
            </a:r>
            <a:r>
              <a:rPr lang="zh-CN" altLang="en-US"/>
              <a:t>b</a:t>
            </a:r>
            <a:r>
              <a:rPr lang="en-US" altLang="zh-CN"/>
              <a:t>'</a:t>
            </a:r>
            <a:r>
              <a:rPr lang="zh-CN" altLang="en-US"/>
              <a:t>。</a:t>
            </a:r>
            <a:endParaRPr lang="zh-CN" altLang="en-US"/>
          </a:p>
          <a:p>
            <a:r>
              <a:rPr lang="zh-CN" altLang="en-US"/>
              <a:t>不过：同时它也证明</a:t>
            </a:r>
            <a:r>
              <a:rPr lang="en-US" altLang="zh-CN"/>
              <a:t>'</a:t>
            </a:r>
            <a:r>
              <a:rPr lang="zh-CN" altLang="en-US"/>
              <a:t>b</a:t>
            </a:r>
            <a:r>
              <a:rPr lang="en-US" altLang="zh-CN"/>
              <a:t>'</a:t>
            </a:r>
            <a:r>
              <a:rPr lang="zh-CN" altLang="en-US"/>
              <a:t>也已经出现在了同一条边里。</a:t>
            </a:r>
            <a:r>
              <a:rPr lang="zh-CN" altLang="en-US" sz="2400"/>
              <a:t> </a:t>
            </a:r>
            <a:endParaRPr lang="zh-CN" altLang="en-US" sz="2400"/>
          </a:p>
        </p:txBody>
      </p:sp>
      <p:pic>
        <p:nvPicPr>
          <p:cNvPr id="4" name="图片 3"/>
          <p:cNvPicPr>
            <a:picLocks noChangeAspect="1"/>
          </p:cNvPicPr>
          <p:nvPr/>
        </p:nvPicPr>
        <p:blipFill>
          <a:blip r:embed="rId1"/>
          <a:stretch>
            <a:fillRect/>
          </a:stretch>
        </p:blipFill>
        <p:spPr>
          <a:xfrm>
            <a:off x="8814435" y="831215"/>
            <a:ext cx="1910715" cy="20161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82905"/>
            <a:ext cx="10515600" cy="5794375"/>
          </a:xfrm>
        </p:spPr>
        <p:txBody>
          <a:bodyPr>
            <a:normAutofit fontScale="90000" lnSpcReduction="20000"/>
          </a:bodyPr>
          <a:p>
            <a:r>
              <a:rPr lang="zh-CN" altLang="en-US"/>
              <a:t> 因此，我们依旧不修改这棵树，我们只是：</a:t>
            </a:r>
            <a:endParaRPr lang="zh-CN" altLang="en-US"/>
          </a:p>
          <a:p>
            <a:endParaRPr lang="zh-CN" altLang="en-US"/>
          </a:p>
          <a:p>
            <a:r>
              <a:rPr lang="zh-CN" altLang="en-US"/>
              <a:t>     修改活动点为(root,'a',2)(与前面相同的节点和边，但现在我们指向到</a:t>
            </a:r>
            <a:r>
              <a:rPr lang="en-US" altLang="zh-CN"/>
              <a:t>'</a:t>
            </a:r>
            <a:r>
              <a:rPr lang="zh-CN" altLang="en-US"/>
              <a:t>b</a:t>
            </a:r>
            <a:r>
              <a:rPr lang="en-US" altLang="zh-CN"/>
              <a:t>'</a:t>
            </a:r>
            <a:r>
              <a:rPr lang="zh-CN" altLang="en-US"/>
              <a:t>之后)</a:t>
            </a:r>
            <a:endParaRPr lang="zh-CN" altLang="en-US"/>
          </a:p>
          <a:p>
            <a:endParaRPr lang="zh-CN" altLang="en-US"/>
          </a:p>
          <a:p>
            <a:r>
              <a:rPr lang="zh-CN" altLang="en-US"/>
              <a:t>     增加剩余后缀数为3 ，因为我们仍然不能插入前一个步骤的最终边，同时我们也不能插入当前的最终边</a:t>
            </a:r>
            <a:endParaRPr lang="zh-CN" altLang="en-US"/>
          </a:p>
          <a:p>
            <a:endParaRPr lang="zh-CN" altLang="en-US"/>
          </a:p>
          <a:p>
            <a:r>
              <a:rPr lang="zh-CN" altLang="en-US"/>
              <a:t>也就是说：我们需要在当前的步骤里插入</a:t>
            </a:r>
            <a:r>
              <a:rPr lang="en-US" altLang="zh-CN"/>
              <a:t>'</a:t>
            </a:r>
            <a:r>
              <a:rPr lang="zh-CN" altLang="en-US"/>
              <a:t>ab</a:t>
            </a:r>
            <a:r>
              <a:rPr lang="en-US" altLang="zh-CN"/>
              <a:t>'</a:t>
            </a:r>
            <a:r>
              <a:rPr lang="zh-CN" altLang="en-US"/>
              <a:t>和</a:t>
            </a:r>
            <a:r>
              <a:rPr lang="en-US" altLang="zh-CN"/>
              <a:t>'</a:t>
            </a:r>
            <a:r>
              <a:rPr lang="zh-CN" altLang="en-US"/>
              <a:t>b</a:t>
            </a:r>
            <a:r>
              <a:rPr lang="en-US" altLang="zh-CN"/>
              <a:t>'</a:t>
            </a:r>
            <a:r>
              <a:rPr lang="zh-CN" altLang="en-US"/>
              <a:t>，不过由于</a:t>
            </a:r>
            <a:r>
              <a:rPr lang="en-US" altLang="zh-CN"/>
              <a:t>'</a:t>
            </a:r>
            <a:r>
              <a:rPr lang="zh-CN" altLang="en-US"/>
              <a:t>ab</a:t>
            </a:r>
            <a:r>
              <a:rPr lang="en-US" altLang="zh-CN"/>
              <a:t>'</a:t>
            </a:r>
            <a:r>
              <a:rPr lang="zh-CN" altLang="en-US"/>
              <a:t>已经找到，所以我们修改了活动点，而且甚至不插入</a:t>
            </a:r>
            <a:r>
              <a:rPr lang="en-US" altLang="zh-CN"/>
              <a:t>'</a:t>
            </a:r>
            <a:r>
              <a:rPr lang="zh-CN" altLang="en-US"/>
              <a:t>b</a:t>
            </a:r>
            <a:r>
              <a:rPr lang="en-US" altLang="zh-CN"/>
              <a:t>'</a:t>
            </a:r>
            <a:r>
              <a:rPr lang="zh-CN" altLang="en-US"/>
              <a:t>。为什么？因为如果</a:t>
            </a:r>
            <a:r>
              <a:rPr lang="en-US" altLang="zh-CN"/>
              <a:t>'</a:t>
            </a:r>
            <a:r>
              <a:rPr lang="zh-CN" altLang="en-US"/>
              <a:t>ab</a:t>
            </a:r>
            <a:r>
              <a:rPr lang="en-US" altLang="zh-CN"/>
              <a:t>'</a:t>
            </a:r>
            <a:r>
              <a:rPr lang="zh-CN" altLang="en-US"/>
              <a:t>处于这棵树里，那么它的每个后缀（包括</a:t>
            </a:r>
            <a:r>
              <a:rPr lang="en-US" altLang="zh-CN"/>
              <a:t>'</a:t>
            </a:r>
            <a:r>
              <a:rPr lang="zh-CN" altLang="en-US"/>
              <a:t>b</a:t>
            </a:r>
            <a:r>
              <a:rPr lang="en-US" altLang="zh-CN"/>
              <a:t>'</a:t>
            </a:r>
            <a:r>
              <a:rPr lang="zh-CN" altLang="en-US"/>
              <a:t>)也一定在这棵树里。也许仅仅是隐含性的，不过它一定在这棵树里。</a:t>
            </a:r>
            <a:endParaRPr lang="zh-CN" altLang="en-US"/>
          </a:p>
          <a:p>
            <a:r>
              <a:rPr lang="zh-CN" altLang="en-US"/>
              <a:t> </a:t>
            </a:r>
            <a:endParaRPr lang="zh-CN" altLang="en-US"/>
          </a:p>
          <a:p>
            <a:r>
              <a:rPr lang="zh-CN" altLang="en-US"/>
              <a:t>比如，若</a:t>
            </a:r>
            <a:r>
              <a:rPr lang="en-US" altLang="zh-CN"/>
              <a:t>'ab'</a:t>
            </a:r>
            <a:r>
              <a:rPr lang="zh-CN" altLang="en-US"/>
              <a:t>处于树上，则之前插入过一个</a:t>
            </a:r>
            <a:r>
              <a:rPr lang="en-US" altLang="zh-CN"/>
              <a:t>'ab'</a:t>
            </a:r>
            <a:r>
              <a:rPr lang="zh-CN" altLang="en-US"/>
              <a:t>，设原串为</a:t>
            </a:r>
            <a:r>
              <a:rPr lang="en-US" altLang="zh-CN"/>
              <a:t>'abxxabxx',</a:t>
            </a:r>
            <a:r>
              <a:rPr lang="zh-CN" altLang="en-US"/>
              <a:t>则到第二个</a:t>
            </a:r>
            <a:r>
              <a:rPr lang="en-US" altLang="zh-CN"/>
              <a:t>'ab'</a:t>
            </a:r>
            <a:r>
              <a:rPr lang="zh-CN" altLang="en-US"/>
              <a:t>待插入时一定有边</a:t>
            </a:r>
            <a:r>
              <a:rPr lang="en-US" altLang="zh-CN"/>
              <a:t>'ab......'</a:t>
            </a:r>
            <a:r>
              <a:rPr lang="zh-CN" altLang="en-US"/>
              <a:t>和</a:t>
            </a:r>
            <a:r>
              <a:rPr lang="en-US" altLang="zh-CN"/>
              <a:t>'b......'</a:t>
            </a:r>
            <a:r>
              <a:rPr lang="zh-CN" altLang="en-US"/>
              <a:t>两个后缀，所以只要</a:t>
            </a:r>
            <a:r>
              <a:rPr lang="en-US" altLang="zh-CN"/>
              <a:t>'ab'</a:t>
            </a:r>
            <a:r>
              <a:rPr lang="zh-CN" altLang="en-US"/>
              <a:t>在树上出现过，其所有后缀都会在树上出现</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96570"/>
            <a:ext cx="10515600" cy="5680710"/>
          </a:xfrm>
        </p:spPr>
        <p:txBody>
          <a:bodyPr/>
          <a:p>
            <a:r>
              <a:rPr lang="zh-CN" altLang="en-US"/>
              <a:t>如果目前你都懂了，那你很棒啊</a:t>
            </a:r>
            <a:r>
              <a:rPr lang="en-US" altLang="zh-CN"/>
              <a:t>~~</a:t>
            </a:r>
            <a:r>
              <a:rPr lang="zh-CN" altLang="en-US"/>
              <a:t>但是，你还记得原串是什么吗？</a:t>
            </a:r>
            <a:br>
              <a:rPr lang="zh-CN" altLang="en-US"/>
            </a:br>
            <a:endParaRPr lang="zh-CN" altLang="en-US"/>
          </a:p>
          <a:p>
            <a:r>
              <a:rPr lang="zh-CN" altLang="en-US">
                <a:sym typeface="+mn-ea"/>
              </a:rPr>
              <a:t>abcabxabcd</a:t>
            </a:r>
            <a:endParaRPr lang="zh-CN" altLang="en-US">
              <a:sym typeface="+mn-ea"/>
            </a:endParaRPr>
          </a:p>
          <a:p>
            <a:endParaRPr lang="zh-CN" altLang="en-US"/>
          </a:p>
          <a:p>
            <a:r>
              <a:rPr lang="zh-CN" altLang="en-US"/>
              <a:t>我们已经插入到第</a:t>
            </a:r>
            <a:r>
              <a:rPr lang="en-US" altLang="zh-CN"/>
              <a:t>5</a:t>
            </a:r>
            <a:r>
              <a:rPr lang="zh-CN" altLang="en-US"/>
              <a:t>个也就是</a:t>
            </a:r>
            <a:r>
              <a:rPr lang="en-US" altLang="zh-CN"/>
              <a:t>'abcab'</a:t>
            </a:r>
            <a:r>
              <a:rPr lang="zh-CN" altLang="en-US"/>
              <a:t>了</a:t>
            </a:r>
            <a:endParaRPr lang="zh-CN" altLang="en-US"/>
          </a:p>
          <a:p>
            <a:endParaRPr lang="zh-CN" altLang="en-US"/>
          </a:p>
          <a:p>
            <a:r>
              <a:rPr lang="zh-CN" altLang="en-US"/>
              <a:t>然而下一个</a:t>
            </a:r>
            <a:r>
              <a:rPr lang="en-US" altLang="zh-CN"/>
              <a:t>'x'</a:t>
            </a:r>
            <a:r>
              <a:rPr lang="zh-CN" altLang="en-US"/>
              <a:t>还没在树上出现过。。。</a:t>
            </a:r>
            <a:endParaRPr lang="zh-CN" altLang="en-US"/>
          </a:p>
          <a:p>
            <a:endParaRPr lang="zh-CN" altLang="en-US"/>
          </a:p>
          <a:p>
            <a:r>
              <a:rPr lang="zh-CN" altLang="en-US"/>
              <a:t>怎么办？</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82600"/>
            <a:ext cx="10515600" cy="5694680"/>
          </a:xfrm>
        </p:spPr>
        <p:txBody>
          <a:bodyPr>
            <a:normAutofit lnSpcReduction="20000"/>
          </a:bodyPr>
          <a:p>
            <a:r>
              <a:rPr lang="zh-CN" altLang="en-US"/>
              <a:t> 我们增加</a:t>
            </a:r>
            <a:r>
              <a:rPr lang="en-US" altLang="zh-CN"/>
              <a:t>'</a:t>
            </a:r>
            <a:r>
              <a:rPr lang="zh-CN" altLang="en-US"/>
              <a:t>#</a:t>
            </a:r>
            <a:r>
              <a:rPr lang="en-US" altLang="zh-CN"/>
              <a:t>'</a:t>
            </a:r>
            <a:r>
              <a:rPr lang="zh-CN" altLang="en-US"/>
              <a:t>而前进到步骤6。这棵树自动修改为：</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由于剩余后缀数是3 ，我们要增加</a:t>
            </a:r>
            <a:r>
              <a:rPr lang="en-US" altLang="zh-CN"/>
              <a:t>'</a:t>
            </a:r>
            <a:r>
              <a:rPr lang="zh-CN" altLang="en-US"/>
              <a:t>abx</a:t>
            </a:r>
            <a:r>
              <a:rPr lang="en-US" altLang="zh-CN"/>
              <a:t>'</a:t>
            </a:r>
            <a:r>
              <a:rPr lang="zh-CN" altLang="en-US"/>
              <a:t>,</a:t>
            </a:r>
            <a:r>
              <a:rPr lang="en-US" altLang="zh-CN"/>
              <a:t>'</a:t>
            </a:r>
            <a:r>
              <a:rPr lang="zh-CN" altLang="en-US"/>
              <a:t>bx</a:t>
            </a:r>
            <a:r>
              <a:rPr lang="en-US" altLang="zh-CN"/>
              <a:t>'</a:t>
            </a:r>
            <a:r>
              <a:rPr lang="zh-CN" altLang="en-US"/>
              <a:t>和</a:t>
            </a:r>
            <a:r>
              <a:rPr lang="en-US" altLang="zh-CN"/>
              <a:t>'</a:t>
            </a:r>
            <a:r>
              <a:rPr lang="zh-CN" altLang="en-US"/>
              <a:t>x</a:t>
            </a:r>
            <a:r>
              <a:rPr lang="en-US" altLang="zh-CN"/>
              <a:t>'</a:t>
            </a:r>
            <a:r>
              <a:rPr lang="zh-CN" altLang="en-US"/>
              <a:t>。活动点告诉我们</a:t>
            </a:r>
            <a:r>
              <a:rPr lang="en-US" altLang="zh-CN"/>
              <a:t>'</a:t>
            </a:r>
            <a:r>
              <a:rPr lang="zh-CN" altLang="en-US"/>
              <a:t>ab</a:t>
            </a:r>
            <a:r>
              <a:rPr lang="en-US" altLang="zh-CN"/>
              <a:t>'</a:t>
            </a:r>
            <a:r>
              <a:rPr lang="zh-CN" altLang="en-US"/>
              <a:t>在哪条边上并且结束在哪儿，因此我们仅仅需要跳过这儿，然后插入</a:t>
            </a:r>
            <a:r>
              <a:rPr lang="en-US" altLang="zh-CN"/>
              <a:t>'</a:t>
            </a:r>
            <a:r>
              <a:rPr lang="zh-CN" altLang="en-US"/>
              <a:t>x</a:t>
            </a:r>
            <a:r>
              <a:rPr lang="en-US" altLang="zh-CN"/>
              <a:t>'</a:t>
            </a:r>
            <a:r>
              <a:rPr lang="zh-CN" altLang="en-US"/>
              <a:t>。</a:t>
            </a:r>
            <a:endParaRPr lang="zh-CN" altLang="en-US"/>
          </a:p>
          <a:p>
            <a:endParaRPr lang="zh-CN" altLang="en-US"/>
          </a:p>
          <a:p>
            <a:r>
              <a:rPr lang="en-US" altLang="zh-CN"/>
              <a:t>'</a:t>
            </a:r>
            <a:r>
              <a:rPr lang="zh-CN" altLang="en-US"/>
              <a:t>x</a:t>
            </a:r>
            <a:r>
              <a:rPr lang="en-US" altLang="zh-CN"/>
              <a:t>'</a:t>
            </a:r>
            <a:r>
              <a:rPr lang="zh-CN" altLang="en-US"/>
              <a:t>确实还不在这棵树里，因此我们分割</a:t>
            </a:r>
            <a:r>
              <a:rPr lang="en-US" altLang="zh-CN"/>
              <a:t>'</a:t>
            </a:r>
            <a:r>
              <a:rPr lang="zh-CN" altLang="en-US"/>
              <a:t>abcabx</a:t>
            </a:r>
            <a:r>
              <a:rPr lang="en-US" altLang="zh-CN"/>
              <a:t>'</a:t>
            </a:r>
            <a:r>
              <a:rPr lang="zh-CN" altLang="en-US"/>
              <a:t>边，插入一个内部节点： </a:t>
            </a:r>
            <a:endParaRPr lang="zh-CN" altLang="en-US"/>
          </a:p>
        </p:txBody>
      </p:sp>
      <p:pic>
        <p:nvPicPr>
          <p:cNvPr id="4" name="图片 3"/>
          <p:cNvPicPr>
            <a:picLocks noChangeAspect="1"/>
          </p:cNvPicPr>
          <p:nvPr/>
        </p:nvPicPr>
        <p:blipFill>
          <a:blip r:embed="rId1"/>
          <a:stretch>
            <a:fillRect/>
          </a:stretch>
        </p:blipFill>
        <p:spPr>
          <a:xfrm>
            <a:off x="1177925" y="915670"/>
            <a:ext cx="2494915" cy="24949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52145"/>
            <a:ext cx="10515600" cy="5525135"/>
          </a:xfrm>
        </p:spPr>
        <p:txBody>
          <a:bodyPr/>
          <a:p>
            <a:endParaRPr lang="en-US" altLang="zh-CN"/>
          </a:p>
          <a:p>
            <a:endParaRPr lang="en-US" altLang="zh-CN"/>
          </a:p>
          <a:p>
            <a:endParaRPr lang="en-US" altLang="zh-CN"/>
          </a:p>
          <a:p>
            <a:endParaRPr lang="en-US" altLang="zh-CN"/>
          </a:p>
          <a:p>
            <a:endParaRPr lang="en-US" altLang="zh-CN"/>
          </a:p>
          <a:p>
            <a:r>
              <a:rPr lang="en-US" altLang="zh-CN"/>
              <a:t>这条边表示的仍然是指向文本内部的指针，因此分割和插入内部节点的时间复杂度为O(1)。 </a:t>
            </a:r>
            <a:endParaRPr lang="en-US" altLang="zh-CN"/>
          </a:p>
          <a:p>
            <a:endParaRPr lang="en-US" altLang="zh-CN"/>
          </a:p>
          <a:p>
            <a:r>
              <a:rPr lang="zh-CN" altLang="en-US"/>
              <a:t>棒极了是不是？</a:t>
            </a:r>
            <a:endParaRPr lang="zh-CN" altLang="en-US"/>
          </a:p>
        </p:txBody>
      </p:sp>
      <p:pic>
        <p:nvPicPr>
          <p:cNvPr id="5" name="内容占位符 3"/>
          <p:cNvPicPr>
            <a:picLocks noChangeAspect="1"/>
          </p:cNvPicPr>
          <p:nvPr/>
        </p:nvPicPr>
        <p:blipFill>
          <a:blip r:embed="rId1"/>
          <a:stretch>
            <a:fillRect/>
          </a:stretch>
        </p:blipFill>
        <p:spPr>
          <a:xfrm>
            <a:off x="6397625" y="668020"/>
            <a:ext cx="3667125" cy="2368550"/>
          </a:xfrm>
          <a:prstGeom prst="rect">
            <a:avLst/>
          </a:prstGeom>
        </p:spPr>
      </p:pic>
      <p:pic>
        <p:nvPicPr>
          <p:cNvPr id="6" name="图片 5"/>
          <p:cNvPicPr>
            <a:picLocks noChangeAspect="1"/>
          </p:cNvPicPr>
          <p:nvPr/>
        </p:nvPicPr>
        <p:blipFill>
          <a:blip r:embed="rId2"/>
          <a:stretch>
            <a:fillRect/>
          </a:stretch>
        </p:blipFill>
        <p:spPr>
          <a:xfrm>
            <a:off x="1531620" y="533400"/>
            <a:ext cx="2494915" cy="2494915"/>
          </a:xfrm>
          <a:prstGeom prst="rect">
            <a:avLst/>
          </a:prstGeom>
        </p:spPr>
      </p:pic>
      <p:sp>
        <p:nvSpPr>
          <p:cNvPr id="7" name="右箭头 6"/>
          <p:cNvSpPr/>
          <p:nvPr/>
        </p:nvSpPr>
        <p:spPr>
          <a:xfrm>
            <a:off x="4666615" y="1377315"/>
            <a:ext cx="1386205" cy="5092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5775" y="270510"/>
            <a:ext cx="10868025" cy="6160770"/>
          </a:xfrm>
        </p:spPr>
        <p:txBody>
          <a:bodyPr>
            <a:normAutofit fontScale="80000"/>
          </a:bodyPr>
          <a:p>
            <a:r>
              <a:rPr lang="en-US" altLang="zh-CN"/>
              <a:t> 这时我们处理了'abx',并且把剩余后缀数减为2。现在我们需要插入下一个剩余后缀'bx'。</a:t>
            </a:r>
            <a:endParaRPr lang="en-US" altLang="zh-CN"/>
          </a:p>
          <a:p>
            <a:r>
              <a:rPr lang="en-US" altLang="zh-CN"/>
              <a:t>但是在我们做这些之前，我们需要修改活动节点。</a:t>
            </a:r>
            <a:endParaRPr lang="en-US" altLang="zh-CN"/>
          </a:p>
          <a:p>
            <a:r>
              <a:rPr lang="en-US" altLang="zh-CN" b="1"/>
              <a:t>分割并插入一条边遵循的规则称作规则1</a:t>
            </a:r>
            <a:r>
              <a:rPr lang="en-US" altLang="zh-CN"/>
              <a:t>，如下，而且它适用于活动节点是根节点的情况（针对下面后续的其他情况，我们将要了解规则3）。</a:t>
            </a:r>
            <a:endParaRPr lang="en-US" altLang="zh-CN"/>
          </a:p>
          <a:p>
            <a:r>
              <a:rPr lang="en-US" altLang="zh-CN"/>
              <a:t>规则1如下：</a:t>
            </a:r>
            <a:endParaRPr lang="en-US" altLang="zh-CN"/>
          </a:p>
          <a:p>
            <a:endParaRPr lang="en-US" altLang="zh-CN"/>
          </a:p>
          <a:p>
            <a:pPr marL="0" indent="0">
              <a:buNone/>
            </a:pPr>
            <a:r>
              <a:rPr lang="en-US" altLang="zh-CN"/>
              <a:t>向根节点插入遵循：</a:t>
            </a:r>
            <a:endParaRPr lang="en-US" altLang="zh-CN"/>
          </a:p>
          <a:p>
            <a:r>
              <a:rPr lang="en-US" altLang="zh-CN"/>
              <a:t>   </a:t>
            </a:r>
            <a:r>
              <a:rPr lang="en-US" altLang="zh-CN" b="1"/>
              <a:t> 活动节点保留为根节点</a:t>
            </a:r>
            <a:endParaRPr lang="en-US" altLang="zh-CN" b="1"/>
          </a:p>
          <a:p>
            <a:r>
              <a:rPr lang="en-US" altLang="zh-CN" b="1"/>
              <a:t>    设置活动边为我们需要插入的新后缀的第一个字符，也就是'bx'</a:t>
            </a:r>
            <a:r>
              <a:rPr lang="zh-CN" altLang="en-US" b="1"/>
              <a:t>中的</a:t>
            </a:r>
            <a:r>
              <a:rPr lang="en-US" altLang="zh-CN" b="1"/>
              <a:t>'b'。</a:t>
            </a:r>
            <a:endParaRPr lang="en-US" altLang="zh-CN" b="1"/>
          </a:p>
          <a:p>
            <a:r>
              <a:rPr lang="en-US" altLang="zh-CN" b="1"/>
              <a:t>    活动长度减1</a:t>
            </a:r>
            <a:endParaRPr lang="en-US" altLang="zh-CN" b="1"/>
          </a:p>
          <a:p>
            <a:endParaRPr lang="en-US" altLang="zh-CN" b="1"/>
          </a:p>
          <a:p>
            <a:r>
              <a:rPr lang="en-US" altLang="zh-CN"/>
              <a:t>因此，新的活动节点三元组(root,'b',1)表明要做的下一个插入在'bcabx'边，第一个字符之后，即b之后。我们可以确定插入点的时间复杂度为 O(1)，并且检查'x'是否已经出现在树里。如果它出现在这条边里，我们将结束当前的步骤，保持一切为原样。然而'x'没有出现在这条边里，那么我们</a:t>
            </a:r>
            <a:r>
              <a:rPr lang="zh-CN" altLang="en-US"/>
              <a:t>就</a:t>
            </a:r>
            <a:r>
              <a:rPr lang="en-US" altLang="zh-CN"/>
              <a:t>分割这条边而插入它： </a:t>
            </a:r>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84175"/>
            <a:ext cx="10515600" cy="5793105"/>
          </a:xfrm>
        </p:spPr>
        <p:txBody>
          <a:bodyPr>
            <a:normAutofit/>
          </a:bodyPr>
          <a:p>
            <a:r>
              <a:rPr lang="zh-CN" altLang="en-US"/>
              <a:t>再次说明，它的时间复杂度为 O(1)，并且我们按照规则1所示把剩余后缀数修改为1，活动节点修改为(root,'x',0)。</a:t>
            </a:r>
            <a:endParaRPr lang="zh-CN" altLang="en-US"/>
          </a:p>
          <a:p>
            <a:endParaRPr lang="zh-CN" altLang="en-US"/>
          </a:p>
          <a:p>
            <a:endParaRPr lang="zh-CN" altLang="en-US"/>
          </a:p>
        </p:txBody>
      </p:sp>
      <p:pic>
        <p:nvPicPr>
          <p:cNvPr id="5" name="图片 4"/>
          <p:cNvPicPr>
            <a:picLocks noChangeAspect="1"/>
          </p:cNvPicPr>
          <p:nvPr/>
        </p:nvPicPr>
        <p:blipFill>
          <a:blip r:embed="rId1"/>
          <a:stretch>
            <a:fillRect/>
          </a:stretch>
        </p:blipFill>
        <p:spPr>
          <a:xfrm>
            <a:off x="7666355" y="1647825"/>
            <a:ext cx="4321175" cy="3757930"/>
          </a:xfrm>
          <a:prstGeom prst="rect">
            <a:avLst/>
          </a:prstGeom>
        </p:spPr>
      </p:pic>
      <p:pic>
        <p:nvPicPr>
          <p:cNvPr id="6" name="内容占位符 3"/>
          <p:cNvPicPr>
            <a:picLocks noChangeAspect="1"/>
          </p:cNvPicPr>
          <p:nvPr/>
        </p:nvPicPr>
        <p:blipFill>
          <a:blip r:embed="rId2"/>
          <a:stretch>
            <a:fillRect/>
          </a:stretch>
        </p:blipFill>
        <p:spPr>
          <a:xfrm>
            <a:off x="556895" y="1784985"/>
            <a:ext cx="5067935" cy="3273425"/>
          </a:xfrm>
          <a:prstGeom prst="rect">
            <a:avLst/>
          </a:prstGeom>
        </p:spPr>
      </p:pic>
      <p:sp>
        <p:nvSpPr>
          <p:cNvPr id="7" name="右箭头 6"/>
          <p:cNvSpPr/>
          <p:nvPr/>
        </p:nvSpPr>
        <p:spPr>
          <a:xfrm>
            <a:off x="6179820" y="3216275"/>
            <a:ext cx="1061085" cy="5086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12420"/>
            <a:ext cx="10515600" cy="6076950"/>
          </a:xfrm>
        </p:spPr>
        <p:txBody>
          <a:bodyPr>
            <a:normAutofit fontScale="90000" lnSpcReduction="10000"/>
          </a:bodyPr>
          <a:p>
            <a:pPr>
              <a:buFont typeface="Arial" panose="020B0604020202020204" pitchFamily="34" charset="0"/>
              <a:buChar char="•"/>
            </a:pPr>
            <a:r>
              <a:rPr lang="zh-CN" altLang="en-US">
                <a:sym typeface="+mn-ea"/>
              </a:rPr>
              <a:t> </a:t>
            </a:r>
            <a:r>
              <a:rPr lang="zh-CN" altLang="en-US" sz="2400">
                <a:sym typeface="+mn-ea"/>
              </a:rPr>
              <a:t>不过还有一件事情我们必须做。我们称它为</a:t>
            </a:r>
            <a:r>
              <a:rPr lang="zh-CN" altLang="en-US" sz="2400" b="1">
                <a:sym typeface="+mn-ea"/>
              </a:rPr>
              <a:t>规则2</a:t>
            </a:r>
            <a:r>
              <a:rPr lang="zh-CN" altLang="en-US" sz="2400">
                <a:sym typeface="+mn-ea"/>
              </a:rPr>
              <a:t>：</a:t>
            </a:r>
            <a:endParaRPr lang="zh-CN" altLang="en-US" sz="2400"/>
          </a:p>
          <a:p>
            <a:pPr>
              <a:buFont typeface="Arial" panose="020B0604020202020204" pitchFamily="34" charset="0"/>
              <a:buChar char="•"/>
            </a:pPr>
            <a:endParaRPr lang="zh-CN" altLang="en-US" sz="2400"/>
          </a:p>
          <a:p>
            <a:pPr>
              <a:buFont typeface="Arial" panose="020B0604020202020204" pitchFamily="34" charset="0"/>
              <a:buChar char="•"/>
            </a:pPr>
            <a:r>
              <a:rPr lang="zh-CN" altLang="en-US" sz="2400">
                <a:sym typeface="+mn-ea"/>
              </a:rPr>
              <a:t>如果我们分割一条边并插入新的节点，</a:t>
            </a:r>
            <a:endParaRPr lang="zh-CN" altLang="en-US" sz="2400">
              <a:sym typeface="+mn-ea"/>
            </a:endParaRPr>
          </a:p>
          <a:p>
            <a:pPr marL="0" indent="0">
              <a:buFont typeface="Arial" panose="020B0604020202020204" pitchFamily="34" charset="0"/>
              <a:buNone/>
            </a:pPr>
            <a:r>
              <a:rPr lang="zh-CN" altLang="en-US" sz="2400">
                <a:sym typeface="+mn-ea"/>
              </a:rPr>
              <a:t>而且如果它</a:t>
            </a:r>
            <a:r>
              <a:rPr lang="zh-CN" altLang="en-US" sz="2400" b="1">
                <a:sym typeface="+mn-ea"/>
              </a:rPr>
              <a:t>不是在当前步骤里创建的</a:t>
            </a:r>
            <a:endParaRPr lang="zh-CN" altLang="en-US" sz="2400" b="1">
              <a:sym typeface="+mn-ea"/>
            </a:endParaRPr>
          </a:p>
          <a:p>
            <a:pPr marL="0" indent="0">
              <a:buFont typeface="Arial" panose="020B0604020202020204" pitchFamily="34" charset="0"/>
              <a:buNone/>
            </a:pPr>
            <a:r>
              <a:rPr lang="zh-CN" altLang="en-US" sz="2400" b="1">
                <a:sym typeface="+mn-ea"/>
              </a:rPr>
              <a:t>第一个节点</a:t>
            </a:r>
            <a:r>
              <a:rPr lang="zh-CN" altLang="en-US" sz="2400">
                <a:sym typeface="+mn-ea"/>
              </a:rPr>
              <a:t>的话，我们通过特殊的指针，</a:t>
            </a:r>
            <a:endParaRPr lang="zh-CN" altLang="en-US" sz="2400">
              <a:sym typeface="+mn-ea"/>
            </a:endParaRPr>
          </a:p>
          <a:p>
            <a:pPr marL="0" indent="0">
              <a:buFont typeface="Arial" panose="020B0604020202020204" pitchFamily="34" charset="0"/>
              <a:buNone/>
            </a:pPr>
            <a:r>
              <a:rPr lang="zh-CN" altLang="en-US" sz="2400">
                <a:sym typeface="+mn-ea"/>
              </a:rPr>
              <a:t>即</a:t>
            </a:r>
            <a:r>
              <a:rPr lang="zh-CN" altLang="en-US" sz="2400" b="1">
                <a:sym typeface="+mn-ea"/>
              </a:rPr>
              <a:t>后缀指针</a:t>
            </a:r>
            <a:r>
              <a:rPr lang="zh-CN" altLang="en-US" sz="2400">
                <a:sym typeface="+mn-ea"/>
              </a:rPr>
              <a:t>，把以前插入的节点和新增</a:t>
            </a:r>
            <a:endParaRPr lang="zh-CN" altLang="en-US" sz="2400">
              <a:sym typeface="+mn-ea"/>
            </a:endParaRPr>
          </a:p>
          <a:p>
            <a:pPr marL="0" indent="0">
              <a:buFont typeface="Arial" panose="020B0604020202020204" pitchFamily="34" charset="0"/>
              <a:buNone/>
            </a:pPr>
            <a:r>
              <a:rPr lang="zh-CN" altLang="en-US" sz="2400">
                <a:sym typeface="+mn-ea"/>
              </a:rPr>
              <a:t>的节点连接起来。</a:t>
            </a:r>
            <a:endParaRPr lang="zh-CN" altLang="en-US" sz="2400">
              <a:sym typeface="+mn-ea"/>
            </a:endParaRPr>
          </a:p>
          <a:p>
            <a:pPr>
              <a:buFont typeface="Arial" panose="020B0604020202020204" pitchFamily="34" charset="0"/>
              <a:buChar char="•"/>
            </a:pPr>
            <a:endParaRPr lang="zh-CN" altLang="en-US" sz="2400"/>
          </a:p>
          <a:p>
            <a:pPr>
              <a:buFont typeface="Arial" panose="020B0604020202020204" pitchFamily="34" charset="0"/>
              <a:buChar char="•"/>
            </a:pPr>
            <a:r>
              <a:rPr lang="zh-CN" altLang="en-US" sz="2400">
                <a:sym typeface="+mn-ea"/>
              </a:rPr>
              <a:t>后面我们将明白为什么这么做是有用的。</a:t>
            </a:r>
            <a:endParaRPr lang="zh-CN" altLang="en-US" sz="2400">
              <a:sym typeface="+mn-ea"/>
            </a:endParaRPr>
          </a:p>
          <a:p>
            <a:pPr marL="0" indent="0">
              <a:buFont typeface="Arial" panose="020B0604020202020204" pitchFamily="34" charset="0"/>
              <a:buNone/>
            </a:pPr>
            <a:r>
              <a:rPr lang="zh-CN" altLang="en-US" sz="2400">
                <a:sym typeface="+mn-ea"/>
              </a:rPr>
              <a:t>这儿我们要明白：后缀连接表示为虚线边，</a:t>
            </a:r>
            <a:endParaRPr lang="zh-CN" altLang="en-US" sz="2400">
              <a:sym typeface="+mn-ea"/>
            </a:endParaRPr>
          </a:p>
          <a:p>
            <a:pPr marL="0" indent="0">
              <a:buFont typeface="Arial" panose="020B0604020202020204" pitchFamily="34" charset="0"/>
              <a:buNone/>
            </a:pPr>
            <a:r>
              <a:rPr lang="zh-CN" altLang="en-US" sz="2400">
                <a:sym typeface="+mn-ea"/>
              </a:rPr>
              <a:t>如图：</a:t>
            </a:r>
            <a:endParaRPr lang="zh-CN" altLang="en-US" sz="2400">
              <a:sym typeface="+mn-ea"/>
            </a:endParaRPr>
          </a:p>
          <a:p>
            <a:pPr>
              <a:buFont typeface="Arial" panose="020B0604020202020204" pitchFamily="34" charset="0"/>
              <a:buChar char="•"/>
            </a:pPr>
            <a:endParaRPr lang="zh-CN" altLang="en-US" sz="2400">
              <a:sym typeface="+mn-ea"/>
            </a:endParaRPr>
          </a:p>
          <a:p>
            <a:pPr>
              <a:buFont typeface="Arial" panose="020B0604020202020204" pitchFamily="34" charset="0"/>
              <a:buChar char="•"/>
            </a:pPr>
            <a:r>
              <a:rPr lang="zh-CN" altLang="en-US" sz="2400">
                <a:sym typeface="+mn-ea"/>
              </a:rPr>
              <a:t>节点上没有以</a:t>
            </a:r>
            <a:r>
              <a:rPr lang="en-US" altLang="zh-CN" sz="2400">
                <a:sym typeface="+mn-ea"/>
              </a:rPr>
              <a:t>'</a:t>
            </a:r>
            <a:r>
              <a:rPr lang="zh-CN" altLang="en-US" sz="2400">
                <a:sym typeface="+mn-ea"/>
              </a:rPr>
              <a:t>x</a:t>
            </a:r>
            <a:r>
              <a:rPr lang="en-US" altLang="zh-CN" sz="2400">
                <a:sym typeface="+mn-ea"/>
              </a:rPr>
              <a:t>'</a:t>
            </a:r>
            <a:r>
              <a:rPr lang="zh-CN" altLang="en-US" sz="2400">
                <a:sym typeface="+mn-ea"/>
              </a:rPr>
              <a:t>开始的边，所以我们插入了新边：</a:t>
            </a:r>
            <a:endParaRPr lang="zh-CN" altLang="en-US" sz="2400">
              <a:sym typeface="+mn-ea"/>
            </a:endParaRPr>
          </a:p>
          <a:p>
            <a:pPr>
              <a:buFont typeface="Arial" panose="020B0604020202020204" pitchFamily="34" charset="0"/>
              <a:buChar char="•"/>
            </a:pPr>
            <a:r>
              <a:rPr lang="zh-CN" altLang="en-US" sz="2400">
                <a:sym typeface="+mn-ea"/>
              </a:rPr>
              <a:t>正如你所能看到的，在当前的步骤里插入了所有剩余的后缀。 </a:t>
            </a:r>
            <a:endParaRPr lang="zh-CN" altLang="en-US" sz="2400">
              <a:sym typeface="+mn-ea"/>
            </a:endParaRPr>
          </a:p>
          <a:p>
            <a:pPr>
              <a:buFont typeface="Arial" panose="020B0604020202020204" pitchFamily="34" charset="0"/>
              <a:buChar char="•"/>
            </a:pPr>
            <a:r>
              <a:rPr lang="zh-CN" altLang="en-US" sz="2400">
                <a:sym typeface="+mn-ea"/>
              </a:rPr>
              <a:t>这有意思吧</a:t>
            </a:r>
            <a:r>
              <a:rPr lang="en-US" altLang="zh-CN" sz="2400">
                <a:sym typeface="+mn-ea"/>
              </a:rPr>
              <a:t>~~~~</a:t>
            </a:r>
            <a:endParaRPr lang="en-US" altLang="zh-CN" sz="2400">
              <a:sym typeface="+mn-ea"/>
            </a:endParaRPr>
          </a:p>
          <a:p>
            <a:endParaRPr lang="zh-CN" altLang="en-US"/>
          </a:p>
          <a:p>
            <a:endParaRPr lang="zh-CN" altLang="en-US"/>
          </a:p>
        </p:txBody>
      </p:sp>
      <p:pic>
        <p:nvPicPr>
          <p:cNvPr id="4" name="图片 3">
            <a:hlinkClick r:id="rId1" action="ppaction://hlinksldjump"/>
          </p:cNvPr>
          <p:cNvPicPr>
            <a:picLocks noChangeAspect="1"/>
          </p:cNvPicPr>
          <p:nvPr/>
        </p:nvPicPr>
        <p:blipFill>
          <a:blip r:embed="rId2"/>
          <a:stretch>
            <a:fillRect/>
          </a:stretch>
        </p:blipFill>
        <p:spPr>
          <a:xfrm>
            <a:off x="6140450" y="808355"/>
            <a:ext cx="5836920" cy="41783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807085"/>
            <a:ext cx="10515600" cy="5370195"/>
          </a:xfrm>
        </p:spPr>
        <p:txBody>
          <a:bodyPr>
            <a:normAutofit fontScale="80000"/>
          </a:bodyPr>
          <a:p>
            <a:endParaRPr lang="zh-CN" altLang="en-US"/>
          </a:p>
          <a:p>
            <a:r>
              <a:rPr lang="zh-CN" altLang="en-US"/>
              <a:t>我们设置</a:t>
            </a:r>
            <a:r>
              <a:rPr lang="en-US" altLang="zh-CN"/>
              <a:t>'</a:t>
            </a:r>
            <a:r>
              <a:rPr lang="zh-CN" altLang="en-US"/>
              <a:t>#</a:t>
            </a:r>
            <a:r>
              <a:rPr lang="en-US" altLang="zh-CN"/>
              <a:t>'</a:t>
            </a:r>
            <a:r>
              <a:rPr lang="zh-CN" altLang="en-US"/>
              <a:t>=7而前进到步骤7，这将像往常一样自动添加下一个字符</a:t>
            </a:r>
            <a:r>
              <a:rPr lang="en-US" altLang="zh-CN"/>
              <a:t>'</a:t>
            </a:r>
            <a:r>
              <a:rPr lang="zh-CN" altLang="en-US"/>
              <a:t>a</a:t>
            </a:r>
            <a:r>
              <a:rPr lang="en-US" altLang="zh-CN"/>
              <a:t>'</a:t>
            </a:r>
            <a:r>
              <a:rPr lang="zh-CN" altLang="en-US"/>
              <a:t>到所有的叶子边上。然后我们试图插入新的最终字符到活动节点（根节点），然后发现它已经存在在这棵树里了。因此我们结束当前的步骤，不插入任何边，并且修改活动点位(root,'a',1)。</a:t>
            </a:r>
            <a:endParaRPr lang="zh-CN" altLang="en-US"/>
          </a:p>
          <a:p>
            <a:endParaRPr lang="zh-CN" altLang="en-US"/>
          </a:p>
          <a:p>
            <a:r>
              <a:rPr lang="zh-CN" altLang="en-US"/>
              <a:t>设置</a:t>
            </a:r>
            <a:r>
              <a:rPr lang="en-US" altLang="zh-CN"/>
              <a:t>'</a:t>
            </a:r>
            <a:r>
              <a:rPr lang="zh-CN" altLang="en-US"/>
              <a:t>#</a:t>
            </a:r>
            <a:r>
              <a:rPr lang="en-US" altLang="zh-CN"/>
              <a:t>'</a:t>
            </a:r>
            <a:r>
              <a:rPr lang="zh-CN" altLang="en-US"/>
              <a:t>=8进入步骤8,我们添加b,像以前所看到的，这仅仅意味着我们修改活动点位(root,'a',2) ,而且不需要做其他事情就增加剩余后缀数。因为</a:t>
            </a:r>
            <a:r>
              <a:rPr lang="en-US" altLang="zh-CN"/>
              <a:t>'</a:t>
            </a:r>
            <a:r>
              <a:rPr lang="zh-CN" altLang="en-US"/>
              <a:t>b</a:t>
            </a:r>
            <a:r>
              <a:rPr lang="en-US" altLang="zh-CN"/>
              <a:t>'</a:t>
            </a:r>
            <a:r>
              <a:rPr lang="zh-CN" altLang="en-US"/>
              <a:t>已经出现在这棵树里。然而我们（在 O(1)时间复杂度里）注意到活动节点现在是一条边的结尾。我们通过重置活动节点位(node1,'\0x',0)来体现这个。这儿，我们用node1来指</a:t>
            </a:r>
            <a:r>
              <a:rPr lang="en-US" altLang="zh-CN"/>
              <a:t>'</a:t>
            </a:r>
            <a:r>
              <a:rPr lang="zh-CN" altLang="en-US"/>
              <a:t>ab</a:t>
            </a:r>
            <a:r>
              <a:rPr lang="en-US" altLang="zh-CN"/>
              <a:t>'</a:t>
            </a:r>
            <a:r>
              <a:rPr lang="zh-CN" altLang="en-US"/>
              <a:t>边结束的那个内部节点。</a:t>
            </a:r>
            <a:endParaRPr lang="zh-CN" altLang="en-US"/>
          </a:p>
          <a:p>
            <a:endParaRPr lang="zh-CN" altLang="en-US"/>
          </a:p>
          <a:p>
            <a:r>
              <a:rPr lang="zh-CN" altLang="en-US"/>
              <a:t>接着设置#=9进入步骤9，我们需要插入'c',这将有助于我们理解最后一条迷之技巧：</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40360"/>
            <a:ext cx="10515600" cy="5836920"/>
          </a:xfrm>
        </p:spPr>
        <p:txBody>
          <a:bodyPr>
            <a:normAutofit lnSpcReduction="10000"/>
          </a:bodyPr>
          <a:p>
            <a:pPr marL="0" indent="0">
              <a:buNone/>
            </a:pPr>
            <a:r>
              <a:rPr lang="zh-CN" altLang="en-US" b="1"/>
              <a:t>后缀指针的使用：</a:t>
            </a:r>
            <a:endParaRPr lang="zh-CN" altLang="en-US" b="1"/>
          </a:p>
          <a:p>
            <a:endParaRPr lang="zh-CN" altLang="en-US"/>
          </a:p>
          <a:p>
            <a:r>
              <a:rPr lang="zh-CN" altLang="en-US"/>
              <a:t>像往常一样，</a:t>
            </a:r>
            <a:r>
              <a:rPr lang="en-US" altLang="zh-CN"/>
              <a:t>'</a:t>
            </a:r>
            <a:r>
              <a:rPr lang="zh-CN" altLang="en-US"/>
              <a:t>#</a:t>
            </a:r>
            <a:r>
              <a:rPr lang="en-US" altLang="zh-CN"/>
              <a:t>'</a:t>
            </a:r>
            <a:r>
              <a:rPr lang="zh-CN" altLang="en-US"/>
              <a:t>的修改自动给每条是叶子的边添加了</a:t>
            </a:r>
            <a:r>
              <a:rPr lang="en-US" altLang="zh-CN"/>
              <a:t>'</a:t>
            </a:r>
            <a:r>
              <a:rPr lang="zh-CN" altLang="en-US"/>
              <a:t>c</a:t>
            </a:r>
            <a:r>
              <a:rPr lang="en-US" altLang="zh-CN"/>
              <a:t>'</a:t>
            </a:r>
            <a:r>
              <a:rPr lang="zh-CN" altLang="en-US"/>
              <a:t>，而且我们转到活动点看是否可以插入'c'。活动点显示'c'已经存在在那条边里，因此我们设置活动点为(node1,'c',1),且增加剩余后缀数，不做任何其他事情。</a:t>
            </a:r>
            <a:endParaRPr lang="zh-CN" altLang="en-US"/>
          </a:p>
          <a:p>
            <a:endParaRPr lang="zh-CN" altLang="en-US"/>
          </a:p>
          <a:p>
            <a:r>
              <a:rPr lang="zh-CN" altLang="en-US"/>
              <a:t>现在 设置#=10进入步骤10，剩余后缀数是4 。</a:t>
            </a:r>
            <a:endParaRPr lang="zh-CN" altLang="en-US"/>
          </a:p>
          <a:p>
            <a:endParaRPr lang="zh-CN" altLang="en-US"/>
          </a:p>
          <a:p>
            <a:r>
              <a:rPr lang="zh-CN" altLang="en-US"/>
              <a:t>因此我们首先需要在活动点插入</a:t>
            </a:r>
            <a:r>
              <a:rPr lang="en-US" altLang="zh-CN"/>
              <a:t>'</a:t>
            </a:r>
            <a:r>
              <a:rPr lang="zh-CN" altLang="en-US"/>
              <a:t>d</a:t>
            </a:r>
            <a:r>
              <a:rPr lang="en-US" altLang="zh-CN"/>
              <a:t>'</a:t>
            </a:r>
            <a:r>
              <a:rPr lang="zh-CN" altLang="en-US"/>
              <a:t>而实现插入</a:t>
            </a:r>
            <a:r>
              <a:rPr lang="en-US" altLang="zh-CN"/>
              <a:t>'</a:t>
            </a:r>
            <a:r>
              <a:rPr lang="zh-CN" altLang="en-US"/>
              <a:t>abcd</a:t>
            </a:r>
            <a:r>
              <a:rPr lang="en-US" altLang="zh-CN"/>
              <a:t>'</a:t>
            </a:r>
            <a:r>
              <a:rPr lang="zh-CN" altLang="en-US"/>
              <a:t>（这条边从第三步骤开始就一直保留着）。</a:t>
            </a:r>
            <a:endParaRPr lang="zh-CN" altLang="en-US"/>
          </a:p>
          <a:p>
            <a:endParaRPr lang="zh-CN" altLang="en-US"/>
          </a:p>
          <a:p>
            <a:r>
              <a:rPr lang="zh-CN" altLang="en-US"/>
              <a:t>试图在活动点插入</a:t>
            </a:r>
            <a:r>
              <a:rPr lang="en-US" altLang="zh-CN"/>
              <a:t>'</a:t>
            </a:r>
            <a:r>
              <a:rPr lang="zh-CN" altLang="en-US"/>
              <a:t>d</a:t>
            </a:r>
            <a:r>
              <a:rPr lang="en-US" altLang="zh-CN"/>
              <a:t>'</a:t>
            </a:r>
            <a:r>
              <a:rPr lang="zh-CN" altLang="en-US"/>
              <a:t>将引起时间复杂度为O(1)的边分割： </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normAutofit lnSpcReduction="10000"/>
          </a:bodyPr>
          <a:p>
            <a:pPr marL="0" indent="0">
              <a:buNone/>
            </a:pPr>
            <a:endParaRPr lang="en-US" altLang="zh-CN"/>
          </a:p>
          <a:p>
            <a:pPr marL="0" indent="0">
              <a:buNone/>
            </a:pPr>
            <a:endParaRPr lang="en-US" altLang="zh-CN"/>
          </a:p>
          <a:p>
            <a:pPr marL="0" indent="0">
              <a:buNone/>
            </a:pPr>
            <a:endParaRPr lang="en-US" altLang="zh-CN"/>
          </a:p>
          <a:p>
            <a:pPr marL="0" indent="0">
              <a:buNone/>
            </a:pPr>
            <a:endParaRPr lang="en-US" altLang="zh-CN"/>
          </a:p>
          <a:p>
            <a:pPr marL="0" indent="0">
              <a:buNone/>
            </a:pPr>
            <a:endParaRPr lang="en-US" altLang="zh-CN"/>
          </a:p>
          <a:p>
            <a:pPr marL="457200" indent="-457200"/>
            <a:endParaRPr lang="en-US" altLang="zh-CN"/>
          </a:p>
          <a:p>
            <a:pPr marL="457200" indent="-457200"/>
            <a:endParaRPr lang="en-US" altLang="zh-CN"/>
          </a:p>
          <a:p>
            <a:pPr marL="457200" indent="-457200"/>
            <a:r>
              <a:rPr lang="en-US" altLang="zh-CN"/>
              <a:t>分割</a:t>
            </a:r>
            <a:r>
              <a:rPr lang="en-US" altLang="zh-CN" b="1"/>
              <a:t>起始的活动点</a:t>
            </a:r>
            <a:r>
              <a:rPr lang="en-US" altLang="zh-CN"/>
              <a:t>在上图中标记为</a:t>
            </a:r>
            <a:r>
              <a:rPr lang="en-US" altLang="zh-CN" b="1"/>
              <a:t>红色</a:t>
            </a:r>
            <a:r>
              <a:rPr lang="en-US" altLang="zh-CN"/>
              <a:t>。</a:t>
            </a:r>
            <a:endParaRPr lang="en-US" altLang="zh-CN"/>
          </a:p>
          <a:p>
            <a:pPr marL="457200" indent="-457200"/>
            <a:r>
              <a:rPr lang="zh-CN" altLang="en-US"/>
              <a:t>记住这张图。。。</a:t>
            </a:r>
            <a:endParaRPr lang="zh-CN" altLang="en-US"/>
          </a:p>
        </p:txBody>
      </p:sp>
      <p:pic>
        <p:nvPicPr>
          <p:cNvPr id="5" name="图片 4">
            <a:hlinkClick r:id="rId1" action="ppaction://hlinksldjump"/>
          </p:cNvPr>
          <p:cNvPicPr>
            <a:picLocks noChangeAspect="1"/>
          </p:cNvPicPr>
          <p:nvPr/>
        </p:nvPicPr>
        <p:blipFill>
          <a:blip r:embed="rId2"/>
          <a:stretch>
            <a:fillRect/>
          </a:stretch>
        </p:blipFill>
        <p:spPr>
          <a:xfrm>
            <a:off x="983615" y="420370"/>
            <a:ext cx="7273290" cy="459105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95655" y="336550"/>
            <a:ext cx="10515600" cy="1325563"/>
          </a:xfrm>
        </p:spPr>
        <p:txBody>
          <a:bodyPr/>
          <a:p>
            <a:pPr algn="ctr"/>
            <a:r>
              <a:rPr lang="zh-CN" altLang="en-US">
                <a:ln w="22225">
                  <a:solidFill>
                    <a:schemeClr val="accent2"/>
                  </a:solidFill>
                  <a:prstDash val="solid"/>
                </a:ln>
                <a:solidFill>
                  <a:srgbClr val="FF0000"/>
                </a:solidFill>
                <a:effectLst>
                  <a:glow rad="228600">
                    <a:schemeClr val="accent2">
                      <a:satMod val="175000"/>
                      <a:alpha val="40000"/>
                    </a:schemeClr>
                  </a:glow>
                </a:effectLst>
              </a:rPr>
              <a:t>警告</a:t>
            </a:r>
            <a:r>
              <a:rPr lang="en-US" altLang="zh-CN">
                <a:ln w="22225">
                  <a:solidFill>
                    <a:schemeClr val="accent2"/>
                  </a:solidFill>
                  <a:prstDash val="solid"/>
                </a:ln>
                <a:solidFill>
                  <a:srgbClr val="FF0000"/>
                </a:solidFill>
                <a:effectLst>
                  <a:glow rad="228600">
                    <a:schemeClr val="accent2">
                      <a:satMod val="175000"/>
                      <a:alpha val="40000"/>
                    </a:schemeClr>
                  </a:glow>
                </a:effectLst>
              </a:rPr>
              <a:t>-</a:t>
            </a:r>
            <a:r>
              <a:rPr lang="zh-CN" altLang="en-US">
                <a:ln w="22225">
                  <a:solidFill>
                    <a:schemeClr val="accent2"/>
                  </a:solidFill>
                  <a:prstDash val="solid"/>
                </a:ln>
                <a:solidFill>
                  <a:srgbClr val="FF0000"/>
                </a:solidFill>
                <a:effectLst>
                  <a:glow rad="228600">
                    <a:schemeClr val="accent2">
                      <a:satMod val="175000"/>
                      <a:alpha val="40000"/>
                    </a:schemeClr>
                  </a:glow>
                </a:effectLst>
              </a:rPr>
              <a:t>前方再次高能</a:t>
            </a:r>
            <a:endParaRPr lang="zh-CN" altLang="en-US">
              <a:ln w="22225">
                <a:solidFill>
                  <a:schemeClr val="accent2"/>
                </a:solidFill>
                <a:prstDash val="solid"/>
              </a:ln>
              <a:solidFill>
                <a:srgbClr val="FF0000"/>
              </a:solidFill>
              <a:effectLst>
                <a:glow rad="228600">
                  <a:schemeClr val="accent2">
                    <a:satMod val="175000"/>
                    <a:alpha val="40000"/>
                  </a:schemeClr>
                </a:glow>
              </a:effectLst>
            </a:endParaRPr>
          </a:p>
        </p:txBody>
      </p:sp>
      <p:pic>
        <p:nvPicPr>
          <p:cNvPr id="6" name="图片 5" descr="stg6enm1"/>
          <p:cNvPicPr>
            <a:picLocks noChangeAspect="1"/>
          </p:cNvPicPr>
          <p:nvPr/>
        </p:nvPicPr>
        <p:blipFill>
          <a:blip r:embed="rId1"/>
          <a:stretch>
            <a:fillRect/>
          </a:stretch>
        </p:blipFill>
        <p:spPr>
          <a:xfrm>
            <a:off x="4646295" y="1727200"/>
            <a:ext cx="2805430" cy="2533015"/>
          </a:xfrm>
          <a:prstGeom prst="rect">
            <a:avLst/>
          </a:prstGeom>
        </p:spPr>
      </p:pic>
      <p:pic>
        <p:nvPicPr>
          <p:cNvPr id="7" name="图片 6" descr="stg6enm2"/>
          <p:cNvPicPr>
            <a:picLocks noChangeAspect="1"/>
          </p:cNvPicPr>
          <p:nvPr/>
        </p:nvPicPr>
        <p:blipFill>
          <a:blip r:embed="rId2"/>
          <a:stretch>
            <a:fillRect/>
          </a:stretch>
        </p:blipFill>
        <p:spPr>
          <a:xfrm>
            <a:off x="2212975" y="4284345"/>
            <a:ext cx="8087995" cy="1541780"/>
          </a:xfrm>
          <a:prstGeom prst="rect">
            <a:avLst/>
          </a:prstGeom>
        </p:spPr>
      </p:pic>
      <p:sp>
        <p:nvSpPr>
          <p:cNvPr id="3" name="矩形 2">
            <a:hlinkClick r:id="rId3" action="ppaction://hlinksldjump"/>
          </p:cNvPr>
          <p:cNvSpPr/>
          <p:nvPr/>
        </p:nvSpPr>
        <p:spPr>
          <a:xfrm>
            <a:off x="27305" y="5715"/>
            <a:ext cx="6167120" cy="6887845"/>
          </a:xfrm>
          <a:prstGeom prst="rect">
            <a:avLst/>
          </a:prstGeom>
          <a:noFill/>
          <a:ln>
            <a:no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4"/>
          <p:cNvSpPr/>
          <p:nvPr>
            <p:ph idx="1"/>
          </p:nvPr>
        </p:nvSpPr>
        <p:spPr>
          <a:xfrm>
            <a:off x="838200" y="340360"/>
            <a:ext cx="10515600" cy="5836920"/>
          </a:xfrm>
        </p:spPr>
        <p:txBody>
          <a:bodyPr/>
          <a:p>
            <a:r>
              <a:rPr lang="zh-CN" altLang="en-US"/>
              <a:t>此时，刚才的后缀指针派上用场了</a:t>
            </a:r>
            <a:r>
              <a:rPr lang="en-US" altLang="zh-CN"/>
              <a:t>——</a:t>
            </a:r>
            <a:endParaRPr lang="en-US" altLang="zh-CN"/>
          </a:p>
        </p:txBody>
      </p:sp>
      <p:pic>
        <p:nvPicPr>
          <p:cNvPr id="7" name="图片 6" descr="24b16044ad34598283ba12e804f431adcbef8401"/>
          <p:cNvPicPr>
            <a:picLocks noChangeAspect="1"/>
          </p:cNvPicPr>
          <p:nvPr/>
        </p:nvPicPr>
        <p:blipFill>
          <a:blip r:embed="rId1"/>
          <a:stretch>
            <a:fillRect/>
          </a:stretch>
        </p:blipFill>
        <p:spPr>
          <a:xfrm>
            <a:off x="3089275" y="1043305"/>
            <a:ext cx="5349240" cy="5349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25145"/>
            <a:ext cx="10515600" cy="5652135"/>
          </a:xfrm>
        </p:spPr>
        <p:txBody>
          <a:bodyPr/>
          <a:p>
            <a:r>
              <a:rPr lang="zh-CN" altLang="en-US"/>
              <a:t>最后一条规则即规则3如下：</a:t>
            </a:r>
            <a:endParaRPr lang="zh-CN" altLang="en-US"/>
          </a:p>
          <a:p>
            <a:endParaRPr lang="zh-CN" altLang="en-US"/>
          </a:p>
          <a:p>
            <a:r>
              <a:rPr lang="zh-CN" altLang="en-US"/>
              <a:t>分割从</a:t>
            </a:r>
            <a:r>
              <a:rPr lang="zh-CN" altLang="en-US" b="1"/>
              <a:t>不是根节点的活动点</a:t>
            </a:r>
            <a:r>
              <a:rPr lang="zh-CN" altLang="en-US"/>
              <a:t>开始的边之后，我们应当紧跟着</a:t>
            </a:r>
            <a:r>
              <a:rPr lang="zh-CN" altLang="en-US" b="1"/>
              <a:t>从活动点开始的后缀指针</a:t>
            </a:r>
            <a:r>
              <a:rPr lang="zh-CN" altLang="en-US"/>
              <a:t> 。</a:t>
            </a:r>
            <a:endParaRPr lang="zh-CN" altLang="en-US"/>
          </a:p>
          <a:p>
            <a:endParaRPr lang="zh-CN" altLang="en-US"/>
          </a:p>
          <a:p>
            <a:r>
              <a:rPr lang="zh-CN" altLang="en-US"/>
              <a:t>如果存在一个这样的指针，那么重置活动节点使它</a:t>
            </a:r>
            <a:r>
              <a:rPr lang="zh-CN" altLang="en-US" b="1"/>
              <a:t>指向这个节点</a:t>
            </a:r>
            <a:r>
              <a:rPr lang="zh-CN" altLang="en-US"/>
              <a:t>。</a:t>
            </a:r>
            <a:endParaRPr lang="zh-CN" altLang="en-US"/>
          </a:p>
          <a:p>
            <a:endParaRPr lang="zh-CN" altLang="en-US"/>
          </a:p>
          <a:p>
            <a:r>
              <a:rPr lang="zh-CN" altLang="en-US"/>
              <a:t>如果不存在这样的后缀指针，那么我们设置活动节点为</a:t>
            </a:r>
            <a:r>
              <a:rPr lang="zh-CN" altLang="en-US" b="1"/>
              <a:t>根节点</a:t>
            </a:r>
            <a:r>
              <a:rPr lang="zh-CN" altLang="en-US"/>
              <a:t>，活动边和活动长度</a:t>
            </a:r>
            <a:r>
              <a:rPr lang="zh-CN" altLang="en-US" b="1"/>
              <a:t>保持不变</a:t>
            </a:r>
            <a:r>
              <a:rPr lang="zh-CN" altLang="en-US"/>
              <a:t>。</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65480"/>
            <a:ext cx="10515600" cy="5879465"/>
          </a:xfrm>
        </p:spPr>
        <p:txBody>
          <a:bodyPr>
            <a:normAutofit lnSpcReduction="20000"/>
          </a:bodyPr>
          <a:p>
            <a:r>
              <a:rPr lang="en-US" altLang="zh-CN"/>
              <a:t>因此活动节点现在是(node2,'c',1),这里node2如下图所示标记为红色： </a:t>
            </a:r>
            <a:endParaRPr lang="en-US" altLang="zh-CN"/>
          </a:p>
          <a:p>
            <a:endParaRPr lang="en-US" altLang="zh-CN"/>
          </a:p>
          <a:p>
            <a:r>
              <a:rPr lang="zh-CN" altLang="en-US"/>
              <a:t>我们能看出什么？</a:t>
            </a:r>
            <a:endParaRPr lang="zh-CN" altLang="en-US"/>
          </a:p>
          <a:p>
            <a:endParaRPr lang="zh-CN" altLang="en-US"/>
          </a:p>
          <a:p>
            <a:r>
              <a:rPr lang="zh-CN" altLang="en-US"/>
              <a:t>后缀指针其实是一条捷径。</a:t>
            </a:r>
            <a:endParaRPr lang="zh-CN" altLang="en-US"/>
          </a:p>
          <a:p>
            <a:pPr marL="0" indent="0">
              <a:buNone/>
            </a:pPr>
            <a:endParaRPr lang="zh-CN" altLang="en-US"/>
          </a:p>
          <a:p>
            <a:r>
              <a:rPr lang="zh-CN" altLang="en-US"/>
              <a:t>也就是说，后缀指针指向</a:t>
            </a:r>
            <a:r>
              <a:rPr lang="zh-CN" altLang="en-US" b="1"/>
              <a:t>当</a:t>
            </a:r>
            <a:endParaRPr lang="zh-CN" altLang="en-US" b="1"/>
          </a:p>
          <a:p>
            <a:pPr marL="0" indent="0">
              <a:buNone/>
            </a:pPr>
            <a:r>
              <a:rPr lang="zh-CN" altLang="en-US" b="1"/>
              <a:t>前要插入的下一个后缀与已加</a:t>
            </a:r>
            <a:endParaRPr lang="zh-CN" altLang="en-US" b="1"/>
          </a:p>
          <a:p>
            <a:pPr marL="0" indent="0">
              <a:buNone/>
            </a:pPr>
            <a:r>
              <a:rPr lang="zh-CN" altLang="en-US" b="1"/>
              <a:t>的树边重合的节点位置</a:t>
            </a:r>
            <a:r>
              <a:rPr lang="zh-CN" altLang="en-US"/>
              <a:t>，在这</a:t>
            </a:r>
            <a:endParaRPr lang="zh-CN" altLang="en-US"/>
          </a:p>
          <a:p>
            <a:pPr marL="0" indent="0">
              <a:buNone/>
            </a:pPr>
            <a:r>
              <a:rPr lang="zh-CN" altLang="en-US"/>
              <a:t>里是在</a:t>
            </a:r>
            <a:r>
              <a:rPr lang="en-US" altLang="zh-CN"/>
              <a:t>'ab'</a:t>
            </a:r>
            <a:r>
              <a:rPr lang="zh-CN" altLang="en-US"/>
              <a:t>边上插入</a:t>
            </a:r>
            <a:r>
              <a:rPr lang="en-US" altLang="zh-CN"/>
              <a:t>'abcd'</a:t>
            </a:r>
            <a:r>
              <a:rPr lang="zh-CN" altLang="en-US"/>
              <a:t>后缀后从</a:t>
            </a:r>
            <a:r>
              <a:rPr lang="en-US" altLang="zh-CN"/>
              <a:t>'ab'</a:t>
            </a:r>
            <a:r>
              <a:rPr lang="zh-CN" altLang="en-US"/>
              <a:t>处的指针来到</a:t>
            </a:r>
            <a:r>
              <a:rPr lang="en-US" altLang="zh-CN"/>
              <a:t>'b'</a:t>
            </a:r>
            <a:r>
              <a:rPr lang="zh-CN" altLang="en-US"/>
              <a:t>边上以插入后缀</a:t>
            </a:r>
            <a:r>
              <a:rPr lang="en-US" altLang="zh-CN"/>
              <a:t>'bcd'</a:t>
            </a:r>
            <a:r>
              <a:rPr lang="zh-CN" altLang="en-US"/>
              <a:t>。</a:t>
            </a:r>
            <a:endParaRPr lang="zh-CN" altLang="en-US"/>
          </a:p>
        </p:txBody>
      </p:sp>
      <p:pic>
        <p:nvPicPr>
          <p:cNvPr id="4" name="图片 3"/>
          <p:cNvPicPr>
            <a:picLocks noChangeAspect="1"/>
          </p:cNvPicPr>
          <p:nvPr/>
        </p:nvPicPr>
        <p:blipFill>
          <a:blip r:embed="rId1"/>
          <a:stretch>
            <a:fillRect/>
          </a:stretch>
        </p:blipFill>
        <p:spPr>
          <a:xfrm>
            <a:off x="5694045" y="1184910"/>
            <a:ext cx="5560060" cy="35102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67690"/>
            <a:ext cx="10515600" cy="5609590"/>
          </a:xfrm>
        </p:spPr>
        <p:txBody>
          <a:bodyPr>
            <a:normAutofit fontScale="90000" lnSpcReduction="20000"/>
          </a:bodyPr>
          <a:p>
            <a:r>
              <a:rPr lang="zh-CN" altLang="en-US"/>
              <a:t>让我们回顾一下这棵树上那个后缀指针的产生：</a:t>
            </a:r>
            <a:endParaRPr lang="zh-CN" altLang="en-US"/>
          </a:p>
          <a:p>
            <a:endParaRPr lang="zh-CN" altLang="en-US"/>
          </a:p>
          <a:p>
            <a:r>
              <a:rPr lang="zh-CN" altLang="en-US"/>
              <a:t>在</a:t>
            </a:r>
            <a:r>
              <a:rPr lang="zh-CN" altLang="en-US">
                <a:hlinkClick r:id="rId1" action="ppaction://hlinksldjump"/>
              </a:rPr>
              <a:t>步骤</a:t>
            </a:r>
            <a:r>
              <a:rPr lang="en-US" altLang="zh-CN">
                <a:hlinkClick r:id="rId1" action="ppaction://hlinksldjump"/>
              </a:rPr>
              <a:t>6</a:t>
            </a:r>
            <a:r>
              <a:rPr lang="zh-CN" altLang="en-US"/>
              <a:t>中，我们先后插入了</a:t>
            </a:r>
            <a:r>
              <a:rPr lang="en-US" altLang="zh-CN" u="sng"/>
              <a:t>'ab</a:t>
            </a:r>
            <a:r>
              <a:rPr lang="en-US" altLang="zh-CN"/>
              <a:t>x'</a:t>
            </a:r>
            <a:r>
              <a:rPr lang="zh-CN" altLang="en-US"/>
              <a:t>和</a:t>
            </a:r>
            <a:r>
              <a:rPr lang="en-US" altLang="zh-CN"/>
              <a:t>'</a:t>
            </a:r>
            <a:r>
              <a:rPr lang="en-US" altLang="zh-CN" u="sng"/>
              <a:t>b</a:t>
            </a:r>
            <a:r>
              <a:rPr lang="en-US" altLang="zh-CN"/>
              <a:t>x'——</a:t>
            </a:r>
            <a:endParaRPr lang="zh-CN" altLang="en-US"/>
          </a:p>
          <a:p>
            <a:r>
              <a:rPr lang="zh-CN" altLang="en-US"/>
              <a:t>因为</a:t>
            </a:r>
            <a:r>
              <a:rPr lang="en-US" altLang="zh-CN"/>
              <a:t>'abx'</a:t>
            </a:r>
            <a:r>
              <a:rPr lang="zh-CN" altLang="en-US"/>
              <a:t>在</a:t>
            </a:r>
            <a:r>
              <a:rPr lang="en-US" altLang="zh-CN"/>
              <a:t>'bx'</a:t>
            </a:r>
            <a:r>
              <a:rPr lang="zh-CN" altLang="en-US"/>
              <a:t>之前被插入</a:t>
            </a:r>
            <a:r>
              <a:rPr lang="en-US" altLang="zh-CN"/>
              <a:t>,'abx'</a:t>
            </a:r>
            <a:r>
              <a:rPr lang="zh-CN" altLang="en-US"/>
              <a:t>插入于</a:t>
            </a:r>
            <a:r>
              <a:rPr lang="en-US" altLang="zh-CN"/>
              <a:t>'abcabx'</a:t>
            </a:r>
            <a:r>
              <a:rPr lang="zh-CN" altLang="en-US"/>
              <a:t>边上并分离该边成为</a:t>
            </a:r>
            <a:r>
              <a:rPr lang="en-US" altLang="zh-CN"/>
              <a:t>'ab'</a:t>
            </a:r>
            <a:r>
              <a:rPr lang="zh-CN" altLang="en-US"/>
              <a:t>和</a:t>
            </a:r>
            <a:r>
              <a:rPr lang="en-US" altLang="zh-CN"/>
              <a:t>'cabx'</a:t>
            </a:r>
            <a:r>
              <a:rPr lang="zh-CN" altLang="en-US"/>
              <a:t>，</a:t>
            </a:r>
            <a:r>
              <a:rPr lang="en-US" altLang="zh-CN"/>
              <a:t>'bx'</a:t>
            </a:r>
            <a:r>
              <a:rPr lang="zh-CN" altLang="en-US"/>
              <a:t>边插入于</a:t>
            </a:r>
            <a:r>
              <a:rPr lang="en-US" altLang="zh-CN"/>
              <a:t>'bcabx'</a:t>
            </a:r>
            <a:r>
              <a:rPr lang="zh-CN" altLang="en-US"/>
              <a:t>边上并同样分理出了</a:t>
            </a:r>
            <a:r>
              <a:rPr lang="en-US" altLang="zh-CN"/>
              <a:t>'b'</a:t>
            </a:r>
            <a:r>
              <a:rPr lang="zh-CN" altLang="en-US"/>
              <a:t>边，所以根据规则二我们创建了后缀指针，它从</a:t>
            </a:r>
            <a:r>
              <a:rPr lang="en-US" altLang="zh-CN"/>
              <a:t>'ab'</a:t>
            </a:r>
            <a:r>
              <a:rPr lang="zh-CN" altLang="en-US"/>
              <a:t>指向</a:t>
            </a:r>
            <a:r>
              <a:rPr lang="en-US" altLang="zh-CN"/>
              <a:t>'b'</a:t>
            </a:r>
            <a:endParaRPr lang="en-US" altLang="zh-CN"/>
          </a:p>
          <a:p>
            <a:endParaRPr lang="en-US" altLang="zh-CN"/>
          </a:p>
          <a:p>
            <a:r>
              <a:rPr lang="zh-CN" altLang="en-US"/>
              <a:t>在刚才，我们先后要插入</a:t>
            </a:r>
            <a:r>
              <a:rPr lang="en-US" altLang="zh-CN"/>
              <a:t>'</a:t>
            </a:r>
            <a:r>
              <a:rPr lang="en-US" altLang="zh-CN" u="sng"/>
              <a:t>ab</a:t>
            </a:r>
            <a:r>
              <a:rPr lang="en-US" altLang="zh-CN"/>
              <a:t>cd'</a:t>
            </a:r>
            <a:r>
              <a:rPr lang="zh-CN" altLang="en-US"/>
              <a:t>和</a:t>
            </a:r>
            <a:r>
              <a:rPr lang="en-US" altLang="zh-CN"/>
              <a:t>'</a:t>
            </a:r>
            <a:r>
              <a:rPr lang="en-US" altLang="zh-CN" u="sng"/>
              <a:t>b</a:t>
            </a:r>
            <a:r>
              <a:rPr lang="en-US" altLang="zh-CN"/>
              <a:t>cd'——</a:t>
            </a:r>
            <a:endParaRPr lang="en-US" altLang="zh-CN"/>
          </a:p>
          <a:p>
            <a:r>
              <a:rPr lang="zh-CN" altLang="en-US"/>
              <a:t>根据之前套路我们用活动点找到了</a:t>
            </a:r>
            <a:r>
              <a:rPr lang="en-US" altLang="zh-CN"/>
              <a:t>'ab'</a:t>
            </a:r>
            <a:r>
              <a:rPr lang="zh-CN" altLang="en-US"/>
              <a:t>并插入</a:t>
            </a:r>
            <a:r>
              <a:rPr lang="en-US" altLang="zh-CN"/>
              <a:t>'abcd'</a:t>
            </a:r>
            <a:r>
              <a:rPr lang="zh-CN" altLang="en-US"/>
              <a:t>，然后我们用步骤</a:t>
            </a:r>
            <a:r>
              <a:rPr lang="en-US" altLang="zh-CN"/>
              <a:t>6</a:t>
            </a:r>
            <a:r>
              <a:rPr lang="zh-CN" altLang="en-US"/>
              <a:t>留下的指针正好跳到</a:t>
            </a:r>
            <a:r>
              <a:rPr lang="en-US" altLang="zh-CN"/>
              <a:t>'b'</a:t>
            </a:r>
            <a:r>
              <a:rPr lang="zh-CN" altLang="en-US"/>
              <a:t>并插入</a:t>
            </a:r>
            <a:r>
              <a:rPr lang="en-US" altLang="zh-CN"/>
              <a:t>'bcd'</a:t>
            </a:r>
            <a:r>
              <a:rPr lang="zh-CN" altLang="en-US"/>
              <a:t>。</a:t>
            </a:r>
            <a:endParaRPr lang="zh-CN" altLang="en-US"/>
          </a:p>
          <a:p>
            <a:endParaRPr lang="zh-CN" altLang="en-US"/>
          </a:p>
          <a:p>
            <a:r>
              <a:rPr lang="zh-CN" altLang="en-US"/>
              <a:t>也就是我们用步骤</a:t>
            </a:r>
            <a:r>
              <a:rPr lang="en-US" altLang="zh-CN"/>
              <a:t>6</a:t>
            </a:r>
            <a:r>
              <a:rPr lang="zh-CN" altLang="en-US"/>
              <a:t>留下的信息移动活动节点来加速</a:t>
            </a:r>
            <a:endParaRPr lang="en-US" altLang="zh-CN"/>
          </a:p>
          <a:p>
            <a:endParaRPr lang="en-US" altLang="zh-CN"/>
          </a:p>
          <a:p>
            <a:r>
              <a:rPr lang="zh-CN" altLang="en-US"/>
              <a:t>这不是很巧妙吗？继续：</a:t>
            </a:r>
            <a:endParaRPr lang="zh-CN" altLang="en-US"/>
          </a:p>
        </p:txBody>
      </p:sp>
      <p:pic>
        <p:nvPicPr>
          <p:cNvPr id="2" name="图片 1" descr="0B624C6D574392F82D415B10C5FA0CB6"/>
          <p:cNvPicPr>
            <a:picLocks noChangeAspect="1"/>
          </p:cNvPicPr>
          <p:nvPr/>
        </p:nvPicPr>
        <p:blipFill>
          <a:blip r:embed="rId2"/>
          <a:stretch>
            <a:fillRect/>
          </a:stretch>
        </p:blipFill>
        <p:spPr>
          <a:xfrm>
            <a:off x="8635365" y="4165600"/>
            <a:ext cx="2707005" cy="2447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54330"/>
            <a:ext cx="10515600" cy="6119495"/>
          </a:xfrm>
        </p:spPr>
        <p:txBody>
          <a:bodyPr>
            <a:normAutofit fontScale="90000"/>
          </a:bodyPr>
          <a:p>
            <a:r>
              <a:rPr lang="zh-CN" altLang="en-US"/>
              <a:t> 由于abcd的插入已经完成，我们把剩余后缀数减为3，并考虑当前步骤的下一个剩余后缀bcd。规则3已经设置活动点为红色的节点和边，因此插入bcd可以简单地向活动点插入剩余后缀的最后一个字符d来完成。</a:t>
            </a:r>
            <a:endParaRPr lang="zh-CN" altLang="en-US"/>
          </a:p>
          <a:p>
            <a:endParaRPr lang="zh-CN" altLang="en-US"/>
          </a:p>
          <a:p>
            <a:r>
              <a:rPr lang="zh-CN" altLang="en-US"/>
              <a:t>要这么做将引起另一个边分割，根</a:t>
            </a:r>
            <a:endParaRPr lang="zh-CN" altLang="en-US"/>
          </a:p>
          <a:p>
            <a:pPr marL="0" indent="0">
              <a:buNone/>
            </a:pPr>
            <a:r>
              <a:rPr lang="zh-CN" altLang="en-US"/>
              <a:t>据规则2 ，我们必须创建一条从以前</a:t>
            </a:r>
            <a:endParaRPr lang="zh-CN" altLang="en-US"/>
          </a:p>
          <a:p>
            <a:pPr marL="0" indent="0">
              <a:buNone/>
            </a:pPr>
            <a:r>
              <a:rPr lang="zh-CN" altLang="en-US"/>
              <a:t>已插入的节点开始的到新建节点的</a:t>
            </a:r>
            <a:endParaRPr lang="zh-CN" altLang="en-US"/>
          </a:p>
          <a:p>
            <a:pPr marL="0" indent="0">
              <a:buNone/>
            </a:pPr>
            <a:r>
              <a:rPr lang="zh-CN" altLang="en-US"/>
              <a:t>后缀指针： </a:t>
            </a:r>
            <a:endParaRPr lang="zh-CN" altLang="en-US"/>
          </a:p>
          <a:p>
            <a:pPr marL="0" indent="0">
              <a:buNone/>
            </a:pPr>
            <a:r>
              <a:rPr lang="zh-CN" altLang="en-US"/>
              <a:t> 我们注意到：后缀指针使我们重置</a:t>
            </a:r>
            <a:endParaRPr lang="zh-CN" altLang="en-US"/>
          </a:p>
          <a:p>
            <a:pPr marL="0" indent="0">
              <a:buNone/>
            </a:pPr>
            <a:r>
              <a:rPr lang="zh-CN" altLang="en-US"/>
              <a:t>了活动点，因此我们能在O(1)复杂</a:t>
            </a:r>
            <a:endParaRPr lang="zh-CN" altLang="en-US"/>
          </a:p>
          <a:p>
            <a:pPr marL="0" indent="0">
              <a:buNone/>
            </a:pPr>
            <a:r>
              <a:rPr lang="zh-CN" altLang="en-US"/>
              <a:t>度下插入下一个剩余后缀。看看上</a:t>
            </a:r>
            <a:endParaRPr lang="zh-CN" altLang="en-US"/>
          </a:p>
          <a:p>
            <a:pPr marL="0" indent="0">
              <a:buNone/>
            </a:pPr>
            <a:r>
              <a:rPr lang="zh-CN" altLang="en-US"/>
              <a:t>面的图就可确定标签为ab的真正节点连接到节点b(它的后缀），而节点abc则连接到bc节点。</a:t>
            </a:r>
            <a:endParaRPr lang="zh-CN" altLang="en-US"/>
          </a:p>
          <a:p>
            <a:pPr marL="0" indent="0">
              <a:buNone/>
            </a:pPr>
            <a:endParaRPr lang="zh-CN" altLang="en-US"/>
          </a:p>
        </p:txBody>
      </p:sp>
      <p:pic>
        <p:nvPicPr>
          <p:cNvPr id="4" name="图片 3"/>
          <p:cNvPicPr>
            <a:picLocks noChangeAspect="1"/>
          </p:cNvPicPr>
          <p:nvPr/>
        </p:nvPicPr>
        <p:blipFill>
          <a:blip r:embed="rId1"/>
          <a:stretch>
            <a:fillRect/>
          </a:stretch>
        </p:blipFill>
        <p:spPr>
          <a:xfrm>
            <a:off x="5887085" y="1537335"/>
            <a:ext cx="6235065" cy="34321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4025"/>
            <a:ext cx="10515600" cy="5723255"/>
          </a:xfrm>
        </p:spPr>
        <p:txBody>
          <a:bodyPr>
            <a:normAutofit/>
          </a:bodyPr>
          <a:p>
            <a:r>
              <a:rPr lang="zh-CN" altLang="en-US"/>
              <a:t> 当前步骤仍然没有结束。现在剩余后缀数是2，我们需要遵循规则3再次重置活动节点。由于当前的活动节点（上图中红色标记的）已经没有后缀指针，我们重置活动节点位根节点。活动节点现在是(root,'c',1)。</a:t>
            </a:r>
            <a:endParaRPr lang="zh-CN" altLang="en-US"/>
          </a:p>
          <a:p>
            <a:endParaRPr lang="zh-CN" altLang="en-US"/>
          </a:p>
          <a:p>
            <a:r>
              <a:rPr lang="zh-CN" altLang="en-US"/>
              <a:t>因此下一个插入发生在根节点</a:t>
            </a:r>
            <a:endParaRPr lang="zh-CN" altLang="en-US"/>
          </a:p>
          <a:p>
            <a:pPr marL="0" indent="0">
              <a:buNone/>
            </a:pPr>
            <a:r>
              <a:rPr lang="zh-CN" altLang="en-US"/>
              <a:t>的一条边上，以c开始的这条边</a:t>
            </a:r>
            <a:endParaRPr lang="zh-CN" altLang="en-US"/>
          </a:p>
          <a:p>
            <a:pPr marL="0" indent="0">
              <a:buNone/>
            </a:pPr>
            <a:r>
              <a:rPr lang="zh-CN" altLang="en-US"/>
              <a:t>的标签为:cabxabcd，位于第一</a:t>
            </a:r>
            <a:endParaRPr lang="zh-CN" altLang="en-US"/>
          </a:p>
          <a:p>
            <a:pPr marL="0" indent="0">
              <a:buNone/>
            </a:pPr>
            <a:r>
              <a:rPr lang="zh-CN" altLang="en-US"/>
              <a:t>个字符之后，即c之后。这将产</a:t>
            </a:r>
            <a:endParaRPr lang="zh-CN" altLang="en-US"/>
          </a:p>
          <a:p>
            <a:pPr marL="0" indent="0">
              <a:buNone/>
            </a:pPr>
            <a:r>
              <a:rPr lang="zh-CN" altLang="en-US"/>
              <a:t>生另一个分割： </a:t>
            </a:r>
            <a:endParaRPr lang="zh-CN" altLang="en-US"/>
          </a:p>
        </p:txBody>
      </p:sp>
      <p:pic>
        <p:nvPicPr>
          <p:cNvPr id="4" name="图片 3"/>
          <p:cNvPicPr>
            <a:picLocks noChangeAspect="1"/>
          </p:cNvPicPr>
          <p:nvPr/>
        </p:nvPicPr>
        <p:blipFill>
          <a:blip r:embed="rId1"/>
          <a:stretch>
            <a:fillRect/>
          </a:stretch>
        </p:blipFill>
        <p:spPr>
          <a:xfrm>
            <a:off x="5788660" y="1767840"/>
            <a:ext cx="6369050" cy="343471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67690"/>
            <a:ext cx="10515600" cy="5609590"/>
          </a:xfrm>
        </p:spPr>
        <p:txBody>
          <a:bodyPr/>
          <a:p>
            <a:r>
              <a:rPr lang="zh-CN" altLang="en-US"/>
              <a:t>另外，由于这涉及到新的内部节点的创建，我们遵循规则2，设置一条新的从前面已创建的内部节点开始的后缀连接： </a:t>
            </a:r>
            <a:endParaRPr lang="zh-CN" altLang="en-US"/>
          </a:p>
          <a:p>
            <a:endParaRPr lang="zh-CN" altLang="en-US"/>
          </a:p>
        </p:txBody>
      </p:sp>
      <p:pic>
        <p:nvPicPr>
          <p:cNvPr id="4" name="图片 3"/>
          <p:cNvPicPr>
            <a:picLocks noChangeAspect="1"/>
          </p:cNvPicPr>
          <p:nvPr/>
        </p:nvPicPr>
        <p:blipFill>
          <a:blip r:embed="rId1"/>
          <a:stretch>
            <a:fillRect/>
          </a:stretch>
        </p:blipFill>
        <p:spPr>
          <a:xfrm>
            <a:off x="1097280" y="1452880"/>
            <a:ext cx="8298180" cy="47967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09600"/>
            <a:ext cx="10515600" cy="5567680"/>
          </a:xfrm>
        </p:spPr>
        <p:txBody>
          <a:bodyPr/>
          <a:p>
            <a:r>
              <a:rPr lang="zh-CN" altLang="en-US"/>
              <a:t>创建了这条连接，剩余后缀树可设置为1 ，另外由于活动节点是根节点，我们根据规则1修改活动点位(root,'d',0)。这意味着这一步的最后一个插入是向根节点插入单独的d: </a:t>
            </a:r>
            <a:endParaRPr lang="zh-CN" altLang="en-US"/>
          </a:p>
        </p:txBody>
      </p:sp>
      <p:pic>
        <p:nvPicPr>
          <p:cNvPr id="4" name="图片 3"/>
          <p:cNvPicPr>
            <a:picLocks noChangeAspect="1"/>
          </p:cNvPicPr>
          <p:nvPr/>
        </p:nvPicPr>
        <p:blipFill>
          <a:blip r:embed="rId1"/>
          <a:stretch>
            <a:fillRect/>
          </a:stretch>
        </p:blipFill>
        <p:spPr>
          <a:xfrm>
            <a:off x="1111885" y="1848485"/>
            <a:ext cx="7110730" cy="456882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25145"/>
            <a:ext cx="10515600" cy="5652135"/>
          </a:xfrm>
        </p:spPr>
        <p:txBody>
          <a:bodyPr/>
          <a:p>
            <a:r>
              <a:rPr lang="zh-CN" altLang="en-US"/>
              <a:t>这是最后一步，至此我们已经完成了后缀树的建立。</a:t>
            </a:r>
            <a:endParaRPr lang="zh-CN" altLang="en-US"/>
          </a:p>
          <a:p>
            <a:r>
              <a:rPr lang="zh-CN" altLang="en-US"/>
              <a:t>让我们来个总结如何？</a:t>
            </a:r>
            <a:endParaRPr lang="zh-CN" altLang="en-US"/>
          </a:p>
        </p:txBody>
      </p:sp>
      <p:pic>
        <p:nvPicPr>
          <p:cNvPr id="4" name="图片 3"/>
          <p:cNvPicPr>
            <a:picLocks noChangeAspect="1"/>
          </p:cNvPicPr>
          <p:nvPr/>
        </p:nvPicPr>
        <p:blipFill>
          <a:blip r:embed="rId1"/>
          <a:stretch>
            <a:fillRect/>
          </a:stretch>
        </p:blipFill>
        <p:spPr>
          <a:xfrm>
            <a:off x="3026410" y="1562100"/>
            <a:ext cx="5078095" cy="4836160"/>
          </a:xfrm>
          <a:prstGeom prst="rect">
            <a:avLst/>
          </a:prstGeom>
        </p:spPr>
      </p:pic>
      <p:sp>
        <p:nvSpPr>
          <p:cNvPr id="5" name="矩形 4">
            <a:hlinkClick r:id="" action="ppaction://hlinkshowjump?jump=nextslide"/>
          </p:cNvPr>
          <p:cNvSpPr/>
          <p:nvPr/>
        </p:nvSpPr>
        <p:spPr>
          <a:xfrm>
            <a:off x="8287385" y="132715"/>
            <a:ext cx="3790950" cy="6605270"/>
          </a:xfrm>
          <a:prstGeom prst="rect">
            <a:avLst/>
          </a:prstGeom>
          <a:noFill/>
          <a:ln>
            <a:noFill/>
          </a:ln>
          <a:extLst>
            <a:ext uri="{909E8E84-426E-40DD-AFC4-6F175D3DCCD1}">
              <a14:hiddenFill xmlns:a14="http://schemas.microsoft.com/office/drawing/2010/main">
                <a:gradFill>
                  <a:gsLst>
                    <a:gs pos="0">
                      <a:schemeClr val="bg1"/>
                    </a:gs>
                    <a:gs pos="64000">
                      <a:srgbClr val="ECECEC">
                        <a:alpha val="100000"/>
                      </a:srgbClr>
                    </a:gs>
                    <a:gs pos="100000">
                      <a:schemeClr val="bg1">
                        <a:lumMod val="85000"/>
                      </a:schemeClr>
                    </a:gs>
                  </a:gsLst>
                  <a:path path="rect">
                    <a:fillToRect l="50000" t="50000" r="50000" b="50000"/>
                  </a:path>
                  <a:tileRect/>
                </a:gradFill>
              </a14:hiddenFill>
            </a:ext>
          </a:extLst>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44170" y="269875"/>
            <a:ext cx="11504930" cy="6232525"/>
          </a:xfrm>
        </p:spPr>
        <p:txBody>
          <a:bodyPr>
            <a:noAutofit/>
          </a:bodyPr>
          <a:p>
            <a:pPr marL="342900" indent="-342900"/>
            <a:r>
              <a:rPr lang="zh-CN" altLang="en-US" sz="2400"/>
              <a:t>在每一步里，我们向前移动#一个位置。这自动在时间复杂度O(1)内修改了所有的叶子结点。</a:t>
            </a:r>
            <a:endParaRPr lang="zh-CN" altLang="en-US" sz="2400"/>
          </a:p>
          <a:p>
            <a:r>
              <a:rPr lang="zh-CN" altLang="en-US" sz="2400"/>
              <a:t>    不过，后缀树没有处理 a) 前一步骤保留下来的任何后缀 b)和当前步骤的最后一个字符。</a:t>
            </a:r>
            <a:endParaRPr lang="zh-CN" altLang="en-US" sz="2400"/>
          </a:p>
          <a:p>
            <a:r>
              <a:rPr lang="zh-CN" altLang="en-US" sz="2400"/>
              <a:t>     剩余后缀数告诉我们我们需要做多少个后续的插入。这些插入一一对应为在当前位置#结束的字符串的最后的后缀。我们一个接着一个考虑，然后再对它们进行插入。重要的是：每条插入都在O(1)的时间复杂度内完成，因为活动点告诉我们确切的位置，然后我们只需要在活动点增加一个单独的字符。为什么？因为其他字符都隐含地包含在了某条长边上（否则活动点将是其他地方）。</a:t>
            </a:r>
            <a:endParaRPr lang="zh-CN" altLang="en-US" sz="2400"/>
          </a:p>
          <a:p>
            <a:r>
              <a:rPr lang="zh-CN" altLang="en-US" sz="2400"/>
              <a:t>     在做了每个这样的插入之后，我们把剩余后缀数减少，并且如果存在后缀的边，就添加一条后缀指针。如果不存在，(根据规则3）我们把活动节点设置为根节点。如果我们已经处在根节点，那么我们根据规则1修改活动节点。在任何情况下，它只花费O(1)的时间复杂度。</a:t>
            </a:r>
            <a:endParaRPr lang="zh-CN" altLang="en-US" sz="2400"/>
          </a:p>
          <a:p>
            <a:r>
              <a:rPr lang="zh-CN" altLang="en-US" sz="2400"/>
              <a:t>    在插入期间，如果我们发现我们需要插入的字符已经存在，那么我们将不作任何事情而结束当前步骤，甚至在剩余后缀数大于0的情况下。理由是我们保留的任何插入都是我们曾经插入的边的后缀。因此它们都隐藏在当前的树里。修改剩余后缀数使它大于0是用于确保我们后续对剩余下来的后缀的处理。</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82600"/>
            <a:ext cx="10515600" cy="5694680"/>
          </a:xfrm>
        </p:spPr>
        <p:txBody>
          <a:bodyPr>
            <a:normAutofit lnSpcReduction="10000"/>
          </a:bodyPr>
          <a:p>
            <a:r>
              <a:rPr lang="zh-CN" altLang="en-US"/>
              <a:t>  如果在算法结束时剩余后缀数大于0意味着什么呢？</a:t>
            </a:r>
            <a:endParaRPr lang="zh-CN" altLang="en-US"/>
          </a:p>
          <a:p>
            <a:r>
              <a:rPr lang="zh-CN" altLang="en-US"/>
              <a:t>将是这种情况：结束的文本是以前出现在某个地方的这个文本的子字符串。</a:t>
            </a:r>
            <a:endParaRPr lang="zh-CN" altLang="en-US"/>
          </a:p>
          <a:p>
            <a:r>
              <a:rPr lang="zh-CN" altLang="en-US"/>
              <a:t>在这种情况下，我们必须给这个字符串结尾添加一个额外以前没有出现过的字符。在这样的文档里，通常使用美元符号$作为解决这个问题的符号。</a:t>
            </a:r>
            <a:endParaRPr lang="zh-CN" altLang="en-US"/>
          </a:p>
          <a:p>
            <a:r>
              <a:rPr lang="zh-CN" altLang="en-US"/>
              <a:t>为什么会发生这种事情呢？---&gt;如果后来我们使用完整的后缀树搜寻后缀，那么我们只有在后缀结束于叶子时才接受搜寻匹配。  否则我们会得到许多假的匹配，因为后缀树里简单地包含了不是主字符串的真正后缀的许多这样的字符串。</a:t>
            </a:r>
            <a:endParaRPr lang="zh-CN" altLang="en-US"/>
          </a:p>
          <a:p>
            <a:r>
              <a:rPr lang="zh-CN" altLang="en-US"/>
              <a:t>在结束的时候强制剩余后缀数为0是确保所有的后缀都结束在叶子节点的重要方法。然而，如果想用这棵树来寻找通常的子字符串，而不仅仅是主字符串的后缀，那么最后一步确实不是必需的。</a:t>
            </a: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96875"/>
            <a:ext cx="10515600" cy="5780405"/>
          </a:xfrm>
        </p:spPr>
        <p:txBody>
          <a:bodyPr/>
          <a:p>
            <a:r>
              <a:rPr lang="zh-CN" altLang="en-US" sz="2000"/>
              <a:t>还有一种特殊情况，我们叫它观察</a:t>
            </a:r>
            <a:r>
              <a:rPr lang="en-US" altLang="zh-CN" sz="2000"/>
              <a:t>2</a:t>
            </a:r>
            <a:r>
              <a:rPr lang="zh-CN" altLang="en-US" sz="2000"/>
              <a:t>：</a:t>
            </a:r>
            <a:endParaRPr lang="zh-CN" altLang="en-US" sz="2000"/>
          </a:p>
          <a:p>
            <a:r>
              <a:rPr lang="zh-CN" altLang="en-US" sz="2000"/>
              <a:t>我们添加了一条后缀指针，修改活动点，然</a:t>
            </a:r>
            <a:endParaRPr lang="zh-CN" altLang="en-US" sz="2000"/>
          </a:p>
          <a:p>
            <a:pPr marL="0" indent="0">
              <a:buNone/>
            </a:pPr>
            <a:r>
              <a:rPr lang="zh-CN" altLang="en-US" sz="2000"/>
              <a:t>后发现活动点的活动长度与新的活动节点不能</a:t>
            </a:r>
            <a:endParaRPr lang="zh-CN" altLang="en-US" sz="2000"/>
          </a:p>
          <a:p>
            <a:pPr marL="0" indent="0">
              <a:buNone/>
            </a:pPr>
            <a:r>
              <a:rPr lang="zh-CN" altLang="en-US" sz="2000"/>
              <a:t>一起正常工作。例如，看看下面这种情况：</a:t>
            </a:r>
            <a:endParaRPr lang="zh-CN" altLang="en-US" sz="2000"/>
          </a:p>
          <a:p>
            <a:pPr marL="0" indent="0">
              <a:buNone/>
            </a:pPr>
            <a:endParaRPr lang="zh-CN" altLang="en-US" sz="2000"/>
          </a:p>
          <a:p>
            <a:pPr marL="0" indent="0">
              <a:buNone/>
            </a:pPr>
            <a:r>
              <a:rPr lang="zh-CN" altLang="en-US" sz="2000"/>
              <a:t>现在，假设活动节点是(red,'d',3),因此它指向</a:t>
            </a:r>
            <a:endParaRPr lang="zh-CN" altLang="en-US" sz="2000"/>
          </a:p>
          <a:p>
            <a:pPr marL="0" indent="0">
              <a:buNone/>
            </a:pPr>
            <a:r>
              <a:rPr lang="en-US" altLang="zh-CN" sz="2000"/>
              <a:t>'</a:t>
            </a:r>
            <a:r>
              <a:rPr lang="zh-CN" altLang="en-US" sz="2000"/>
              <a:t>def</a:t>
            </a:r>
            <a:r>
              <a:rPr lang="en-US" altLang="zh-CN" sz="2000"/>
              <a:t>'</a:t>
            </a:r>
            <a:r>
              <a:rPr lang="zh-CN" altLang="en-US" sz="2000"/>
              <a:t>边的</a:t>
            </a:r>
            <a:r>
              <a:rPr lang="en-US" altLang="zh-CN" sz="2000"/>
              <a:t>'</a:t>
            </a:r>
            <a:r>
              <a:rPr lang="zh-CN" altLang="en-US" sz="2000"/>
              <a:t>f</a:t>
            </a:r>
            <a:r>
              <a:rPr lang="en-US" altLang="zh-CN" sz="2000"/>
              <a:t>'</a:t>
            </a:r>
            <a:r>
              <a:rPr lang="zh-CN" altLang="en-US" sz="2000"/>
              <a:t>之后的位置。现在假设我们做了必须的修改，而且现在依据规则3续接了后缀指针并修改了活动节点。新的活动节点是(green,'d',3)。然而从绿色节点出发的</a:t>
            </a:r>
            <a:r>
              <a:rPr lang="en-US" altLang="zh-CN" sz="2000"/>
              <a:t>'</a:t>
            </a:r>
            <a:r>
              <a:rPr lang="zh-CN" altLang="en-US" sz="2000"/>
              <a:t>d</a:t>
            </a:r>
            <a:r>
              <a:rPr lang="en-US" altLang="zh-CN" sz="2000"/>
              <a:t>'</a:t>
            </a:r>
            <a:r>
              <a:rPr lang="zh-CN" altLang="en-US" sz="2000"/>
              <a:t>边是</a:t>
            </a:r>
            <a:r>
              <a:rPr lang="en-US" altLang="zh-CN" sz="2000"/>
              <a:t>'</a:t>
            </a:r>
            <a:r>
              <a:rPr lang="zh-CN" altLang="en-US" sz="2000"/>
              <a:t>de</a:t>
            </a:r>
            <a:r>
              <a:rPr lang="en-US" altLang="zh-CN" sz="2000"/>
              <a:t>'</a:t>
            </a:r>
            <a:r>
              <a:rPr lang="zh-CN" altLang="en-US" sz="2000"/>
              <a:t>，因此这条边只有2个字符。为了找到正确的活动点，很明显我们需要添加一个到蓝色节点的边，然后重置活动节点为(blue,'f',1)。 </a:t>
            </a:r>
            <a:endParaRPr lang="zh-CN" altLang="en-US" sz="2000"/>
          </a:p>
        </p:txBody>
      </p:sp>
      <p:pic>
        <p:nvPicPr>
          <p:cNvPr id="4" name="图片 3"/>
          <p:cNvPicPr>
            <a:picLocks noChangeAspect="1"/>
          </p:cNvPicPr>
          <p:nvPr/>
        </p:nvPicPr>
        <p:blipFill>
          <a:blip r:embed="rId1"/>
          <a:stretch>
            <a:fillRect/>
          </a:stretch>
        </p:blipFill>
        <p:spPr>
          <a:xfrm>
            <a:off x="5983605" y="547370"/>
            <a:ext cx="5865495" cy="21977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96570"/>
            <a:ext cx="10515600" cy="5680710"/>
          </a:xfrm>
        </p:spPr>
        <p:txBody>
          <a:bodyPr>
            <a:normAutofit/>
          </a:bodyPr>
          <a:p>
            <a:r>
              <a:rPr lang="zh-CN" altLang="en-US"/>
              <a:t>最后的注意事项（观察</a:t>
            </a:r>
            <a:r>
              <a:rPr lang="en-US" altLang="zh-CN"/>
              <a:t>3</a:t>
            </a:r>
            <a:r>
              <a:rPr lang="zh-CN" altLang="en-US"/>
              <a:t>）</a:t>
            </a:r>
            <a:endParaRPr lang="zh-CN" altLang="en-US"/>
          </a:p>
          <a:p>
            <a:endParaRPr lang="zh-CN" altLang="en-US"/>
          </a:p>
          <a:p>
            <a:r>
              <a:rPr lang="zh-CN" altLang="en-US"/>
              <a:t>当我们要加入的字符已经在边上出现时, 我们根据步骤一, 仅更新活动节点和剩余后缀数, 而不改变原树. </a:t>
            </a:r>
            <a:r>
              <a:rPr lang="zh-CN" altLang="en-US" b="1"/>
              <a:t>但如果</a:t>
            </a:r>
            <a:r>
              <a:rPr lang="zh-CN" altLang="en-US"/>
              <a:t>有一个独立的节点被标记为需要后缀指针,我们必须把那个节点与当前活动节点用一个后缀指针链接。</a:t>
            </a:r>
            <a:endParaRPr lang="zh-CN" altLang="en-US"/>
          </a:p>
          <a:p>
            <a:endParaRPr lang="zh-CN" altLang="en-US"/>
          </a:p>
          <a:p>
            <a:r>
              <a:rPr lang="zh-CN" altLang="en-US"/>
              <a:t>让我们用一个实例</a:t>
            </a:r>
            <a:r>
              <a:rPr lang="en-US" altLang="zh-CN"/>
              <a:t>'</a:t>
            </a:r>
            <a:r>
              <a:rPr lang="zh-CN" altLang="en-US"/>
              <a:t>cdddcdc </a:t>
            </a:r>
            <a:r>
              <a:rPr lang="en-US" altLang="zh-CN"/>
              <a:t>'</a:t>
            </a:r>
            <a:r>
              <a:rPr lang="zh-CN" altLang="en-US"/>
              <a:t>来感受一下加与不加的区别：</a:t>
            </a: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510540"/>
            <a:ext cx="10515600" cy="5666740"/>
          </a:xfrm>
        </p:spPr>
        <p:txBody>
          <a:bodyPr/>
          <a:p>
            <a:r>
              <a:rPr lang="en-US" altLang="zh-CN"/>
              <a:t>1.</a:t>
            </a:r>
            <a:r>
              <a:rPr lang="zh-CN" altLang="en-US"/>
              <a:t>如果不加：</a:t>
            </a:r>
            <a:endParaRPr lang="zh-CN" altLang="en-US"/>
          </a:p>
          <a:p>
            <a:r>
              <a:rPr lang="zh-CN" altLang="en-US"/>
              <a:t>在加入最后一个</a:t>
            </a:r>
            <a:r>
              <a:rPr lang="en-US" altLang="zh-CN"/>
              <a:t>'c'</a:t>
            </a:r>
            <a:r>
              <a:rPr lang="zh-CN" altLang="en-US"/>
              <a:t>前</a:t>
            </a:r>
            <a:r>
              <a:rPr lang="en-US" altLang="zh-CN"/>
              <a:t>:</a:t>
            </a:r>
            <a:endParaRPr lang="en-US" altLang="zh-CN"/>
          </a:p>
          <a:p>
            <a:endParaRPr lang="en-US" altLang="zh-CN"/>
          </a:p>
          <a:p>
            <a:endParaRPr lang="en-US" altLang="zh-CN"/>
          </a:p>
          <a:p>
            <a:endParaRPr lang="en-US" altLang="zh-CN"/>
          </a:p>
          <a:p>
            <a:r>
              <a:rPr lang="zh-CN" altLang="en-US"/>
              <a:t>加入最后一个</a:t>
            </a:r>
            <a:r>
              <a:rPr lang="en-US" altLang="zh-CN"/>
              <a:t>'c'</a:t>
            </a:r>
            <a:r>
              <a:rPr lang="zh-CN" altLang="en-US"/>
              <a:t>后</a:t>
            </a:r>
            <a:r>
              <a:rPr lang="en-US" altLang="zh-CN"/>
              <a:t>: </a:t>
            </a:r>
            <a:endParaRPr lang="en-US" altLang="zh-CN"/>
          </a:p>
        </p:txBody>
      </p:sp>
      <p:pic>
        <p:nvPicPr>
          <p:cNvPr id="4" name="图片 3"/>
          <p:cNvPicPr>
            <a:picLocks noChangeAspect="1"/>
          </p:cNvPicPr>
          <p:nvPr/>
        </p:nvPicPr>
        <p:blipFill>
          <a:blip r:embed="rId1"/>
          <a:stretch>
            <a:fillRect/>
          </a:stretch>
        </p:blipFill>
        <p:spPr>
          <a:xfrm>
            <a:off x="5852160" y="467995"/>
            <a:ext cx="5516245" cy="1917065"/>
          </a:xfrm>
          <a:prstGeom prst="rect">
            <a:avLst/>
          </a:prstGeom>
        </p:spPr>
      </p:pic>
      <p:pic>
        <p:nvPicPr>
          <p:cNvPr id="5" name="图片 4"/>
          <p:cNvPicPr>
            <a:picLocks noChangeAspect="1"/>
          </p:cNvPicPr>
          <p:nvPr/>
        </p:nvPicPr>
        <p:blipFill>
          <a:blip r:embed="rId2"/>
          <a:stretch>
            <a:fillRect/>
          </a:stretch>
        </p:blipFill>
        <p:spPr>
          <a:xfrm>
            <a:off x="5852160" y="2760345"/>
            <a:ext cx="5295265" cy="36595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666750"/>
            <a:ext cx="10515600" cy="5510530"/>
          </a:xfrm>
        </p:spPr>
        <p:txBody>
          <a:bodyPr/>
          <a:p>
            <a:r>
              <a:rPr lang="en-US" altLang="zh-CN"/>
              <a:t>2.</a:t>
            </a:r>
            <a:r>
              <a:rPr lang="zh-CN" altLang="en-US"/>
              <a:t>如果加</a:t>
            </a:r>
            <a:endParaRPr lang="zh-CN" altLang="en-US"/>
          </a:p>
          <a:p>
            <a:r>
              <a:rPr lang="zh-CN" altLang="en-US"/>
              <a:t>加入前：</a:t>
            </a:r>
            <a:endParaRPr lang="zh-CN" altLang="en-US"/>
          </a:p>
          <a:p>
            <a:endParaRPr lang="zh-CN" altLang="en-US"/>
          </a:p>
          <a:p>
            <a:endParaRPr lang="zh-CN" altLang="en-US"/>
          </a:p>
          <a:p>
            <a:endParaRPr lang="zh-CN" altLang="en-US"/>
          </a:p>
          <a:p>
            <a:endParaRPr lang="zh-CN" altLang="en-US"/>
          </a:p>
          <a:p>
            <a:r>
              <a:rPr lang="zh-CN" altLang="en-US"/>
              <a:t>加入后</a:t>
            </a:r>
            <a:r>
              <a:rPr lang="en-US" altLang="zh-CN"/>
              <a:t>:</a:t>
            </a:r>
            <a:endParaRPr lang="en-US" altLang="zh-CN"/>
          </a:p>
        </p:txBody>
      </p:sp>
      <p:pic>
        <p:nvPicPr>
          <p:cNvPr id="4" name="图片 3"/>
          <p:cNvPicPr>
            <a:picLocks noChangeAspect="1"/>
          </p:cNvPicPr>
          <p:nvPr/>
        </p:nvPicPr>
        <p:blipFill>
          <a:blip r:embed="rId1"/>
          <a:stretch>
            <a:fillRect/>
          </a:stretch>
        </p:blipFill>
        <p:spPr>
          <a:xfrm>
            <a:off x="5541010" y="643255"/>
            <a:ext cx="6214745" cy="2063750"/>
          </a:xfrm>
          <a:prstGeom prst="rect">
            <a:avLst/>
          </a:prstGeom>
        </p:spPr>
      </p:pic>
      <p:pic>
        <p:nvPicPr>
          <p:cNvPr id="5" name="图片 4"/>
          <p:cNvPicPr>
            <a:picLocks noChangeAspect="1"/>
          </p:cNvPicPr>
          <p:nvPr/>
        </p:nvPicPr>
        <p:blipFill>
          <a:blip r:embed="rId2"/>
          <a:stretch>
            <a:fillRect/>
          </a:stretch>
        </p:blipFill>
        <p:spPr>
          <a:xfrm>
            <a:off x="6094095" y="2779395"/>
            <a:ext cx="5337175" cy="2613025"/>
          </a:xfrm>
          <a:prstGeom prst="rect">
            <a:avLst/>
          </a:prstGeom>
        </p:spPr>
      </p:pic>
      <p:cxnSp>
        <p:nvCxnSpPr>
          <p:cNvPr id="6" name="直接箭头连接符 5"/>
          <p:cNvCxnSpPr/>
          <p:nvPr/>
        </p:nvCxnSpPr>
        <p:spPr>
          <a:xfrm flipV="1">
            <a:off x="5671185" y="2197735"/>
            <a:ext cx="989965" cy="55181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7" name="文本框 6"/>
          <p:cNvSpPr txBox="1"/>
          <p:nvPr/>
        </p:nvSpPr>
        <p:spPr>
          <a:xfrm>
            <a:off x="4539615" y="2720975"/>
            <a:ext cx="1938020" cy="368300"/>
          </a:xfrm>
          <a:prstGeom prst="rect">
            <a:avLst/>
          </a:prstGeom>
          <a:noFill/>
        </p:spPr>
        <p:txBody>
          <a:bodyPr wrap="square" rtlCol="0">
            <a:spAutoFit/>
          </a:bodyPr>
          <a:p>
            <a:r>
              <a:rPr lang="en-US" altLang="zh-CN"/>
              <a:t>(</a:t>
            </a:r>
            <a:r>
              <a:rPr lang="zh-CN" altLang="en-US"/>
              <a:t>额外的后缀指针</a:t>
            </a:r>
            <a:r>
              <a:rPr lang="en-US" altLang="zh-CN"/>
              <a:t>)</a:t>
            </a:r>
            <a:endParaRPr lang="en-US" altLang="zh-CN"/>
          </a:p>
        </p:txBody>
      </p:sp>
      <p:cxnSp>
        <p:nvCxnSpPr>
          <p:cNvPr id="8" name="直接箭头连接符 7"/>
          <p:cNvCxnSpPr/>
          <p:nvPr/>
        </p:nvCxnSpPr>
        <p:spPr>
          <a:xfrm>
            <a:off x="5911215" y="3103245"/>
            <a:ext cx="2178050" cy="118808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9" name="直接箭头连接符 8"/>
          <p:cNvCxnSpPr/>
          <p:nvPr/>
        </p:nvCxnSpPr>
        <p:spPr>
          <a:xfrm>
            <a:off x="5415915" y="3116580"/>
            <a:ext cx="1994535" cy="186753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71450"/>
            <a:ext cx="10515600" cy="6387465"/>
          </a:xfrm>
        </p:spPr>
        <p:txBody>
          <a:bodyPr>
            <a:normAutofit fontScale="90000"/>
          </a:bodyPr>
          <a:p>
            <a:r>
              <a:rPr lang="zh-CN" altLang="en-US"/>
              <a:t>看起来没有什么重大的变化呢</a:t>
            </a:r>
            <a:r>
              <a:rPr lang="en-US" altLang="zh-CN"/>
              <a:t>~</a:t>
            </a:r>
            <a:endParaRPr lang="en-US" altLang="zh-CN"/>
          </a:p>
          <a:p>
            <a:r>
              <a:rPr lang="zh-CN" altLang="en-US"/>
              <a:t>在第二种情况中多出了两个后缀指针，但它们都是对的，并且其中一个 - 从蓝点到红点 - 对我们的活动节点方法很重要.</a:t>
            </a:r>
            <a:endParaRPr lang="zh-CN" altLang="en-US"/>
          </a:p>
          <a:p>
            <a:r>
              <a:rPr lang="zh-CN" altLang="en-US"/>
              <a:t>问题在于我们若不在那里翻一个后缀指针，当过一会我们向树上加入一些新字符时，根据规则三我们可能会忽略加入一些节点，</a:t>
            </a:r>
            <a:endParaRPr lang="zh-CN" altLang="en-US"/>
          </a:p>
          <a:p>
            <a:r>
              <a:rPr lang="zh-CN" altLang="en-US"/>
              <a:t>因为规则三中，如果当前结点没有后缀指针，我们必须把活动节点设为根节点.</a:t>
            </a:r>
            <a:endParaRPr lang="zh-CN" altLang="en-US"/>
          </a:p>
          <a:p>
            <a:r>
              <a:rPr lang="zh-CN" altLang="en-US"/>
              <a:t>当我们正在加入最后一个字符时，红色的节点已经在我们向蓝色节点插入前存在了(那条被标为 'c'的边). 因为蓝色节点有一个插入操作，我们把它标记为需要一个后缀指针。然后依据活动节点的移动，活动节点被移动到了红色的节点处。但我们因为边上已经有了字符</a:t>
            </a:r>
            <a:r>
              <a:rPr lang="en-US" altLang="zh-CN"/>
              <a:t>'c'</a:t>
            </a:r>
            <a:r>
              <a:rPr lang="zh-CN" altLang="en-US"/>
              <a:t>而没有在红色节点上做插入。</a:t>
            </a:r>
            <a:endParaRPr lang="zh-CN" altLang="en-US"/>
          </a:p>
          <a:p>
            <a:r>
              <a:rPr lang="zh-CN" altLang="en-US"/>
              <a:t>难道这意味着我们可爱</a:t>
            </a:r>
            <a:r>
              <a:rPr lang="en-US" altLang="zh-CN"/>
              <a:t>(</a:t>
            </a:r>
            <a:r>
              <a:rPr lang="zh-CN" altLang="en-US"/>
              <a:t>误</a:t>
            </a:r>
            <a:r>
              <a:rPr lang="en-US" altLang="zh-CN"/>
              <a:t>)</a:t>
            </a:r>
            <a:r>
              <a:rPr lang="zh-CN" altLang="en-US"/>
              <a:t>的蓝色节点将没有后缀指针</a:t>
            </a:r>
            <a:r>
              <a:rPr lang="en-US" altLang="zh-CN"/>
              <a:t>?</a:t>
            </a:r>
            <a:r>
              <a:rPr lang="zh-CN" altLang="en-US"/>
              <a:t>不，我们必须用一个后缀指针链接蓝色节点与红色节点。为何这是正确的呢？因为我们的后缀指针方法保证我们会达到正确的位置，即下一个我们必须插入一个更短后缀的地方。</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0">
          <a:blip r:embed="rId1">
            <a:alphaModFix amt="27000"/>
          </a:blip>
          <a:stretch>
            <a:fillRect/>
          </a:stretch>
        </a:blipFill>
        <a:effectLst/>
      </p:bgPr>
    </p:bg>
    <p:spTree>
      <p:nvGrpSpPr>
        <p:cNvPr id="1" name=""/>
        <p:cNvGrpSpPr/>
        <p:nvPr/>
      </p:nvGrpSpPr>
      <p:grpSpPr/>
      <p:sp>
        <p:nvSpPr>
          <p:cNvPr id="2" name="标题 1"/>
          <p:cNvSpPr>
            <a:spLocks noGrp="1"/>
          </p:cNvSpPr>
          <p:nvPr>
            <p:ph type="title"/>
          </p:nvPr>
        </p:nvSpPr>
        <p:spPr>
          <a:xfrm>
            <a:off x="950595" y="605155"/>
            <a:ext cx="10515600" cy="1325563"/>
          </a:xfrm>
        </p:spPr>
        <p:txBody>
          <a:bodyPr>
            <a:scene3d>
              <a:camera prst="orthographicFront"/>
              <a:lightRig rig="soft" dir="t">
                <a:rot lat="0" lon="0" rev="15600000"/>
              </a:lightRig>
            </a:scene3d>
            <a:sp3d extrusionH="57150" prstMaterial="softEdge">
              <a:bevelT w="25400" h="38100"/>
            </a:sp3d>
          </a:bodyPr>
          <a:p>
            <a:r>
              <a:rPr lang="zh-CN" altLang="en-US">
                <a:solidFill>
                  <a:schemeClr val="accent4"/>
                </a:solidFill>
                <a:effectLst/>
              </a:rPr>
              <a:t>不如来看看伪代码？？？</a:t>
            </a:r>
            <a:endParaRPr lang="zh-CN" altLang="en-US">
              <a:solidFill>
                <a:schemeClr val="accent4"/>
              </a:solidFill>
              <a:effectLst/>
            </a:endParaRPr>
          </a:p>
        </p:txBody>
      </p:sp>
      <p:sp>
        <p:nvSpPr>
          <p:cNvPr id="4" name="同侧圆角矩形 3"/>
          <p:cNvSpPr/>
          <p:nvPr/>
        </p:nvSpPr>
        <p:spPr>
          <a:xfrm>
            <a:off x="2205990" y="1985645"/>
            <a:ext cx="2277110" cy="806450"/>
          </a:xfrm>
          <a:prstGeom prst="round2SameRect">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同侧圆角矩形 4"/>
          <p:cNvSpPr/>
          <p:nvPr/>
        </p:nvSpPr>
        <p:spPr>
          <a:xfrm>
            <a:off x="7679690" y="1985645"/>
            <a:ext cx="2277110" cy="806450"/>
          </a:xfrm>
          <a:prstGeom prst="round2SameRect">
            <a:avLst/>
          </a:prstGeom>
          <a:solidFill>
            <a:schemeClr val="bg1"/>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标题 1"/>
          <p:cNvSpPr>
            <a:spLocks noGrp="1"/>
          </p:cNvSpPr>
          <p:nvPr/>
        </p:nvSpPr>
        <p:spPr>
          <a:xfrm>
            <a:off x="908050" y="-876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概念部分</a:t>
            </a:r>
            <a:r>
              <a:rPr lang="en-US" altLang="zh-CN"/>
              <a:t>——</a:t>
            </a:r>
            <a:r>
              <a:rPr lang="zh-CN" altLang="en-US"/>
              <a:t>这就完了啦。。。</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1" presetClass="entr" presetSubtype="0" fill="hold" grpId="4" nodeType="clickEffect">
                                  <p:stCondLst>
                                    <p:cond delay="0"/>
                                  </p:stCondLst>
                                  <p:childTnLst>
                                    <p:set>
                                      <p:cBhvr>
                                        <p:cTn id="12" dur="1000">
                                          <p:stCondLst>
                                            <p:cond delay="0"/>
                                          </p:stCondLst>
                                        </p:cTn>
                                        <p:tgtEl>
                                          <p:spTgt spid="4"/>
                                        </p:tgtEl>
                                        <p:attrNameLst>
                                          <p:attrName>style.visibility</p:attrName>
                                        </p:attrNameLst>
                                      </p:cBhvr>
                                      <p:to>
                                        <p:strVal val="visible"/>
                                      </p:to>
                                    </p:set>
                                  </p:childTnLst>
                                </p:cTn>
                              </p:par>
                              <p:par>
                                <p:cTn id="13" presetID="11" presetClass="entr" presetSubtype="0" fill="hold" grpId="4" nodeType="withEffect">
                                  <p:stCondLst>
                                    <p:cond delay="0"/>
                                  </p:stCondLst>
                                  <p:childTnLst>
                                    <p:set>
                                      <p:cBhvr>
                                        <p:cTn id="14" dur="1000">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4" grpId="1" animBg="1"/>
      <p:bldP spid="5" grpId="1" animBg="1"/>
      <p:bldP spid="4" grpId="2" animBg="1"/>
      <p:bldP spid="5" grpId="2" animBg="1"/>
      <p:bldP spid="4" grpId="3" animBg="1"/>
      <p:bldP spid="5" grpId="3" animBg="1"/>
      <p:bldP spid="4" grpId="4" animBg="1"/>
      <p:bldP spid="5" grpId="4"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3840" y="227330"/>
            <a:ext cx="6159500" cy="6600190"/>
          </a:xfrm>
        </p:spPr>
        <p:txBody>
          <a:bodyPr>
            <a:normAutofit lnSpcReduction="20000"/>
          </a:bodyPr>
          <a:p>
            <a:pPr marL="0" indent="0">
              <a:buNone/>
            </a:pPr>
            <a:r>
              <a:rPr lang="zh-CN" altLang="en-US" sz="1800"/>
              <a:t>Update( 新前缀 ) {</a:t>
            </a:r>
            <a:endParaRPr lang="zh-CN" altLang="en-US" sz="1800"/>
          </a:p>
          <a:p>
            <a:pPr marL="0" indent="0">
              <a:buNone/>
            </a:pPr>
            <a:r>
              <a:rPr lang="zh-CN" altLang="en-US" sz="1800"/>
              <a:t>      当前后缀 = 活动节点</a:t>
            </a:r>
            <a:endParaRPr lang="zh-CN" altLang="en-US" sz="1800"/>
          </a:p>
          <a:p>
            <a:pPr marL="0" indent="0">
              <a:buNone/>
            </a:pPr>
            <a:r>
              <a:rPr lang="zh-CN" altLang="en-US" sz="1800"/>
              <a:t>      待加字符 = 新前缀最后一个字符</a:t>
            </a:r>
            <a:endParaRPr lang="zh-CN" altLang="en-US" sz="1800"/>
          </a:p>
          <a:p>
            <a:pPr marL="0" indent="0">
              <a:buNone/>
            </a:pPr>
            <a:r>
              <a:rPr lang="zh-CN" altLang="en-US" sz="1800"/>
              <a:t>      done = false;</a:t>
            </a:r>
            <a:endParaRPr lang="zh-CN" altLang="en-US" sz="1800"/>
          </a:p>
          <a:p>
            <a:pPr marL="0" indent="0">
              <a:buNone/>
            </a:pPr>
            <a:r>
              <a:rPr lang="zh-CN" altLang="en-US" sz="1800"/>
              <a:t>      while ( !done ) {</a:t>
            </a:r>
            <a:endParaRPr lang="zh-CN" altLang="en-US" sz="1800"/>
          </a:p>
          <a:p>
            <a:pPr marL="0" indent="0">
              <a:buNone/>
            </a:pPr>
            <a:r>
              <a:rPr lang="zh-CN" altLang="en-US" sz="1800"/>
              <a:t>        if 当前后缀在显式节点结束 {</a:t>
            </a:r>
            <a:endParaRPr lang="zh-CN" altLang="en-US" sz="1800"/>
          </a:p>
          <a:p>
            <a:pPr marL="0" indent="0">
              <a:buNone/>
            </a:pPr>
            <a:r>
              <a:rPr lang="zh-CN" altLang="en-US" sz="1800"/>
              <a:t>          if 当前节点后没有以待加字符开始的边</a:t>
            </a:r>
            <a:endParaRPr lang="zh-CN" altLang="en-US" sz="1800"/>
          </a:p>
          <a:p>
            <a:pPr marL="0" indent="0">
              <a:buNone/>
            </a:pPr>
            <a:r>
              <a:rPr lang="zh-CN" altLang="en-US" sz="1800"/>
              <a:t>            在当前节点后创建一个新的叶节点</a:t>
            </a:r>
            <a:endParaRPr lang="zh-CN" altLang="en-US" sz="1800"/>
          </a:p>
          <a:p>
            <a:pPr marL="0" indent="0">
              <a:buNone/>
            </a:pPr>
            <a:r>
              <a:rPr lang="zh-CN" altLang="en-US" sz="1800"/>
              <a:t>          else</a:t>
            </a:r>
            <a:endParaRPr lang="zh-CN" altLang="en-US" sz="1800"/>
          </a:p>
          <a:p>
            <a:pPr marL="0" indent="0">
              <a:buNone/>
            </a:pPr>
            <a:r>
              <a:rPr lang="zh-CN" altLang="en-US" sz="1800"/>
              <a:t>            done = true;</a:t>
            </a:r>
            <a:endParaRPr lang="zh-CN" altLang="en-US" sz="1800"/>
          </a:p>
          <a:p>
            <a:pPr marL="0" indent="0">
              <a:buNone/>
            </a:pPr>
            <a:r>
              <a:rPr lang="zh-CN" altLang="en-US" sz="1800"/>
              <a:t>        } </a:t>
            </a:r>
            <a:endParaRPr lang="zh-CN" altLang="en-US" sz="1800"/>
          </a:p>
          <a:p>
            <a:pPr marL="0" indent="0">
              <a:buNone/>
            </a:pPr>
            <a:r>
              <a:rPr lang="zh-CN" altLang="en-US" sz="1800">
                <a:sym typeface="+mn-ea"/>
              </a:rPr>
              <a:t>        else {</a:t>
            </a:r>
            <a:endParaRPr lang="zh-CN" altLang="en-US" sz="1800"/>
          </a:p>
          <a:p>
            <a:pPr marL="0" indent="0">
              <a:buNone/>
            </a:pPr>
            <a:r>
              <a:rPr lang="zh-CN" altLang="en-US" sz="1800">
                <a:sym typeface="+mn-ea"/>
              </a:rPr>
              <a:t>          if  当前隐式节点的下一个字符不是待加字符{</a:t>
            </a:r>
            <a:endParaRPr lang="zh-CN" altLang="en-US" sz="1800"/>
          </a:p>
          <a:p>
            <a:pPr marL="0" indent="0">
              <a:buNone/>
            </a:pPr>
            <a:r>
              <a:rPr lang="zh-CN" altLang="en-US" sz="1800">
                <a:sym typeface="+mn-ea"/>
              </a:rPr>
              <a:t>            从隐式节点后分割此边</a:t>
            </a:r>
            <a:endParaRPr lang="zh-CN" altLang="en-US" sz="1800">
              <a:sym typeface="+mn-ea"/>
            </a:endParaRPr>
          </a:p>
          <a:p>
            <a:pPr marL="0" indent="0">
              <a:buNone/>
            </a:pPr>
            <a:r>
              <a:rPr lang="zh-CN" altLang="en-US" sz="1800">
                <a:sym typeface="+mn-ea"/>
              </a:rPr>
              <a:t>            在分割处创建一个新的叶节点</a:t>
            </a:r>
            <a:endParaRPr lang="zh-CN" altLang="en-US" sz="1800">
              <a:sym typeface="+mn-ea"/>
            </a:endParaRPr>
          </a:p>
          <a:p>
            <a:pPr marL="0" indent="0">
              <a:buNone/>
            </a:pPr>
            <a:r>
              <a:rPr lang="zh-CN" altLang="en-US" sz="1800">
                <a:sym typeface="+mn-ea"/>
              </a:rPr>
              <a:t>          } </a:t>
            </a:r>
            <a:endParaRPr lang="zh-CN" altLang="en-US" sz="1200"/>
          </a:p>
          <a:p>
            <a:pPr marL="0" indent="0">
              <a:buNone/>
            </a:pPr>
            <a:r>
              <a:rPr lang="zh-CN" altLang="en-US" sz="1600">
                <a:sym typeface="+mn-ea"/>
              </a:rPr>
              <a:t>           else</a:t>
            </a:r>
            <a:endParaRPr lang="zh-CN" altLang="en-US" sz="1600"/>
          </a:p>
          <a:p>
            <a:pPr marL="0" indent="0">
              <a:buNone/>
            </a:pPr>
            <a:r>
              <a:rPr lang="zh-CN" altLang="en-US" sz="1600">
                <a:sym typeface="+mn-ea"/>
              </a:rPr>
              <a:t>             done = true;</a:t>
            </a:r>
            <a:endParaRPr lang="zh-CN" altLang="en-US" sz="1600"/>
          </a:p>
          <a:p>
            <a:pPr marL="0" indent="0">
              <a:buNone/>
            </a:pPr>
            <a:r>
              <a:rPr lang="zh-CN" altLang="en-US" sz="1600">
                <a:sym typeface="+mn-ea"/>
              </a:rPr>
              <a:t>          }</a:t>
            </a:r>
            <a:endParaRPr lang="zh-CN" altLang="en-US" sz="1600"/>
          </a:p>
        </p:txBody>
      </p:sp>
      <p:sp>
        <p:nvSpPr>
          <p:cNvPr id="5" name="文本框 4"/>
          <p:cNvSpPr txBox="1"/>
          <p:nvPr/>
        </p:nvSpPr>
        <p:spPr>
          <a:xfrm>
            <a:off x="6519545" y="387350"/>
            <a:ext cx="5586730" cy="2014220"/>
          </a:xfrm>
          <a:prstGeom prst="rect">
            <a:avLst/>
          </a:prstGeom>
          <a:noFill/>
        </p:spPr>
        <p:txBody>
          <a:bodyPr wrap="square" rtlCol="0">
            <a:spAutoFit/>
          </a:bodyPr>
          <a:p>
            <a:pPr marL="0" indent="0">
              <a:buNone/>
            </a:pPr>
            <a:r>
              <a:rPr lang="zh-CN" altLang="en-US">
                <a:sym typeface="+mn-ea"/>
              </a:rPr>
              <a:t>      if 当前后缀是空后缀</a:t>
            </a:r>
            <a:endParaRPr lang="zh-CN" altLang="en-US">
              <a:sym typeface="+mn-ea"/>
            </a:endParaRPr>
          </a:p>
          <a:p>
            <a:pPr marL="0" indent="0">
              <a:buNone/>
            </a:pPr>
            <a:r>
              <a:rPr lang="zh-CN" altLang="en-US">
                <a:sym typeface="+mn-ea"/>
              </a:rPr>
              <a:t>          done = true;</a:t>
            </a:r>
            <a:endParaRPr lang="zh-CN" altLang="en-US"/>
          </a:p>
          <a:p>
            <a:pPr marL="0" indent="0">
              <a:buNone/>
            </a:pPr>
            <a:r>
              <a:rPr lang="zh-CN" altLang="en-US">
                <a:sym typeface="+mn-ea"/>
              </a:rPr>
              <a:t>       else</a:t>
            </a:r>
            <a:endParaRPr lang="zh-CN" altLang="en-US"/>
          </a:p>
          <a:p>
            <a:pPr marL="0" indent="0">
              <a:buNone/>
            </a:pPr>
            <a:r>
              <a:rPr lang="zh-CN" altLang="en-US">
                <a:sym typeface="+mn-ea"/>
              </a:rPr>
              <a:t>           当前后缀 = 后缀指针或</a:t>
            </a:r>
            <a:r>
              <a:rPr lang="en-US" altLang="zh-CN">
                <a:sym typeface="+mn-ea"/>
              </a:rPr>
              <a:t>root</a:t>
            </a:r>
            <a:endParaRPr lang="en-US" altLang="zh-CN">
              <a:sym typeface="+mn-ea"/>
            </a:endParaRPr>
          </a:p>
          <a:p>
            <a:pPr marL="0" indent="0">
              <a:buNone/>
            </a:pPr>
            <a:r>
              <a:rPr lang="zh-CN" altLang="en-US">
                <a:sym typeface="+mn-ea"/>
              </a:rPr>
              <a:t>     }</a:t>
            </a:r>
            <a:endParaRPr lang="zh-CN" altLang="en-US"/>
          </a:p>
          <a:p>
            <a:pPr marL="0" indent="0">
              <a:buNone/>
            </a:pPr>
            <a:r>
              <a:rPr lang="zh-CN" altLang="en-US">
                <a:sym typeface="+mn-ea"/>
              </a:rPr>
              <a:t>     活动节点 = 当前后缀</a:t>
            </a:r>
            <a:endParaRPr lang="zh-CN" altLang="en-US">
              <a:sym typeface="+mn-ea"/>
            </a:endParaRPr>
          </a:p>
          <a:p>
            <a:pPr marL="0" indent="0">
              <a:buNone/>
            </a:pPr>
            <a:r>
              <a:rPr lang="zh-CN" altLang="en-US">
                <a:sym typeface="+mn-ea"/>
              </a:rPr>
              <a:t>}</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0">
          <a:blip r:embed="rId1">
            <a:alphaModFix amt="32000"/>
          </a:blip>
          <a:stretch>
            <a:fillRect/>
          </a:stretch>
        </a:blipFill>
        <a:effectLst/>
      </p:bgPr>
    </p:bg>
    <p:spTree>
      <p:nvGrpSpPr>
        <p:cNvPr id="1" name=""/>
        <p:cNvGrpSpPr/>
        <p:nvPr/>
      </p:nvGrpSpPr>
      <p:grpSpPr/>
      <p:sp>
        <p:nvSpPr>
          <p:cNvPr id="3" name="内容占位符 2"/>
          <p:cNvSpPr>
            <a:spLocks noGrp="1"/>
          </p:cNvSpPr>
          <p:nvPr>
            <p:ph idx="1"/>
          </p:nvPr>
        </p:nvSpPr>
        <p:spPr>
          <a:xfrm>
            <a:off x="809625" y="1062355"/>
            <a:ext cx="10515600" cy="5652135"/>
          </a:xfrm>
        </p:spPr>
        <p:txBody>
          <a:bodyPr/>
          <a:p>
            <a:pPr marL="0" indent="0" algn="ctr">
              <a:buNone/>
            </a:pPr>
            <a:endParaRPr lang="zh-CN" altLang="en-US">
              <a:hlinkClick r:id="rId2" action="ppaction://hlinkfile"/>
            </a:endParaRPr>
          </a:p>
          <a:p>
            <a:pPr marL="0" indent="0" algn="ctr">
              <a:buNone/>
            </a:pPr>
            <a:endParaRPr lang="zh-CN" altLang="en-US">
              <a:hlinkClick r:id="rId2" action="ppaction://hlinkfile"/>
            </a:endParaRPr>
          </a:p>
          <a:p>
            <a:pPr marL="0" indent="0" algn="ctr">
              <a:buNone/>
            </a:pPr>
            <a:endParaRPr lang="zh-CN" altLang="en-US">
              <a:hlinkClick r:id="rId2" action="ppaction://hlinkfile"/>
            </a:endParaRPr>
          </a:p>
          <a:p>
            <a:pPr marL="0" indent="0" algn="ctr">
              <a:buNone/>
            </a:pPr>
            <a:r>
              <a:rPr lang="zh-CN" altLang="en-US">
                <a:hlinkClick r:id="rId2" action="ppaction://hlinkfile"/>
              </a:rPr>
              <a:t>你们要的代码</a:t>
            </a:r>
            <a:endParaRPr lang="zh-CN" altLang="en-US"/>
          </a:p>
        </p:txBody>
      </p:sp>
      <p:sp>
        <p:nvSpPr>
          <p:cNvPr id="4" name="矩形 3"/>
          <p:cNvSpPr/>
          <p:nvPr/>
        </p:nvSpPr>
        <p:spPr>
          <a:xfrm>
            <a:off x="2178050" y="1999615"/>
            <a:ext cx="2263140" cy="777240"/>
          </a:xfrm>
          <a:prstGeom prst="rect">
            <a:avLst/>
          </a:prstGeom>
          <a:gradFill>
            <a:gsLst>
              <a:gs pos="100000">
                <a:schemeClr val="bg1"/>
              </a:gs>
              <a:gs pos="67000">
                <a:schemeClr val="bg1"/>
              </a:gs>
              <a:gs pos="43000">
                <a:srgbClr val="ECECEC">
                  <a:alpha val="100000"/>
                </a:srgbClr>
              </a:gs>
              <a:gs pos="12000">
                <a:schemeClr val="bg1">
                  <a:lumMod val="85000"/>
                </a:schemeClr>
              </a:gs>
            </a:gsLst>
            <a:lin ang="3600000" scaled="0"/>
          </a:gradFill>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
        <p:nvSpPr>
          <p:cNvPr id="6" name="矩形 5"/>
          <p:cNvSpPr/>
          <p:nvPr/>
        </p:nvSpPr>
        <p:spPr>
          <a:xfrm>
            <a:off x="7683500" y="2002790"/>
            <a:ext cx="2263140" cy="777240"/>
          </a:xfrm>
          <a:prstGeom prst="rect">
            <a:avLst/>
          </a:prstGeom>
          <a:gradFill>
            <a:gsLst>
              <a:gs pos="100000">
                <a:schemeClr val="bg1"/>
              </a:gs>
              <a:gs pos="67000">
                <a:schemeClr val="bg1"/>
              </a:gs>
              <a:gs pos="43000">
                <a:srgbClr val="ECECEC">
                  <a:alpha val="100000"/>
                </a:srgbClr>
              </a:gs>
              <a:gs pos="12000">
                <a:schemeClr val="bg1">
                  <a:lumMod val="85000"/>
                </a:schemeClr>
              </a:gs>
            </a:gsLst>
            <a:lin ang="3600000" scaled="0"/>
          </a:gradFill>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1" presetClass="entr" presetSubtype="0" fill="hold" grpId="0" nodeType="clickEffect">
                                  <p:stCondLst>
                                    <p:cond delay="0"/>
                                  </p:stCondLst>
                                  <p:childTnLst>
                                    <p:set>
                                      <p:cBhvr>
                                        <p:cTn id="6" dur="500">
                                          <p:stCondLst>
                                            <p:cond delay="0"/>
                                          </p:stCondLst>
                                        </p:cTn>
                                        <p:tgtEl>
                                          <p:spTgt spid="4"/>
                                        </p:tgtEl>
                                        <p:attrNameLst>
                                          <p:attrName>style.visibility</p:attrName>
                                        </p:attrNameLst>
                                      </p:cBhvr>
                                      <p:to>
                                        <p:strVal val="visible"/>
                                      </p:to>
                                    </p:set>
                                  </p:childTnLst>
                                </p:cTn>
                              </p:par>
                              <p:par>
                                <p:cTn id="7" presetID="11" presetClass="entr" presetSubtype="0" fill="hold" grpId="0" nodeType="withEffect">
                                  <p:stCondLst>
                                    <p:cond delay="0"/>
                                  </p:stCondLst>
                                  <p:childTnLst>
                                    <p:set>
                                      <p:cBhvr>
                                        <p:cTn id="8" dur="500">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1">
            <a:alphaModFix amt="52000"/>
          </a:blip>
          <a:stretch>
            <a:fillRect/>
          </a:stretch>
        </a:blipFill>
        <a:effectLst/>
      </p:bgPr>
    </p:bg>
    <p:spTree>
      <p:nvGrpSpPr>
        <p:cNvPr id="1" name=""/>
        <p:cNvGrpSpPr/>
        <p:nvPr/>
      </p:nvGrpSpPr>
      <p:grpSpPr/>
      <p:sp>
        <p:nvSpPr>
          <p:cNvPr id="2" name="标题 1"/>
          <p:cNvSpPr>
            <a:spLocks noGrp="1"/>
          </p:cNvSpPr>
          <p:nvPr>
            <p:ph type="title"/>
          </p:nvPr>
        </p:nvSpPr>
        <p:spPr/>
        <p:txBody>
          <a:bodyPr/>
          <a:p>
            <a:r>
              <a:rPr lang="zh-CN" altLang="en-US"/>
              <a:t>我是不是应该说结束了</a:t>
            </a:r>
            <a:r>
              <a:rPr lang="en-US" altLang="zh-CN"/>
              <a:t>——</a:t>
            </a:r>
            <a:endParaRPr lang="en-US" altLang="zh-CN"/>
          </a:p>
        </p:txBody>
      </p:sp>
      <p:sp>
        <p:nvSpPr>
          <p:cNvPr id="4" name="矩形 3"/>
          <p:cNvSpPr/>
          <p:nvPr/>
        </p:nvSpPr>
        <p:spPr>
          <a:xfrm>
            <a:off x="2219960" y="1985645"/>
            <a:ext cx="2220595" cy="777240"/>
          </a:xfrm>
          <a:prstGeom prst="rect">
            <a:avLst/>
          </a:prstGeom>
          <a:gradFill>
            <a:gsLst>
              <a:gs pos="100000">
                <a:schemeClr val="bg1"/>
              </a:gs>
              <a:gs pos="67000">
                <a:schemeClr val="bg1"/>
              </a:gs>
              <a:gs pos="43000">
                <a:srgbClr val="ECECEC">
                  <a:alpha val="100000"/>
                </a:srgbClr>
              </a:gs>
              <a:gs pos="12000">
                <a:schemeClr val="bg1">
                  <a:lumMod val="85000"/>
                </a:schemeClr>
              </a:gs>
            </a:gsLst>
            <a:lin ang="3600000" scaled="0"/>
          </a:gradFill>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
        <p:nvSpPr>
          <p:cNvPr id="6" name="矩形 5"/>
          <p:cNvSpPr/>
          <p:nvPr/>
        </p:nvSpPr>
        <p:spPr>
          <a:xfrm>
            <a:off x="7725410" y="1988185"/>
            <a:ext cx="2220595" cy="777240"/>
          </a:xfrm>
          <a:prstGeom prst="rect">
            <a:avLst/>
          </a:prstGeom>
          <a:gradFill>
            <a:gsLst>
              <a:gs pos="100000">
                <a:schemeClr val="bg1"/>
              </a:gs>
              <a:gs pos="67000">
                <a:schemeClr val="bg1"/>
              </a:gs>
              <a:gs pos="43000">
                <a:srgbClr val="ECECEC">
                  <a:alpha val="100000"/>
                </a:srgbClr>
              </a:gs>
              <a:gs pos="12000">
                <a:schemeClr val="bg1">
                  <a:lumMod val="85000"/>
                </a:schemeClr>
              </a:gs>
            </a:gsLst>
            <a:lin ang="3600000" scaled="0"/>
          </a:gradFill>
        </p:spPr>
        <p:style>
          <a:lnRef idx="2">
            <a:schemeClr val="accent3"/>
          </a:lnRef>
          <a:fillRef idx="1">
            <a:schemeClr val="lt1"/>
          </a:fillRef>
          <a:effectRef idx="0">
            <a:schemeClr val="accent3"/>
          </a:effectRef>
          <a:fontRef idx="minor">
            <a:schemeClr val="dk1"/>
          </a:fontRef>
        </p:style>
        <p:txBody>
          <a:bodyPr rtlCol="0" anchor="ctr"/>
          <a:p>
            <a:pPr algn="ctr"/>
            <a:endParaRPr lang="zh-CN" altLang="en-US"/>
          </a:p>
        </p:txBody>
      </p:sp>
      <p:sp>
        <p:nvSpPr>
          <p:cNvPr id="7" name="矩形 6"/>
          <p:cNvSpPr/>
          <p:nvPr/>
        </p:nvSpPr>
        <p:spPr>
          <a:xfrm>
            <a:off x="4632960" y="3042920"/>
            <a:ext cx="2926080" cy="914400"/>
          </a:xfrm>
          <a:prstGeom prst="rect">
            <a:avLst/>
          </a:prstGeom>
          <a:noFill/>
          <a:ln>
            <a:noFill/>
          </a:ln>
        </p:spPr>
        <p:txBody>
          <a:bodyPr wrap="none" rtlCol="0" anchor="t">
            <a:spAutoFit/>
            <a:scene3d>
              <a:camera prst="orthographicFront"/>
              <a:lightRig rig="threePt" dir="t"/>
            </a:scene3d>
          </a:bodyPr>
          <a:p>
            <a:pPr algn="ctr"/>
            <a:r>
              <a:rPr lang="zh-CN" altLang="en-US" sz="5400">
                <a:ln w="22225">
                  <a:solidFill>
                    <a:schemeClr val="accent2"/>
                  </a:solidFill>
                  <a:prstDash val="solid"/>
                </a:ln>
                <a:solidFill>
                  <a:schemeClr val="accent2">
                    <a:lumMod val="40000"/>
                    <a:lumOff val="60000"/>
                  </a:schemeClr>
                </a:solidFill>
                <a:effectLst/>
              </a:rPr>
              <a:t>谢谢观赏</a:t>
            </a:r>
            <a:endParaRPr lang="zh-CN" altLang="en-US" sz="5400">
              <a:ln w="22225">
                <a:solidFill>
                  <a:schemeClr val="accent2"/>
                </a:solidFill>
                <a:prstDash val="solid"/>
              </a:ln>
              <a:solidFill>
                <a:schemeClr val="accent2">
                  <a:lumMod val="40000"/>
                  <a:lumOff val="60000"/>
                </a:schemeClr>
              </a:solidFill>
              <a:effectLst/>
            </a:endParaRPr>
          </a:p>
        </p:txBody>
      </p:sp>
      <p:sp>
        <p:nvSpPr>
          <p:cNvPr id="8" name="矩形 7"/>
          <p:cNvSpPr/>
          <p:nvPr/>
        </p:nvSpPr>
        <p:spPr>
          <a:xfrm>
            <a:off x="12233593" y="3248660"/>
            <a:ext cx="6862445" cy="583565"/>
          </a:xfrm>
          <a:prstGeom prst="rect">
            <a:avLst/>
          </a:prstGeom>
          <a:noFill/>
          <a:ln>
            <a:noFill/>
          </a:ln>
        </p:spPr>
        <p:txBody>
          <a:bodyPr wrap="none" rtlCol="0" anchor="t">
            <a:spAutoFit/>
          </a:bodyPr>
          <a:p>
            <a:pPr algn="ctr"/>
            <a:r>
              <a:rPr lang="en-US" altLang="zh-CN" sz="3200">
                <a:ln w="22225">
                  <a:solidFill>
                    <a:schemeClr val="accent2"/>
                  </a:solidFill>
                  <a:prstDash val="solid"/>
                </a:ln>
                <a:solidFill>
                  <a:schemeClr val="accent2">
                    <a:lumMod val="40000"/>
                    <a:lumOff val="60000"/>
                  </a:schemeClr>
                </a:solidFill>
                <a:effectLst/>
              </a:rPr>
              <a:t>p.s:</a:t>
            </a:r>
            <a:r>
              <a:rPr lang="zh-CN" altLang="en-US" sz="3200">
                <a:ln w="22225">
                  <a:solidFill>
                    <a:schemeClr val="accent2"/>
                  </a:solidFill>
                  <a:prstDash val="solid"/>
                </a:ln>
                <a:solidFill>
                  <a:schemeClr val="accent2">
                    <a:lumMod val="40000"/>
                    <a:lumOff val="60000"/>
                  </a:schemeClr>
                </a:solidFill>
                <a:effectLst/>
              </a:rPr>
              <a:t>因为某些原因没有题。。。愉悦吧</a:t>
            </a:r>
            <a:endParaRPr lang="zh-CN" altLang="en-US" sz="3200">
              <a:ln w="22225">
                <a:solidFill>
                  <a:schemeClr val="accent2"/>
                </a:solidFill>
                <a:prstDash val="solid"/>
              </a:ln>
              <a:solidFill>
                <a:schemeClr val="accent2">
                  <a:lumMod val="40000"/>
                  <a:lumOff val="60000"/>
                </a:schemeClr>
              </a:solidFill>
              <a:effectLst/>
            </a:endParaRPr>
          </a:p>
        </p:txBody>
      </p:sp>
      <p:sp>
        <p:nvSpPr>
          <p:cNvPr id="9" name="文本框 8"/>
          <p:cNvSpPr txBox="1"/>
          <p:nvPr/>
        </p:nvSpPr>
        <p:spPr>
          <a:xfrm>
            <a:off x="1074420" y="3583940"/>
            <a:ext cx="3479165" cy="2011680"/>
          </a:xfrm>
          <a:prstGeom prst="rect">
            <a:avLst/>
          </a:prstGeom>
          <a:noFill/>
        </p:spPr>
        <p:txBody>
          <a:bodyPr wrap="square" rtlCol="0">
            <a:spAutoFit/>
          </a:bodyPr>
          <a:p>
            <a:r>
              <a:rPr lang="zh-CN" altLang="en-US"/>
              <a:t>参考资料：</a:t>
            </a:r>
            <a:endParaRPr lang="zh-CN" altLang="en-US"/>
          </a:p>
          <a:p>
            <a:r>
              <a:rPr lang="en-US" altLang="zh-CN">
                <a:hlinkClick r:id="rId2"/>
              </a:rPr>
              <a:t>Suffix tree and Suffix array</a:t>
            </a:r>
            <a:endParaRPr lang="en-US" altLang="zh-CN">
              <a:hlinkClick r:id="rId2"/>
            </a:endParaRPr>
          </a:p>
          <a:p>
            <a:r>
              <a:rPr lang="en-US" altLang="zh-CN">
                <a:hlinkClick r:id="rId2"/>
              </a:rPr>
              <a:t>techniques for pattern analysis in string</a:t>
            </a:r>
            <a:endParaRPr lang="en-US" altLang="zh-CN">
              <a:hlinkClick r:id="rId2"/>
            </a:endParaRPr>
          </a:p>
          <a:p>
            <a:endParaRPr lang="zh-CN" altLang="en-US"/>
          </a:p>
          <a:p>
            <a:r>
              <a:rPr lang="zh-CN" altLang="en-US">
                <a:hlinkClick r:id="rId3"/>
              </a:rPr>
              <a:t>Ukkonen's suffix tree algorithm in plain English</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45052 0.001944 L -1.373854 0.005093 " pathEditMode="relative" rAng="0" ptsTypes="">
                                      <p:cBhvr>
                                        <p:cTn id="6" dur="5000" fill="hold"/>
                                        <p:tgtEl>
                                          <p:spTgt spid="8"/>
                                        </p:tgtEl>
                                        <p:attrNameLst>
                                          <p:attrName>ppt_x</p:attrName>
                                          <p:attrName>ppt_y</p:attrName>
                                        </p:attrNameLst>
                                      </p:cBhvr>
                                      <p:rCtr x="-360" y="2"/>
                                    </p:animMotion>
                                  </p:childTnLst>
                                </p:cTn>
                              </p:par>
                              <p:par>
                                <p:cTn id="7" presetID="14" presetClass="emph" presetSubtype="0" fill="hold" grpId="5" nodeType="withEffect">
                                  <p:stCondLst>
                                    <p:cond delay="0"/>
                                  </p:stCondLst>
                                  <p:childTnLst>
                                    <p:animClr clrSpc="rgb" dir="cw">
                                      <p:cBhvr override="childStyle">
                                        <p:cTn id="8" dur="1900" fill="hold">
                                          <p:stCondLst>
                                            <p:cond delay="100"/>
                                          </p:stCondLst>
                                        </p:cTn>
                                        <p:tgtEl>
                                          <p:spTgt spid="4"/>
                                        </p:tgtEl>
                                        <p:attrNameLst>
                                          <p:attrName>style.color</p:attrName>
                                        </p:attrNameLst>
                                      </p:cBhvr>
                                      <p:to>
                                        <a:schemeClr val="accent2"/>
                                      </p:to>
                                    </p:animClr>
                                    <p:animClr clrSpc="rgb" dir="cw">
                                      <p:cBhvr>
                                        <p:cTn id="9" dur="1900" fill="hold">
                                          <p:stCondLst>
                                            <p:cond delay="100"/>
                                          </p:stCondLst>
                                        </p:cTn>
                                        <p:tgtEl>
                                          <p:spTgt spid="4"/>
                                        </p:tgtEl>
                                        <p:attrNameLst>
                                          <p:attrName>fillcolor</p:attrName>
                                        </p:attrNameLst>
                                      </p:cBhvr>
                                      <p:to>
                                        <a:schemeClr val="accent2"/>
                                      </p:to>
                                    </p:animClr>
                                    <p:set>
                                      <p:cBhvr>
                                        <p:cTn id="10" dur="1900" fill="hold">
                                          <p:stCondLst>
                                            <p:cond delay="100"/>
                                          </p:stCondLst>
                                        </p:cTn>
                                        <p:tgtEl>
                                          <p:spTgt spid="4"/>
                                        </p:tgtEl>
                                        <p:attrNameLst>
                                          <p:attrName>fill.type</p:attrName>
                                        </p:attrNameLst>
                                      </p:cBhvr>
                                      <p:to>
                                        <p:strVal val="solid"/>
                                      </p:to>
                                    </p:set>
                                    <p:set>
                                      <p:cBhvr>
                                        <p:cTn id="11" dur="1900" fill="hold">
                                          <p:stCondLst>
                                            <p:cond delay="100"/>
                                          </p:stCondLst>
                                        </p:cTn>
                                        <p:tgtEl>
                                          <p:spTgt spid="4"/>
                                        </p:tgtEl>
                                        <p:attrNameLst>
                                          <p:attrName>fill.on</p:attrName>
                                        </p:attrNameLst>
                                      </p:cBhvr>
                                      <p:to>
                                        <p:strVal val="true"/>
                                      </p:to>
                                    </p:set>
                                    <p:animScale>
                                      <p:cBhvr>
                                        <p:cTn id="12" dur="200" fill="hold">
                                          <p:stCondLst>
                                            <p:cond delay="0"/>
                                          </p:stCondLst>
                                        </p:cTn>
                                        <p:tgtEl>
                                          <p:spTgt spid="4"/>
                                        </p:tgtEl>
                                      </p:cBhvr>
                                      <p:from x="100000" y="100000"/>
                                      <p:to x="100000" y="5000"/>
                                    </p:animScale>
                                    <p:animScale>
                                      <p:cBhvr>
                                        <p:cTn id="13" dur="200" fill="hold">
                                          <p:stCondLst>
                                            <p:cond delay="200"/>
                                          </p:stCondLst>
                                        </p:cTn>
                                        <p:tgtEl>
                                          <p:spTgt spid="4"/>
                                        </p:tgtEl>
                                      </p:cBhvr>
                                      <p:from x="100000" y="5000"/>
                                      <p:to x="120000" y="150000"/>
                                    </p:animScale>
                                    <p:animScale>
                                      <p:cBhvr>
                                        <p:cTn id="14" dur="600" fill="hold">
                                          <p:stCondLst>
                                            <p:cond delay="1400"/>
                                          </p:stCondLst>
                                        </p:cTn>
                                        <p:tgtEl>
                                          <p:spTgt spid="4"/>
                                        </p:tgtEl>
                                      </p:cBhvr>
                                      <p:to x="120000" y="150000"/>
                                    </p:animScale>
                                  </p:childTnLst>
                                </p:cTn>
                              </p:par>
                              <p:par>
                                <p:cTn id="15" presetID="14" presetClass="emph" presetSubtype="0" fill="hold" grpId="5" nodeType="withEffect">
                                  <p:stCondLst>
                                    <p:cond delay="0"/>
                                  </p:stCondLst>
                                  <p:childTnLst>
                                    <p:animClr clrSpc="rgb" dir="cw">
                                      <p:cBhvr override="childStyle">
                                        <p:cTn id="16" dur="1900" fill="hold">
                                          <p:stCondLst>
                                            <p:cond delay="100"/>
                                          </p:stCondLst>
                                        </p:cTn>
                                        <p:tgtEl>
                                          <p:spTgt spid="6"/>
                                        </p:tgtEl>
                                        <p:attrNameLst>
                                          <p:attrName>style.color</p:attrName>
                                        </p:attrNameLst>
                                      </p:cBhvr>
                                      <p:to>
                                        <a:schemeClr val="accent2"/>
                                      </p:to>
                                    </p:animClr>
                                    <p:animClr clrSpc="rgb" dir="cw">
                                      <p:cBhvr>
                                        <p:cTn id="17" dur="1900" fill="hold">
                                          <p:stCondLst>
                                            <p:cond delay="100"/>
                                          </p:stCondLst>
                                        </p:cTn>
                                        <p:tgtEl>
                                          <p:spTgt spid="6"/>
                                        </p:tgtEl>
                                        <p:attrNameLst>
                                          <p:attrName>fillcolor</p:attrName>
                                        </p:attrNameLst>
                                      </p:cBhvr>
                                      <p:to>
                                        <a:schemeClr val="accent2"/>
                                      </p:to>
                                    </p:animClr>
                                    <p:set>
                                      <p:cBhvr>
                                        <p:cTn id="18" dur="1900" fill="hold">
                                          <p:stCondLst>
                                            <p:cond delay="100"/>
                                          </p:stCondLst>
                                        </p:cTn>
                                        <p:tgtEl>
                                          <p:spTgt spid="6"/>
                                        </p:tgtEl>
                                        <p:attrNameLst>
                                          <p:attrName>fill.type</p:attrName>
                                        </p:attrNameLst>
                                      </p:cBhvr>
                                      <p:to>
                                        <p:strVal val="solid"/>
                                      </p:to>
                                    </p:set>
                                    <p:set>
                                      <p:cBhvr>
                                        <p:cTn id="19" dur="1900" fill="hold">
                                          <p:stCondLst>
                                            <p:cond delay="100"/>
                                          </p:stCondLst>
                                        </p:cTn>
                                        <p:tgtEl>
                                          <p:spTgt spid="6"/>
                                        </p:tgtEl>
                                        <p:attrNameLst>
                                          <p:attrName>fill.on</p:attrName>
                                        </p:attrNameLst>
                                      </p:cBhvr>
                                      <p:to>
                                        <p:strVal val="true"/>
                                      </p:to>
                                    </p:set>
                                    <p:animScale>
                                      <p:cBhvr>
                                        <p:cTn id="20" dur="200" fill="hold">
                                          <p:stCondLst>
                                            <p:cond delay="0"/>
                                          </p:stCondLst>
                                        </p:cTn>
                                        <p:tgtEl>
                                          <p:spTgt spid="6"/>
                                        </p:tgtEl>
                                      </p:cBhvr>
                                      <p:from x="100000" y="100000"/>
                                      <p:to x="100000" y="5000"/>
                                    </p:animScale>
                                    <p:animScale>
                                      <p:cBhvr>
                                        <p:cTn id="21" dur="200" fill="hold">
                                          <p:stCondLst>
                                            <p:cond delay="200"/>
                                          </p:stCondLst>
                                        </p:cTn>
                                        <p:tgtEl>
                                          <p:spTgt spid="6"/>
                                        </p:tgtEl>
                                      </p:cBhvr>
                                      <p:from x="100000" y="5000"/>
                                      <p:to x="120000" y="150000"/>
                                    </p:animScale>
                                    <p:animScale>
                                      <p:cBhvr>
                                        <p:cTn id="22" dur="600" fill="hold">
                                          <p:stCondLst>
                                            <p:cond delay="1400"/>
                                          </p:stCondLst>
                                        </p:cTn>
                                        <p:tgtEl>
                                          <p:spTgt spid="6"/>
                                        </p:tgtEl>
                                      </p:cBhvr>
                                      <p:to x="12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4" grpId="1" animBg="1"/>
      <p:bldP spid="6" grpId="1" animBg="1"/>
      <p:bldP spid="4" grpId="2" animBg="1"/>
      <p:bldP spid="6" grpId="2" animBg="1"/>
      <p:bldP spid="4" grpId="3" animBg="1"/>
      <p:bldP spid="6" grpId="3" animBg="1"/>
      <p:bldP spid="4" grpId="4" animBg="1"/>
      <p:bldP spid="6" grpId="4" animBg="1"/>
      <p:bldP spid="4" grpId="5" animBg="1"/>
      <p:bldP spid="6" grpId="5"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bg1"/>
            </a:gs>
            <a:gs pos="64000">
              <a:srgbClr val="ECECEC">
                <a:alpha val="100000"/>
              </a:srgbClr>
            </a:gs>
            <a:gs pos="100000">
              <a:schemeClr val="bg1">
                <a:lumMod val="85000"/>
              </a:schemeClr>
            </a:gs>
          </a:gsLst>
          <a:path path="rect">
            <a:fillToRect l="50000" t="50000" r="50000" b="50000"/>
          </a:path>
          <a:tileRect/>
        </a:gradFill>
      </a:spPr>
      <a:bodyPr rtlCol="0" anchor="ctr"/>
      <a:lstStyle>
        <a:defPPr algn="ctr">
          <a:defRPr lang="zh-CN" altLang="en-US"/>
        </a:defPPr>
      </a:lstStyle>
      <a:style>
        <a:lnRef idx="2">
          <a:schemeClr val="accent3"/>
        </a:lnRef>
        <a:fillRef idx="1">
          <a:schemeClr val="lt1"/>
        </a:fillRef>
        <a:effectRef idx="0">
          <a:schemeClr val="accent3"/>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9093</Words>
  <Application>WPS 演示</Application>
  <PresentationFormat>宽屏</PresentationFormat>
  <Paragraphs>493</Paragraphs>
  <Slides>61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61</vt:i4>
      </vt:variant>
    </vt:vector>
  </HeadingPairs>
  <TitlesOfParts>
    <vt:vector size="69" baseType="lpstr">
      <vt:lpstr>Arial</vt:lpstr>
      <vt:lpstr>宋体</vt:lpstr>
      <vt:lpstr>Wingdings</vt:lpstr>
      <vt:lpstr>Calibri</vt:lpstr>
      <vt:lpstr>微软雅黑</vt:lpstr>
      <vt:lpstr>Calibri Light</vt:lpstr>
      <vt:lpstr>Arial Unicode MS</vt:lpstr>
      <vt:lpstr>Office 主题</vt:lpstr>
      <vt:lpstr>PowerPoint 演示文稿</vt:lpstr>
      <vt:lpstr>PowerPoint 演示文稿</vt:lpstr>
      <vt:lpstr>1.前缀Trie树</vt:lpstr>
      <vt:lpstr>PowerPoint 演示文稿</vt:lpstr>
      <vt:lpstr>应用：</vt:lpstr>
      <vt:lpstr>2.后缀Trie树</vt:lpstr>
      <vt:lpstr>PowerPoint 演示文稿</vt:lpstr>
      <vt:lpstr>优势&amp;应用：</vt:lpstr>
      <vt:lpstr>更多的应用：</vt:lpstr>
      <vt:lpstr>PowerPoint 演示文稿</vt:lpstr>
      <vt:lpstr>后缀Trie的缺陷</vt:lpstr>
      <vt:lpstr>因此，回到今天的正题——后缀树</vt:lpstr>
      <vt:lpstr>3.后缀树</vt:lpstr>
      <vt:lpstr>引言：</vt:lpstr>
      <vt:lpstr>开始准备：</vt:lpstr>
      <vt:lpstr>让我们先演示一个简单的。。。</vt:lpstr>
      <vt:lpstr>PowerPoint 演示文稿</vt:lpstr>
      <vt:lpstr>PowerPoint 演示文稿</vt:lpstr>
      <vt:lpstr>PowerPoint 演示文稿</vt:lpstr>
      <vt:lpstr>PowerPoint 演示文稿</vt:lpstr>
      <vt:lpstr>PowerPoint 演示文稿</vt:lpstr>
      <vt:lpstr>正文警告-前方高能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警告-前方再次高能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不如来看看伪代码？？？</vt:lpstr>
      <vt:lpstr>PowerPoint 演示文稿</vt:lpstr>
      <vt:lpstr>PowerPoint 演示文稿</vt:lpstr>
      <vt:lpstr>我是不是应该说结束了——</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402</cp:lastModifiedBy>
  <cp:revision>10</cp:revision>
  <dcterms:created xsi:type="dcterms:W3CDTF">2015-05-05T08:02:00Z</dcterms:created>
  <dcterms:modified xsi:type="dcterms:W3CDTF">2017-01-19T08:59:35Z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2052-10.1.0.6135</vt:lpwstr>
  </property>
</Properties>
</file>