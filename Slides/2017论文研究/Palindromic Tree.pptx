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5"/>
  </p:notesMasterIdLst>
  <p:handoutMasterIdLst>
    <p:handoutMasterId r:id="rId46"/>
  </p:handoutMasterIdLst>
  <p:sldIdLst>
    <p:sldId id="256" r:id="rId2"/>
    <p:sldId id="279" r:id="rId3"/>
    <p:sldId id="272" r:id="rId4"/>
    <p:sldId id="274" r:id="rId5"/>
    <p:sldId id="282" r:id="rId6"/>
    <p:sldId id="260" r:id="rId7"/>
    <p:sldId id="259" r:id="rId8"/>
    <p:sldId id="261" r:id="rId9"/>
    <p:sldId id="262" r:id="rId10"/>
    <p:sldId id="263" r:id="rId11"/>
    <p:sldId id="264" r:id="rId12"/>
    <p:sldId id="265" r:id="rId13"/>
    <p:sldId id="266" r:id="rId14"/>
    <p:sldId id="268" r:id="rId15"/>
    <p:sldId id="269" r:id="rId16"/>
    <p:sldId id="270" r:id="rId17"/>
    <p:sldId id="273" r:id="rId18"/>
    <p:sldId id="275" r:id="rId19"/>
    <p:sldId id="276" r:id="rId20"/>
    <p:sldId id="277" r:id="rId21"/>
    <p:sldId id="278" r:id="rId22"/>
    <p:sldId id="280" r:id="rId23"/>
    <p:sldId id="281"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302" r:id="rId41"/>
    <p:sldId id="299" r:id="rId42"/>
    <p:sldId id="300" r:id="rId43"/>
    <p:sldId id="301" r:id="rId4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186" autoAdjust="0"/>
    <p:restoredTop sz="94599" autoAdjust="0"/>
  </p:normalViewPr>
  <p:slideViewPr>
    <p:cSldViewPr>
      <p:cViewPr varScale="1">
        <p:scale>
          <a:sx n="101" d="100"/>
          <a:sy n="101" d="100"/>
        </p:scale>
        <p:origin x="120" y="120"/>
      </p:cViewPr>
      <p:guideLst>
        <p:guide pos="3839"/>
        <p:guide orient="horz" pos="2160"/>
      </p:guideLst>
    </p:cSldViewPr>
  </p:slideViewPr>
  <p:notesTextViewPr>
    <p:cViewPr>
      <p:scale>
        <a:sx n="1" d="1"/>
        <a:sy n="1" d="1"/>
      </p:scale>
      <p:origin x="0" y="0"/>
    </p:cViewPr>
  </p:notesTextViewPr>
  <p:notesViewPr>
    <p:cSldViewPr showGuides="1">
      <p:cViewPr varScale="1">
        <p:scale>
          <a:sx n="87" d="100"/>
          <a:sy n="87" d="100"/>
        </p:scale>
        <p:origin x="3840"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rtl="0"/>
            <a:fld id="{EF20B349-F2EE-40B7-9A96-7F76E2326DFA}" type="datetime1">
              <a:rPr lang="zh-CN" altLang="en-US" smtClean="0">
                <a:latin typeface="Microsoft YaHei UI" panose="020B0503020204020204" pitchFamily="34" charset="-122"/>
                <a:ea typeface="Microsoft YaHei UI" panose="020B0503020204020204" pitchFamily="34" charset="-122"/>
              </a:rPr>
              <a:t>2017/6/7 Wednesday</a:t>
            </a:fld>
            <a:endParaRPr lang="zh-CN" altLang="en-US" dirty="0">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zh-CN" altLang="en-US" dirty="0">
              <a:latin typeface="Microsoft YaHei UI" panose="020B0503020204020204" pitchFamily="34" charset="-122"/>
              <a:ea typeface="Microsoft YaHei UI" panose="020B0503020204020204" pitchFamily="34" charset="-122"/>
            </a:endParaRPr>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A850423A-8BCE-448E-A97B-03A88B2B12C1}" type="slidenum">
              <a:rPr lang="en-US" altLang="zh-CN" smtClean="0">
                <a:latin typeface="Microsoft YaHei UI" panose="020B0503020204020204" pitchFamily="34" charset="-122"/>
                <a:ea typeface="Microsoft YaHei UI" panose="020B0503020204020204" pitchFamily="34" charset="-122"/>
              </a:rPr>
              <a:t>‹#›</a:t>
            </a:fld>
            <a:endParaRPr lang="zh-CN" alt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E79AF599-AE6F-4E1C-94D1-C707F302C5B5}" type="datetime1">
              <a:rPr lang="zh-CN" altLang="en-US" smtClean="0"/>
              <a:pPr/>
              <a:t>2017/6/7 Wednesday</a:t>
            </a:fld>
            <a:endParaRPr lang="zh-CN" altLang="en-US" dirty="0"/>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endParaRPr lang="zh-CN" altLang="en-US" dirty="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dirty="0"/>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01F2A70B-78F2-4DCF-B53B-C990D2FAFB8A}" type="slidenum">
              <a:rPr lang="en-US" altLang="zh-CN" smtClean="0"/>
              <a:pPr/>
              <a:t>‹#›</a:t>
            </a:fld>
            <a:endParaRPr lang="zh-CN" altLang="en-US" dirty="0"/>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F2A70B-78F2-4DCF-B53B-C990D2FAFB8A}" type="slidenum">
              <a:rPr lang="en-US" altLang="zh-CN" smtClean="0"/>
              <a:pPr/>
              <a:t>1</a:t>
            </a:fld>
            <a:endParaRPr lang="zh-CN" altLang="en-US" dirty="0"/>
          </a:p>
        </p:txBody>
      </p:sp>
    </p:spTree>
    <p:extLst>
      <p:ext uri="{BB962C8B-B14F-4D97-AF65-F5344CB8AC3E}">
        <p14:creationId xmlns:p14="http://schemas.microsoft.com/office/powerpoint/2010/main" val="91388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417150" y="802299"/>
            <a:ext cx="8634824" cy="2541431"/>
          </a:xfrm>
        </p:spPr>
        <p:txBody>
          <a:bodyPr bIns="0" anchor="b">
            <a:normAutofit/>
          </a:bodyPr>
          <a:lstStyle>
            <a:lvl1pPr algn="l">
              <a:defRPr sz="6598"/>
            </a:lvl1pPr>
          </a:lstStyle>
          <a:p>
            <a:r>
              <a:rPr lang="zh-CN" altLang="en-US"/>
              <a:t>单击此处编辑母版标题样式</a:t>
            </a:r>
            <a:endParaRPr lang="en-US" dirty="0"/>
          </a:p>
        </p:txBody>
      </p:sp>
      <p:sp>
        <p:nvSpPr>
          <p:cNvPr id="3" name="Subtitle 2"/>
          <p:cNvSpPr>
            <a:spLocks noGrp="1"/>
          </p:cNvSpPr>
          <p:nvPr>
            <p:ph type="subTitle" idx="1"/>
          </p:nvPr>
        </p:nvSpPr>
        <p:spPr>
          <a:xfrm>
            <a:off x="2417150" y="3531205"/>
            <a:ext cx="8634823" cy="977621"/>
          </a:xfrm>
        </p:spPr>
        <p:txBody>
          <a:bodyPr tIns="91440" bIns="91440">
            <a:normAutofit/>
          </a:bodyPr>
          <a:lstStyle>
            <a:lvl1pPr marL="0" indent="0" algn="l">
              <a:buNone/>
              <a:defRPr sz="1799" b="0" cap="all" baseline="0">
                <a:solidFill>
                  <a:schemeClr val="tx1"/>
                </a:solidFill>
              </a:defRPr>
            </a:lvl1pPr>
            <a:lvl2pPr marL="457063" indent="0" algn="ctr">
              <a:buNone/>
              <a:defRPr sz="17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6/7/2017</a:t>
            </a:fld>
            <a:endParaRPr lang="en-US" dirty="0"/>
          </a:p>
        </p:txBody>
      </p:sp>
      <p:sp>
        <p:nvSpPr>
          <p:cNvPr id="5" name="Footer Placeholder 4"/>
          <p:cNvSpPr>
            <a:spLocks noGrp="1"/>
          </p:cNvSpPr>
          <p:nvPr>
            <p:ph type="ftr" sz="quarter" idx="11"/>
          </p:nvPr>
        </p:nvSpPr>
        <p:spPr>
          <a:xfrm>
            <a:off x="2415871" y="329308"/>
            <a:ext cx="4972620" cy="309201"/>
          </a:xfrm>
        </p:spPr>
        <p:txBody>
          <a:bodyPr/>
          <a:lstStyle/>
          <a:p>
            <a:endParaRPr lang="en-US" dirty="0"/>
          </a:p>
        </p:txBody>
      </p:sp>
      <p:sp>
        <p:nvSpPr>
          <p:cNvPr id="6" name="Slide Number Placeholder 5"/>
          <p:cNvSpPr>
            <a:spLocks noGrp="1"/>
          </p:cNvSpPr>
          <p:nvPr>
            <p:ph type="sldNum" sz="quarter" idx="12"/>
          </p:nvPr>
        </p:nvSpPr>
        <p:spPr>
          <a:xfrm>
            <a:off x="1437290" y="798973"/>
            <a:ext cx="810808"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150" y="3528542"/>
            <a:ext cx="863482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678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ncho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CAAE51B8-C16C-4D58-B4E7-426249342FB6}" type="datetime1">
              <a:rPr lang="zh-CN" altLang="en-US" smtClean="0"/>
              <a:t>2017/6/7 Wednesday</a:t>
            </a:fld>
            <a:endParaRPr lang="zh-CN" altLang="en-US" dirty="0"/>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25BA54BD-C84D-46CE-8B72-31BFB26ABA43}" type="slidenum">
              <a:rPr lang="en-US" altLang="zh-CN" smtClean="0"/>
              <a:pPr/>
              <a:t>‹#›</a:t>
            </a:fld>
            <a:endParaRPr lang="zh-CN" altLang="en-US" dirty="0"/>
          </a:p>
        </p:txBody>
      </p:sp>
      <p:cxnSp>
        <p:nvCxnSpPr>
          <p:cNvPr id="33" name="Straight Connector 32"/>
          <p:cNvCxnSpPr/>
          <p:nvPr/>
        </p:nvCxnSpPr>
        <p:spPr>
          <a:xfrm>
            <a:off x="1453517" y="1847088"/>
            <a:ext cx="960502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914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53860" y="1756130"/>
            <a:ext cx="8640903" cy="1887950"/>
          </a:xfrm>
        </p:spPr>
        <p:txBody>
          <a:bodyPr anchor="b">
            <a:normAutofit/>
          </a:bodyPr>
          <a:lstStyle>
            <a:lvl1pPr algn="l">
              <a:defRPr sz="3599"/>
            </a:lvl1pPr>
          </a:lstStyle>
          <a:p>
            <a:r>
              <a:rPr lang="zh-CN" altLang="en-US"/>
              <a:t>单击此处编辑母版标题样式</a:t>
            </a:r>
            <a:endParaRPr lang="en-US" dirty="0"/>
          </a:p>
        </p:txBody>
      </p:sp>
      <p:sp>
        <p:nvSpPr>
          <p:cNvPr id="3" name="Text Placeholder 2"/>
          <p:cNvSpPr>
            <a:spLocks noGrp="1"/>
          </p:cNvSpPr>
          <p:nvPr>
            <p:ph type="body" idx="1"/>
          </p:nvPr>
        </p:nvSpPr>
        <p:spPr>
          <a:xfrm>
            <a:off x="1453861" y="3806196"/>
            <a:ext cx="8628198" cy="1012929"/>
          </a:xfrm>
        </p:spPr>
        <p:txBody>
          <a:bodyPr tIns="91440">
            <a:normAutofit/>
          </a:bodyPr>
          <a:lstStyle>
            <a:lvl1pPr marL="0" indent="0" algn="l">
              <a:buNone/>
              <a:defRPr sz="1799">
                <a:solidFill>
                  <a:schemeClr val="tx1"/>
                </a:solidFill>
              </a:defRPr>
            </a:lvl1pPr>
            <a:lvl2pPr marL="457063" indent="0">
              <a:buNone/>
              <a:defRPr sz="1799">
                <a:solidFill>
                  <a:schemeClr val="tx1">
                    <a:tint val="75000"/>
                  </a:schemeClr>
                </a:solidFill>
              </a:defRPr>
            </a:lvl2pPr>
            <a:lvl3pPr marL="914126" indent="0">
              <a:buNone/>
              <a:defRPr sz="1799">
                <a:solidFill>
                  <a:schemeClr val="tx1">
                    <a:tint val="75000"/>
                  </a:schemeClr>
                </a:solidFill>
              </a:defRPr>
            </a:lvl3pPr>
            <a:lvl4pPr marL="1371189" indent="0">
              <a:buNone/>
              <a:defRPr sz="1600">
                <a:solidFill>
                  <a:schemeClr val="tx1">
                    <a:tint val="75000"/>
                  </a:schemeClr>
                </a:solidFill>
              </a:defRPr>
            </a:lvl4pPr>
            <a:lvl5pPr marL="1828251" indent="0">
              <a:buNone/>
              <a:defRPr sz="1600">
                <a:solidFill>
                  <a:schemeClr val="tx1">
                    <a:tint val="75000"/>
                  </a:schemeClr>
                </a:solidFill>
              </a:defRPr>
            </a:lvl5pPr>
            <a:lvl6pPr marL="2285314" indent="0">
              <a:buNone/>
              <a:defRPr sz="1600">
                <a:solidFill>
                  <a:schemeClr val="tx1">
                    <a:tint val="75000"/>
                  </a:schemeClr>
                </a:solidFill>
              </a:defRPr>
            </a:lvl6pPr>
            <a:lvl7pPr marL="2742377" indent="0">
              <a:buNone/>
              <a:defRPr sz="1600">
                <a:solidFill>
                  <a:schemeClr val="tx1">
                    <a:tint val="75000"/>
                  </a:schemeClr>
                </a:solidFill>
              </a:defRPr>
            </a:lvl7pPr>
            <a:lvl8pPr marL="3199440" indent="0">
              <a:buNone/>
              <a:defRPr sz="1600">
                <a:solidFill>
                  <a:schemeClr val="tx1">
                    <a:tint val="75000"/>
                  </a:schemeClr>
                </a:solidFill>
              </a:defRPr>
            </a:lvl8pPr>
            <a:lvl9pPr marL="3656503"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1E642744-2BC1-482F-8D65-D67812FCF761}" type="datetime1">
              <a:rPr lang="zh-CN" altLang="en-US" smtClean="0"/>
              <a:t>2017/6/7 Wednesday</a:t>
            </a:fld>
            <a:endParaRPr lang="zh-CN" altLang="en-US" dirty="0"/>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25BA54BD-C84D-46CE-8B72-31BFB26ABA43}" type="slidenum">
              <a:rPr lang="en-US" altLang="zh-CN" smtClean="0"/>
              <a:pPr/>
              <a:t>‹#›</a:t>
            </a:fld>
            <a:endParaRPr lang="zh-CN" altLang="en-US" dirty="0"/>
          </a:p>
        </p:txBody>
      </p:sp>
      <p:cxnSp>
        <p:nvCxnSpPr>
          <p:cNvPr id="15" name="Straight Connector 14"/>
          <p:cNvCxnSpPr/>
          <p:nvPr/>
        </p:nvCxnSpPr>
        <p:spPr>
          <a:xfrm>
            <a:off x="1453861" y="3804985"/>
            <a:ext cx="862819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12131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448840" y="804890"/>
            <a:ext cx="9603134" cy="1059305"/>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446954" y="2010879"/>
            <a:ext cx="4643942" cy="344859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412101" y="2017343"/>
            <a:ext cx="4643942" cy="344152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957C6E4D-621D-4515-8831-14D98E9F728C}" type="datetime1">
              <a:rPr lang="zh-CN" altLang="en-US" smtClean="0"/>
              <a:t>2017/6/7 Wednesday</a:t>
            </a:fld>
            <a:endParaRPr lang="zh-CN" altLang="en-US" dirty="0"/>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25BA54BD-C84D-46CE-8B72-31BFB26ABA43}" type="slidenum">
              <a:rPr lang="en-US" altLang="zh-CN" smtClean="0"/>
              <a:pPr/>
              <a:t>‹#›</a:t>
            </a:fld>
            <a:endParaRPr lang="zh-CN" altLang="en-US" dirty="0"/>
          </a:p>
        </p:txBody>
      </p:sp>
      <p:cxnSp>
        <p:nvCxnSpPr>
          <p:cNvPr id="35" name="Straight Connector 34"/>
          <p:cNvCxnSpPr/>
          <p:nvPr/>
        </p:nvCxnSpPr>
        <p:spPr>
          <a:xfrm>
            <a:off x="1453517" y="1847088"/>
            <a:ext cx="960502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60937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46815" y="804164"/>
            <a:ext cx="9605159" cy="1056319"/>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446814" y="2019550"/>
            <a:ext cx="4643942" cy="801943"/>
          </a:xfrm>
        </p:spPr>
        <p:txBody>
          <a:bodyPr anchor="b">
            <a:normAutofit/>
          </a:bodyPr>
          <a:lstStyle>
            <a:lvl1pPr marL="0" indent="0">
              <a:lnSpc>
                <a:spcPct val="100000"/>
              </a:lnSpc>
              <a:buNone/>
              <a:defRPr sz="2199" b="0" cap="all" baseline="0">
                <a:solidFill>
                  <a:schemeClr val="accent1"/>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1446814" y="2824270"/>
            <a:ext cx="4643942" cy="2644457"/>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410692" y="2023004"/>
            <a:ext cx="4643942" cy="802237"/>
          </a:xfrm>
        </p:spPr>
        <p:txBody>
          <a:bodyPr anchor="b">
            <a:normAutofit/>
          </a:bodyPr>
          <a:lstStyle>
            <a:lvl1pPr marL="0" indent="0">
              <a:lnSpc>
                <a:spcPct val="100000"/>
              </a:lnSpc>
              <a:buNone/>
              <a:defRPr sz="2199" b="0" cap="all" baseline="0">
                <a:solidFill>
                  <a:schemeClr val="accent1"/>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410692" y="2821491"/>
            <a:ext cx="4643942" cy="263737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F0157F41-EA24-4D6C-B76B-51104A4FF3D3}" type="datetime1">
              <a:rPr lang="zh-CN" altLang="en-US" smtClean="0"/>
              <a:t>2017/6/7 Wednesday</a:t>
            </a:fld>
            <a:endParaRPr lang="zh-CN" altLang="en-US" dirty="0"/>
          </a:p>
        </p:txBody>
      </p:sp>
      <p:sp>
        <p:nvSpPr>
          <p:cNvPr id="8" name="Footer Placeholder 7"/>
          <p:cNvSpPr>
            <a:spLocks noGrp="1"/>
          </p:cNvSpPr>
          <p:nvPr>
            <p:ph type="ftr" sz="quarter" idx="11"/>
          </p:nvPr>
        </p:nvSpPr>
        <p:spPr/>
        <p:txBody>
          <a:bodyPr/>
          <a:lstStyle/>
          <a:p>
            <a:endParaRPr lang="zh-CN" altLang="en-US" dirty="0"/>
          </a:p>
        </p:txBody>
      </p:sp>
      <p:sp>
        <p:nvSpPr>
          <p:cNvPr id="9" name="Slide Number Placeholder 8"/>
          <p:cNvSpPr>
            <a:spLocks noGrp="1"/>
          </p:cNvSpPr>
          <p:nvPr>
            <p:ph type="sldNum" sz="quarter" idx="12"/>
          </p:nvPr>
        </p:nvSpPr>
        <p:spPr/>
        <p:txBody>
          <a:bodyPr/>
          <a:lstStyle/>
          <a:p>
            <a:fld id="{25BA54BD-C84D-46CE-8B72-31BFB26ABA43}" type="slidenum">
              <a:rPr lang="en-US" altLang="zh-CN" smtClean="0"/>
              <a:pPr/>
              <a:t>‹#›</a:t>
            </a:fld>
            <a:endParaRPr lang="zh-CN" altLang="en-US" dirty="0"/>
          </a:p>
        </p:txBody>
      </p:sp>
      <p:cxnSp>
        <p:nvCxnSpPr>
          <p:cNvPr id="29" name="Straight Connector 28"/>
          <p:cNvCxnSpPr/>
          <p:nvPr/>
        </p:nvCxnSpPr>
        <p:spPr>
          <a:xfrm>
            <a:off x="1453517" y="1847088"/>
            <a:ext cx="960502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52958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41E27CD-26C5-4927-9077-9E87DDF8ECF7}" type="datetime1">
              <a:rPr lang="zh-CN" altLang="en-US" smtClean="0"/>
              <a:t>2017/6/7 Wednesday</a:t>
            </a:fld>
            <a:endParaRPr lang="zh-CN" altLang="en-US" dirty="0"/>
          </a:p>
        </p:txBody>
      </p:sp>
      <p:sp>
        <p:nvSpPr>
          <p:cNvPr id="4" name="Footer Placeholder 3"/>
          <p:cNvSpPr>
            <a:spLocks noGrp="1"/>
          </p:cNvSpPr>
          <p:nvPr>
            <p:ph type="ftr" sz="quarter" idx="11"/>
          </p:nvPr>
        </p:nvSpPr>
        <p:spPr/>
        <p:txBody>
          <a:bodyPr/>
          <a:lstStyle/>
          <a:p>
            <a:endParaRPr lang="zh-CN" altLang="en-US" dirty="0"/>
          </a:p>
        </p:txBody>
      </p:sp>
      <p:sp>
        <p:nvSpPr>
          <p:cNvPr id="5" name="Slide Number Placeholder 4"/>
          <p:cNvSpPr>
            <a:spLocks noGrp="1"/>
          </p:cNvSpPr>
          <p:nvPr>
            <p:ph type="sldNum" sz="quarter" idx="12"/>
          </p:nvPr>
        </p:nvSpPr>
        <p:spPr/>
        <p:txBody>
          <a:bodyPr/>
          <a:lstStyle/>
          <a:p>
            <a:fld id="{25BA54BD-C84D-46CE-8B72-31BFB26ABA43}" type="slidenum">
              <a:rPr lang="en-US" altLang="zh-CN" smtClean="0"/>
              <a:pPr/>
              <a:t>‹#›</a:t>
            </a:fld>
            <a:endParaRPr lang="zh-CN" altLang="en-US" dirty="0"/>
          </a:p>
        </p:txBody>
      </p:sp>
      <p:cxnSp>
        <p:nvCxnSpPr>
          <p:cNvPr id="25" name="Straight Connector 24"/>
          <p:cNvCxnSpPr/>
          <p:nvPr/>
        </p:nvCxnSpPr>
        <p:spPr>
          <a:xfrm>
            <a:off x="1453517" y="1847088"/>
            <a:ext cx="960502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8122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rtl="0"/>
            <a:fld id="{6DE0B1C2-D5D7-4DF1-B631-6247EDFA3201}" type="datetime1">
              <a:rPr lang="zh-CN" altLang="en-US" noProof="0" smtClean="0"/>
              <a:t>2017/6/7 Wednesday</a:t>
            </a:fld>
            <a:endParaRPr lang="zh-CN" altLang="en-US" noProof="0" dirty="0"/>
          </a:p>
        </p:txBody>
      </p:sp>
      <p:sp>
        <p:nvSpPr>
          <p:cNvPr id="3" name="Footer Placeholder 2"/>
          <p:cNvSpPr>
            <a:spLocks noGrp="1"/>
          </p:cNvSpPr>
          <p:nvPr>
            <p:ph type="ftr" sz="quarter" idx="11"/>
          </p:nvPr>
        </p:nvSpPr>
        <p:spPr/>
        <p:txBody>
          <a:bodyPr/>
          <a:lstStyle/>
          <a:p>
            <a:pPr rtl="0"/>
            <a:endParaRPr lang="zh-CN" altLang="en-US" noProof="0" dirty="0"/>
          </a:p>
        </p:txBody>
      </p:sp>
      <p:sp>
        <p:nvSpPr>
          <p:cNvPr id="4" name="Slide Number Placeholder 3"/>
          <p:cNvSpPr>
            <a:spLocks noGrp="1"/>
          </p:cNvSpPr>
          <p:nvPr>
            <p:ph type="sldNum" sz="quarter" idx="12"/>
          </p:nvPr>
        </p:nvSpPr>
        <p:spPr/>
        <p:txBody>
          <a:bodyPr/>
          <a:lstStyle/>
          <a:p>
            <a:pPr rtl="0"/>
            <a:fld id="{25BA54BD-C84D-46CE-8B72-31BFB26ABA43}" type="slidenum">
              <a:rPr lang="en-US" altLang="zh-CN" noProof="0" smtClean="0"/>
              <a:t>‹#›</a:t>
            </a:fld>
            <a:endParaRPr lang="zh-CN" altLang="en-US" noProof="0" dirty="0"/>
          </a:p>
        </p:txBody>
      </p:sp>
    </p:spTree>
    <p:extLst>
      <p:ext uri="{BB962C8B-B14F-4D97-AF65-F5344CB8AC3E}">
        <p14:creationId xmlns:p14="http://schemas.microsoft.com/office/powerpoint/2010/main" val="2987779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44295" y="798973"/>
            <a:ext cx="3272247" cy="2247117"/>
          </a:xfrm>
        </p:spPr>
        <p:txBody>
          <a:bodyPr anchor="b">
            <a:normAutofit/>
          </a:bodyPr>
          <a:lstStyle>
            <a:lvl1pPr algn="l">
              <a:defRPr sz="2399"/>
            </a:lvl1pPr>
          </a:lstStyle>
          <a:p>
            <a:r>
              <a:rPr lang="zh-CN" altLang="en-US"/>
              <a:t>单击此处编辑母版标题样式</a:t>
            </a:r>
            <a:endParaRPr lang="en-US" dirty="0"/>
          </a:p>
        </p:txBody>
      </p:sp>
      <p:sp>
        <p:nvSpPr>
          <p:cNvPr id="3" name="Content Placeholder 2"/>
          <p:cNvSpPr>
            <a:spLocks noGrp="1"/>
          </p:cNvSpPr>
          <p:nvPr>
            <p:ph idx="1"/>
          </p:nvPr>
        </p:nvSpPr>
        <p:spPr>
          <a:xfrm>
            <a:off x="5042401" y="798974"/>
            <a:ext cx="6010904" cy="4658826"/>
          </a:xfrm>
        </p:spPr>
        <p:txBody>
          <a:bodyPr anchor="ct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1444295" y="3205492"/>
            <a:ext cx="3274160" cy="2248181"/>
          </a:xfrm>
        </p:spPr>
        <p:txBody>
          <a:bodyPr/>
          <a:lstStyle>
            <a:lvl1pPr marL="0" indent="0" algn="l">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2F03606D-7858-4AA2-9E18-693315C12F6C}" type="datetime1">
              <a:rPr lang="zh-CN" altLang="en-US" noProof="0" smtClean="0"/>
              <a:t>2017/6/7 Wednesday</a:t>
            </a:fld>
            <a:endParaRPr lang="zh-CN" altLang="en-US" noProof="0" dirty="0"/>
          </a:p>
        </p:txBody>
      </p:sp>
      <p:sp>
        <p:nvSpPr>
          <p:cNvPr id="6" name="Footer Placeholder 5"/>
          <p:cNvSpPr>
            <a:spLocks noGrp="1"/>
          </p:cNvSpPr>
          <p:nvPr>
            <p:ph type="ftr" sz="quarter" idx="11"/>
          </p:nvPr>
        </p:nvSpPr>
        <p:spPr/>
        <p:txBody>
          <a:bodyPr/>
          <a:lstStyle/>
          <a:p>
            <a:endParaRPr lang="zh-CN" altLang="en-US" noProof="0" dirty="0"/>
          </a:p>
        </p:txBody>
      </p:sp>
      <p:sp>
        <p:nvSpPr>
          <p:cNvPr id="7" name="Slide Number Placeholder 6"/>
          <p:cNvSpPr>
            <a:spLocks noGrp="1"/>
          </p:cNvSpPr>
          <p:nvPr>
            <p:ph type="sldNum" sz="quarter" idx="12"/>
          </p:nvPr>
        </p:nvSpPr>
        <p:spPr/>
        <p:txBody>
          <a:bodyPr/>
          <a:lstStyle/>
          <a:p>
            <a:fld id="{25BA54BD-C84D-46CE-8B72-31BFB26ABA43}" type="slidenum">
              <a:rPr lang="en-US" altLang="zh-CN" noProof="0" smtClean="0"/>
              <a:pPr/>
              <a:t>‹#›</a:t>
            </a:fld>
            <a:endParaRPr lang="zh-CN" altLang="en-US" noProof="0" dirty="0"/>
          </a:p>
        </p:txBody>
      </p:sp>
      <p:cxnSp>
        <p:nvCxnSpPr>
          <p:cNvPr id="17" name="Straight Connector 16"/>
          <p:cNvCxnSpPr/>
          <p:nvPr/>
        </p:nvCxnSpPr>
        <p:spPr>
          <a:xfrm>
            <a:off x="1447903" y="3205491"/>
            <a:ext cx="3268639"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336504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Group 7"/>
          <p:cNvGrpSpPr/>
          <p:nvPr/>
        </p:nvGrpSpPr>
        <p:grpSpPr>
          <a:xfrm>
            <a:off x="7475440" y="482171"/>
            <a:ext cx="4073472"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0828" y="1129513"/>
            <a:ext cx="5530887" cy="1830584"/>
          </a:xfrm>
        </p:spPr>
        <p:txBody>
          <a:bodyPr anchor="b">
            <a:normAutofit/>
          </a:bodyPr>
          <a:lstStyle>
            <a:lvl1pPr>
              <a:defRPr sz="3199"/>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8122274" y="1122543"/>
            <a:ext cx="2790444" cy="3866327"/>
          </a:xfrm>
          <a:solidFill>
            <a:schemeClr val="bg1">
              <a:lumMod val="85000"/>
            </a:schemeClr>
          </a:solidFill>
          <a:ln w="9525" cap="sq">
            <a:noFill/>
            <a:miter lim="800000"/>
          </a:ln>
          <a:effectLst/>
        </p:spPr>
        <p:txBody>
          <a:bodyPr anchor="t"/>
          <a:lstStyle>
            <a:lvl1pPr marL="0" indent="0" algn="ctr">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zh-CN" altLang="en-US"/>
              <a:t>单击图标添加图片</a:t>
            </a:r>
            <a:endParaRPr lang="en-US" dirty="0"/>
          </a:p>
        </p:txBody>
      </p:sp>
      <p:sp>
        <p:nvSpPr>
          <p:cNvPr id="4" name="Text Placeholder 3"/>
          <p:cNvSpPr>
            <a:spLocks noGrp="1"/>
          </p:cNvSpPr>
          <p:nvPr>
            <p:ph type="body" sz="half" idx="2"/>
          </p:nvPr>
        </p:nvSpPr>
        <p:spPr>
          <a:xfrm>
            <a:off x="1449951" y="3145992"/>
            <a:ext cx="5522965" cy="2003742"/>
          </a:xfrm>
        </p:spPr>
        <p:txBody>
          <a:bodyPr>
            <a:normAutofit/>
          </a:bodyPr>
          <a:lstStyle>
            <a:lvl1pPr marL="0" indent="0" algn="l">
              <a:buNone/>
              <a:defRPr sz="1799"/>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a:t>编辑母版文本样式</a:t>
            </a:r>
          </a:p>
        </p:txBody>
      </p:sp>
      <p:sp>
        <p:nvSpPr>
          <p:cNvPr id="5" name="Date Placeholder 4"/>
          <p:cNvSpPr>
            <a:spLocks noGrp="1"/>
          </p:cNvSpPr>
          <p:nvPr>
            <p:ph type="dt" sz="half" idx="10"/>
          </p:nvPr>
        </p:nvSpPr>
        <p:spPr>
          <a:xfrm>
            <a:off x="1447005" y="5469857"/>
            <a:ext cx="5525912" cy="320123"/>
          </a:xfrm>
        </p:spPr>
        <p:txBody>
          <a:bodyPr/>
          <a:lstStyle>
            <a:lvl1pPr algn="l">
              <a:defRPr/>
            </a:lvl1pPr>
          </a:lstStyle>
          <a:p>
            <a:fld id="{2F03606D-7858-4AA2-9E18-693315C12F6C}" type="datetime1">
              <a:rPr lang="zh-CN" altLang="en-US" noProof="0" smtClean="0"/>
              <a:t>2017/6/7 Wednesday</a:t>
            </a:fld>
            <a:endParaRPr lang="zh-CN" altLang="en-US" noProof="0" dirty="0"/>
          </a:p>
        </p:txBody>
      </p:sp>
      <p:sp>
        <p:nvSpPr>
          <p:cNvPr id="6" name="Footer Placeholder 5"/>
          <p:cNvSpPr>
            <a:spLocks noGrp="1"/>
          </p:cNvSpPr>
          <p:nvPr>
            <p:ph type="ftr" sz="quarter" idx="11"/>
          </p:nvPr>
        </p:nvSpPr>
        <p:spPr>
          <a:xfrm>
            <a:off x="1447005" y="318641"/>
            <a:ext cx="5539561" cy="320931"/>
          </a:xfrm>
        </p:spPr>
        <p:txBody>
          <a:bodyPr/>
          <a:lstStyle/>
          <a:p>
            <a:endParaRPr lang="zh-CN" altLang="en-US" noProof="0" dirty="0"/>
          </a:p>
        </p:txBody>
      </p:sp>
      <p:sp>
        <p:nvSpPr>
          <p:cNvPr id="7" name="Slide Number Placeholder 6"/>
          <p:cNvSpPr>
            <a:spLocks noGrp="1"/>
          </p:cNvSpPr>
          <p:nvPr>
            <p:ph type="sldNum" sz="quarter" idx="12"/>
          </p:nvPr>
        </p:nvSpPr>
        <p:spPr/>
        <p:txBody>
          <a:bodyPr/>
          <a:lstStyle/>
          <a:p>
            <a:fld id="{25BA54BD-C84D-46CE-8B72-31BFB26ABA43}" type="slidenum">
              <a:rPr lang="en-US" altLang="zh-CN" noProof="0" smtClean="0"/>
              <a:pPr/>
              <a:t>‹#›</a:t>
            </a:fld>
            <a:endParaRPr lang="zh-CN" altLang="en-US" noProof="0" dirty="0"/>
          </a:p>
        </p:txBody>
      </p:sp>
      <p:cxnSp>
        <p:nvCxnSpPr>
          <p:cNvPr id="31" name="Straight Connector 30"/>
          <p:cNvCxnSpPr/>
          <p:nvPr/>
        </p:nvCxnSpPr>
        <p:spPr>
          <a:xfrm>
            <a:off x="1447005" y="3143605"/>
            <a:ext cx="552591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4823948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FACF6A5-CA30-4724-8A74-55B65EA2DB8E}" type="datetime1">
              <a:rPr lang="zh-CN" altLang="en-US" smtClean="0"/>
              <a:t>2017/6/7 Wednesday</a:t>
            </a:fld>
            <a:endParaRPr lang="zh-CN" altLang="en-US" dirty="0"/>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25BA54BD-C84D-46CE-8B72-31BFB26ABA43}" type="slidenum">
              <a:rPr lang="en-US" altLang="zh-CN" smtClean="0"/>
              <a:pPr/>
              <a:t>‹#›</a:t>
            </a:fld>
            <a:endParaRPr lang="zh-CN" altLang="en-US" dirty="0"/>
          </a:p>
        </p:txBody>
      </p:sp>
      <p:cxnSp>
        <p:nvCxnSpPr>
          <p:cNvPr id="26" name="Straight Connector 25"/>
          <p:cNvCxnSpPr/>
          <p:nvPr/>
        </p:nvCxnSpPr>
        <p:spPr>
          <a:xfrm>
            <a:off x="1453517" y="1847088"/>
            <a:ext cx="960502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32647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6653" y="798974"/>
            <a:ext cx="1615321" cy="4659889"/>
          </a:xfrm>
        </p:spPr>
        <p:txBody>
          <a:bodyPr vert="eaVert"/>
          <a:lstStyle>
            <a:lvl1pPr algn="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444296" y="798974"/>
            <a:ext cx="7826791" cy="465988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2F03606D-7858-4AA2-9E18-693315C12F6C}" type="datetime1">
              <a:rPr lang="zh-CN" altLang="en-US" noProof="0" smtClean="0"/>
              <a:t>2017/6/7 Wednesday</a:t>
            </a:fld>
            <a:endParaRPr lang="zh-CN" altLang="en-US" noProof="0" dirty="0"/>
          </a:p>
        </p:txBody>
      </p:sp>
      <p:sp>
        <p:nvSpPr>
          <p:cNvPr id="5" name="Footer Placeholder 4"/>
          <p:cNvSpPr>
            <a:spLocks noGrp="1"/>
          </p:cNvSpPr>
          <p:nvPr>
            <p:ph type="ftr" sz="quarter" idx="11"/>
          </p:nvPr>
        </p:nvSpPr>
        <p:spPr/>
        <p:txBody>
          <a:bodyPr/>
          <a:lstStyle/>
          <a:p>
            <a:endParaRPr lang="zh-CN" altLang="en-US" noProof="0" dirty="0"/>
          </a:p>
        </p:txBody>
      </p:sp>
      <p:sp>
        <p:nvSpPr>
          <p:cNvPr id="6" name="Slide Number Placeholder 5"/>
          <p:cNvSpPr>
            <a:spLocks noGrp="1"/>
          </p:cNvSpPr>
          <p:nvPr>
            <p:ph type="sldNum" sz="quarter" idx="12"/>
          </p:nvPr>
        </p:nvSpPr>
        <p:spPr/>
        <p:txBody>
          <a:bodyPr/>
          <a:lstStyle/>
          <a:p>
            <a:fld id="{25BA54BD-C84D-46CE-8B72-31BFB26ABA43}" type="slidenum">
              <a:rPr lang="en-US" altLang="zh-CN" noProof="0" smtClean="0"/>
              <a:pPr/>
              <a:t>‹#›</a:t>
            </a:fld>
            <a:endParaRPr lang="zh-CN" altLang="en-US" noProof="0" dirty="0"/>
          </a:p>
        </p:txBody>
      </p:sp>
      <p:cxnSp>
        <p:nvCxnSpPr>
          <p:cNvPr id="15" name="Straight Connector 14"/>
          <p:cNvCxnSpPr/>
          <p:nvPr/>
        </p:nvCxnSpPr>
        <p:spPr>
          <a:xfrm>
            <a:off x="9436653"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4632869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7"/>
            <a:ext cx="12188825"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88825" cy="742950"/>
          </a:xfrm>
          <a:prstGeom prst="rect">
            <a:avLst/>
          </a:prstGeom>
        </p:spPr>
      </p:pic>
      <p:sp>
        <p:nvSpPr>
          <p:cNvPr id="2" name="Title Placeholder 1"/>
          <p:cNvSpPr>
            <a:spLocks noGrp="1"/>
          </p:cNvSpPr>
          <p:nvPr>
            <p:ph type="title"/>
          </p:nvPr>
        </p:nvSpPr>
        <p:spPr>
          <a:xfrm>
            <a:off x="1451202" y="804520"/>
            <a:ext cx="9600774" cy="1049235"/>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451202" y="2015733"/>
            <a:ext cx="9600774"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2171" y="330370"/>
            <a:ext cx="3499803"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2F03606D-7858-4AA2-9E18-693315C12F6C}" type="datetime1">
              <a:rPr lang="zh-CN" altLang="en-US" noProof="0" smtClean="0"/>
              <a:t>2017/6/7 Wednesday</a:t>
            </a:fld>
            <a:endParaRPr lang="zh-CN" altLang="en-US" noProof="0" dirty="0"/>
          </a:p>
        </p:txBody>
      </p:sp>
      <p:sp>
        <p:nvSpPr>
          <p:cNvPr id="5" name="Footer Placeholder 4"/>
          <p:cNvSpPr>
            <a:spLocks noGrp="1"/>
          </p:cNvSpPr>
          <p:nvPr>
            <p:ph type="ftr" sz="quarter" idx="3"/>
          </p:nvPr>
        </p:nvSpPr>
        <p:spPr>
          <a:xfrm>
            <a:off x="1451201" y="329308"/>
            <a:ext cx="593728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zh-CN" altLang="en-US" noProof="0" dirty="0"/>
          </a:p>
        </p:txBody>
      </p:sp>
      <p:sp>
        <p:nvSpPr>
          <p:cNvPr id="6" name="Slide Number Placeholder 5"/>
          <p:cNvSpPr>
            <a:spLocks noGrp="1"/>
          </p:cNvSpPr>
          <p:nvPr>
            <p:ph type="sldNum" sz="quarter" idx="4"/>
          </p:nvPr>
        </p:nvSpPr>
        <p:spPr>
          <a:xfrm>
            <a:off x="479935" y="798973"/>
            <a:ext cx="810808" cy="503578"/>
          </a:xfrm>
          <a:prstGeom prst="rect">
            <a:avLst/>
          </a:prstGeom>
        </p:spPr>
        <p:txBody>
          <a:bodyPr vert="horz" lIns="91440" tIns="45720" rIns="91440" bIns="45720" rtlCol="0" anchor="t"/>
          <a:lstStyle>
            <a:lvl1pPr algn="r">
              <a:defRPr sz="2799">
                <a:solidFill>
                  <a:schemeClr val="accent1"/>
                </a:solidFill>
              </a:defRPr>
            </a:lvl1pPr>
          </a:lstStyle>
          <a:p>
            <a:fld id="{25BA54BD-C84D-46CE-8B72-31BFB26ABA43}" type="slidenum">
              <a:rPr lang="en-US" altLang="zh-CN" noProof="0" smtClean="0"/>
              <a:pPr/>
              <a:t>‹#›</a:t>
            </a:fld>
            <a:endParaRPr lang="zh-CN" altLang="en-US" noProof="0" dirty="0"/>
          </a:p>
        </p:txBody>
      </p:sp>
      <p:cxnSp>
        <p:nvCxnSpPr>
          <p:cNvPr id="10" name="Straight Connector 9"/>
          <p:cNvCxnSpPr/>
          <p:nvPr/>
        </p:nvCxnSpPr>
        <p:spPr>
          <a:xfrm>
            <a:off x="0" y="6128413"/>
            <a:ext cx="12188825"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35649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126" rtl="0" eaLnBrk="1" latinLnBrk="0" hangingPunct="1">
        <a:lnSpc>
          <a:spcPct val="90000"/>
        </a:lnSpc>
        <a:spcBef>
          <a:spcPct val="0"/>
        </a:spcBef>
        <a:buNone/>
        <a:defRPr sz="3199" b="0" i="0" kern="1200" cap="all">
          <a:solidFill>
            <a:schemeClr val="tx1"/>
          </a:solidFill>
          <a:effectLst/>
          <a:latin typeface="+mj-lt"/>
          <a:ea typeface="+mj-ea"/>
          <a:cs typeface="+mj-cs"/>
        </a:defRPr>
      </a:lvl1pPr>
    </p:titleStyle>
    <p:bodyStyle>
      <a:lvl1pPr marL="228531" indent="-228531" algn="l" defTabSz="914126" rtl="0" eaLnBrk="1" latinLnBrk="0" hangingPunct="1">
        <a:lnSpc>
          <a:spcPct val="120000"/>
        </a:lnSpc>
        <a:spcBef>
          <a:spcPts val="1000"/>
        </a:spcBef>
        <a:buClr>
          <a:schemeClr val="accent1"/>
        </a:buClr>
        <a:buSzPct val="100000"/>
        <a:buFont typeface="Arial" panose="020B0604020202020204" pitchFamily="34" charset="0"/>
        <a:buChar char="•"/>
        <a:defRPr sz="1999" kern="1200">
          <a:solidFill>
            <a:schemeClr val="tx1"/>
          </a:solidFill>
          <a:effectLst/>
          <a:latin typeface="+mn-lt"/>
          <a:ea typeface="+mn-ea"/>
          <a:cs typeface="+mn-cs"/>
        </a:defRPr>
      </a:lvl1pPr>
      <a:lvl2pPr marL="685594"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799" kern="1200" cap="none" baseline="0">
          <a:solidFill>
            <a:schemeClr val="tx1"/>
          </a:solidFill>
          <a:effectLst/>
          <a:latin typeface="+mn-lt"/>
          <a:ea typeface="+mn-ea"/>
          <a:cs typeface="+mn-cs"/>
        </a:defRPr>
      </a:lvl2pPr>
      <a:lvl3pPr marL="1142657"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599720"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6783"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3846"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0908"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7971"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5034" indent="-228531" algn="l" defTabSz="914126"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rtlCol="0"/>
          <a:lstStyle/>
          <a:p>
            <a:pPr rtl="0"/>
            <a:r>
              <a:rPr lang="en-US" altLang="zh-CN" dirty="0">
                <a:latin typeface="Microsoft YaHei UI" panose="020B0503020204020204" pitchFamily="34" charset="-122"/>
                <a:ea typeface="Microsoft YaHei UI" panose="020B0503020204020204" pitchFamily="34" charset="-122"/>
              </a:rPr>
              <a:t>Palindromic Tree</a:t>
            </a:r>
            <a:endParaRPr lang="zh-CN" altLang="en-US" dirty="0">
              <a:latin typeface="Microsoft YaHei UI" panose="020B0503020204020204" pitchFamily="34" charset="-122"/>
              <a:ea typeface="Microsoft YaHei UI" panose="020B0503020204020204" pitchFamily="34" charset="-122"/>
            </a:endParaRPr>
          </a:p>
        </p:txBody>
      </p:sp>
      <p:sp>
        <p:nvSpPr>
          <p:cNvPr id="4" name="文本框 3"/>
          <p:cNvSpPr txBox="1"/>
          <p:nvPr/>
        </p:nvSpPr>
        <p:spPr>
          <a:xfrm>
            <a:off x="7161212" y="5181600"/>
            <a:ext cx="2971800" cy="424732"/>
          </a:xfrm>
          <a:prstGeom prst="rect">
            <a:avLst/>
          </a:prstGeom>
          <a:noFill/>
        </p:spPr>
        <p:txBody>
          <a:bodyPr wrap="square" rtlCol="0">
            <a:spAutoFit/>
          </a:bodyPr>
          <a:lstStyle/>
          <a:p>
            <a:pPr>
              <a:lnSpc>
                <a:spcPct val="90000"/>
              </a:lnSpc>
            </a:pPr>
            <a:r>
              <a:rPr lang="en-US" sz="2400" dirty="0"/>
              <a:t>By </a:t>
            </a:r>
            <a:r>
              <a:rPr lang="en-US" sz="2400" dirty="0" err="1"/>
              <a:t>dy</a:t>
            </a:r>
            <a:endParaRPr lang="en-US" sz="2400" strike="sngStrike" dirty="0"/>
          </a:p>
        </p:txBody>
      </p:sp>
      <p:sp>
        <p:nvSpPr>
          <p:cNvPr id="3" name="文本框 2"/>
          <p:cNvSpPr txBox="1"/>
          <p:nvPr/>
        </p:nvSpPr>
        <p:spPr>
          <a:xfrm>
            <a:off x="1370012" y="609600"/>
            <a:ext cx="1219200" cy="424732"/>
          </a:xfrm>
          <a:prstGeom prst="rect">
            <a:avLst/>
          </a:prstGeom>
          <a:noFill/>
        </p:spPr>
        <p:txBody>
          <a:bodyPr wrap="square" rtlCol="0">
            <a:spAutoFit/>
          </a:bodyPr>
          <a:lstStyle/>
          <a:p>
            <a:pPr>
              <a:lnSpc>
                <a:spcPct val="90000"/>
              </a:lnSpc>
            </a:pPr>
            <a:r>
              <a:rPr lang="en-US" altLang="zh-CN" sz="2400" dirty="0">
                <a:solidFill>
                  <a:schemeClr val="bg2">
                    <a:lumMod val="75000"/>
                  </a:schemeClr>
                </a:solidFill>
              </a:rPr>
              <a:t>jmyyc</a:t>
            </a:r>
            <a:endParaRPr lang="en-US" sz="2400" dirty="0">
              <a:solidFill>
                <a:schemeClr val="bg2">
                  <a:lumMod val="75000"/>
                </a:schemeClr>
              </a:solidFill>
            </a:endParaRPr>
          </a:p>
        </p:txBody>
      </p:sp>
      <p:sp>
        <p:nvSpPr>
          <p:cNvPr id="6" name="文本框 5"/>
          <p:cNvSpPr txBox="1"/>
          <p:nvPr/>
        </p:nvSpPr>
        <p:spPr>
          <a:xfrm>
            <a:off x="4341812" y="609600"/>
            <a:ext cx="914400" cy="424732"/>
          </a:xfrm>
          <a:prstGeom prst="rect">
            <a:avLst/>
          </a:prstGeom>
          <a:noFill/>
        </p:spPr>
        <p:txBody>
          <a:bodyPr wrap="square" rtlCol="0">
            <a:spAutoFit/>
          </a:bodyPr>
          <a:lstStyle/>
          <a:p>
            <a:pPr>
              <a:lnSpc>
                <a:spcPct val="90000"/>
              </a:lnSpc>
            </a:pPr>
            <a:r>
              <a:rPr lang="en-US" altLang="zh-CN" sz="2400" dirty="0">
                <a:solidFill>
                  <a:schemeClr val="bg2">
                    <a:lumMod val="75000"/>
                  </a:schemeClr>
                </a:solidFill>
              </a:rPr>
              <a:t>sak</a:t>
            </a:r>
            <a:endParaRPr lang="zh-CN" altLang="en-US" sz="2400" dirty="0">
              <a:solidFill>
                <a:schemeClr val="bg2">
                  <a:lumMod val="75000"/>
                </a:schemeClr>
              </a:solidFill>
            </a:endParaRPr>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Preface</a:t>
            </a:r>
          </a:p>
        </p:txBody>
      </p:sp>
      <p:sp>
        <p:nvSpPr>
          <p:cNvPr id="3" name="内容占位符 2"/>
          <p:cNvSpPr>
            <a:spLocks noGrp="1"/>
          </p:cNvSpPr>
          <p:nvPr>
            <p:ph idx="1"/>
          </p:nvPr>
        </p:nvSpPr>
        <p:spPr/>
        <p:txBody>
          <a:bodyPr/>
          <a:lstStyle/>
          <a:p>
            <a:r>
              <a:rPr lang="zh-CN" altLang="en-US" dirty="0"/>
              <a:t>回文树是一种新兴的数据结构，由</a:t>
            </a:r>
            <a:r>
              <a:rPr lang="en-US" dirty="0"/>
              <a:t>Mikhail </a:t>
            </a:r>
            <a:r>
              <a:rPr lang="en-US" dirty="0" err="1"/>
              <a:t>Rubinchik</a:t>
            </a:r>
            <a:r>
              <a:rPr lang="zh-CN" altLang="en-US" dirty="0"/>
              <a:t>在</a:t>
            </a:r>
            <a:r>
              <a:rPr lang="en-US" altLang="zh-CN" dirty="0"/>
              <a:t>2015</a:t>
            </a:r>
            <a:r>
              <a:rPr lang="zh-CN" altLang="en-US" dirty="0"/>
              <a:t>年发表。</a:t>
            </a:r>
            <a:endParaRPr lang="en-US" altLang="zh-CN" dirty="0"/>
          </a:p>
          <a:p>
            <a:r>
              <a:rPr lang="zh-CN" altLang="en-US" dirty="0"/>
              <a:t>由于其简单的实现以及高效性，许多回文问题都有了优美的解决方法。</a:t>
            </a:r>
            <a:endParaRPr lang="en-US" altLang="zh-CN" dirty="0"/>
          </a:p>
          <a:p>
            <a:r>
              <a:rPr lang="zh-CN" altLang="en-US" dirty="0"/>
              <a:t>本文将着重介绍回文树，并展示回文树强大的可塑性与解决问题的能力。</a:t>
            </a:r>
            <a:br>
              <a:rPr lang="zh-CN" altLang="en-US" dirty="0"/>
            </a:br>
            <a:br>
              <a:rPr lang="zh-CN" altLang="en-US" dirty="0"/>
            </a:br>
            <a:br>
              <a:rPr lang="zh-CN" altLang="en-US" dirty="0"/>
            </a:br>
            <a:endParaRPr lang="en-US" dirty="0"/>
          </a:p>
        </p:txBody>
      </p:sp>
    </p:spTree>
    <p:extLst>
      <p:ext uri="{BB962C8B-B14F-4D97-AF65-F5344CB8AC3E}">
        <p14:creationId xmlns:p14="http://schemas.microsoft.com/office/powerpoint/2010/main" val="1410371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Contents</a:t>
            </a:r>
            <a:endParaRPr lang="en-US" dirty="0"/>
          </a:p>
        </p:txBody>
      </p:sp>
      <p:sp>
        <p:nvSpPr>
          <p:cNvPr id="3" name="内容占位符 2"/>
          <p:cNvSpPr>
            <a:spLocks noGrp="1"/>
          </p:cNvSpPr>
          <p:nvPr>
            <p:ph idx="1"/>
          </p:nvPr>
        </p:nvSpPr>
        <p:spPr>
          <a:xfrm>
            <a:off x="1751012" y="1981200"/>
            <a:ext cx="9144000" cy="4267200"/>
          </a:xfrm>
        </p:spPr>
        <p:txBody>
          <a:bodyPr/>
          <a:lstStyle/>
          <a:p>
            <a:r>
              <a:rPr lang="zh-CN" altLang="en-US" dirty="0"/>
              <a:t>基础构造</a:t>
            </a:r>
            <a:endParaRPr lang="en-US" dirty="0"/>
          </a:p>
          <a:p>
            <a:r>
              <a:rPr lang="zh-CN" altLang="en-US" dirty="0"/>
              <a:t>拓展</a:t>
            </a:r>
            <a:endParaRPr lang="en-US" dirty="0"/>
          </a:p>
          <a:p>
            <a:r>
              <a:rPr lang="zh-CN" altLang="en-US" dirty="0"/>
              <a:t>应用</a:t>
            </a:r>
            <a:endParaRPr lang="en-US" dirty="0"/>
          </a:p>
        </p:txBody>
      </p:sp>
    </p:spTree>
    <p:extLst>
      <p:ext uri="{BB962C8B-B14F-4D97-AF65-F5344CB8AC3E}">
        <p14:creationId xmlns:p14="http://schemas.microsoft.com/office/powerpoint/2010/main" val="1030499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基础构造</a:t>
            </a:r>
            <a:endParaRPr lang="en-US" dirty="0"/>
          </a:p>
        </p:txBody>
      </p:sp>
      <p:sp>
        <p:nvSpPr>
          <p:cNvPr id="3" name="内容占位符 2"/>
          <p:cNvSpPr>
            <a:spLocks noGrp="1"/>
          </p:cNvSpPr>
          <p:nvPr>
            <p:ph idx="1"/>
          </p:nvPr>
        </p:nvSpPr>
        <p:spPr>
          <a:xfrm>
            <a:off x="1522414" y="1828800"/>
            <a:ext cx="9144000" cy="4267200"/>
          </a:xfrm>
        </p:spPr>
        <p:txBody>
          <a:bodyPr/>
          <a:lstStyle/>
          <a:p>
            <a:r>
              <a:rPr lang="zh-CN" altLang="en-US" dirty="0"/>
              <a:t>约定</a:t>
            </a:r>
            <a:endParaRPr lang="en-US" altLang="zh-CN" dirty="0"/>
          </a:p>
          <a:p>
            <a:r>
              <a:rPr lang="zh-CN" altLang="en-US" dirty="0"/>
              <a:t>回文树的结构</a:t>
            </a:r>
            <a:endParaRPr lang="en-US" altLang="zh-CN" dirty="0"/>
          </a:p>
          <a:p>
            <a:r>
              <a:rPr lang="zh-CN" altLang="en-US" dirty="0"/>
              <a:t>基础插入算法</a:t>
            </a:r>
            <a:endParaRPr lang="en-US" altLang="zh-CN" dirty="0"/>
          </a:p>
          <a:p>
            <a:r>
              <a:rPr lang="zh-CN" altLang="en-US" dirty="0"/>
              <a:t>复杂度证明</a:t>
            </a:r>
            <a:endParaRPr lang="en-US" altLang="zh-CN" dirty="0"/>
          </a:p>
          <a:p>
            <a:r>
              <a:rPr lang="zh-CN" altLang="en-US" dirty="0"/>
              <a:t>基础应用</a:t>
            </a:r>
            <a:endParaRPr lang="en-US" dirty="0"/>
          </a:p>
        </p:txBody>
      </p:sp>
    </p:spTree>
    <p:extLst>
      <p:ext uri="{BB962C8B-B14F-4D97-AF65-F5344CB8AC3E}">
        <p14:creationId xmlns:p14="http://schemas.microsoft.com/office/powerpoint/2010/main" val="2303345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约定</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14:m>
                  <m:oMath xmlns:m="http://schemas.openxmlformats.org/officeDocument/2006/math">
                    <m:r>
                      <m:rPr>
                        <m:sty m:val="p"/>
                      </m:rPr>
                      <a:rPr lang="en-US" b="0" i="0" smtClean="0">
                        <a:latin typeface="Cambria Math" panose="02040503050406030204" pitchFamily="18" charset="0"/>
                      </a:rPr>
                      <m:t>Σ</m:t>
                    </m:r>
                  </m:oMath>
                </a14:m>
                <a:r>
                  <a:rPr lang="en-US" dirty="0">
                    <a:latin typeface="+mj-lt"/>
                  </a:rPr>
                  <a:t> </a:t>
                </a:r>
                <a:r>
                  <a:rPr lang="zh-CN" altLang="en-US" dirty="0">
                    <a:latin typeface="+mj-lt"/>
                  </a:rPr>
                  <a:t>表示字符集大小</a:t>
                </a:r>
                <a:endParaRPr lang="en-US" altLang="zh-CN" dirty="0">
                  <a:latin typeface="+mj-lt"/>
                </a:endParaRPr>
              </a:p>
              <a:p>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 </m:t>
                    </m:r>
                  </m:oMath>
                </a14:m>
                <a:r>
                  <a:rPr lang="zh-CN" altLang="en-US" dirty="0">
                    <a:latin typeface="+mj-lt"/>
                  </a:rPr>
                  <a:t>表示串 </a:t>
                </a:r>
                <a14:m>
                  <m:oMath xmlns:m="http://schemas.openxmlformats.org/officeDocument/2006/math">
                    <m:r>
                      <a:rPr lang="en-US" b="0" i="1" smtClean="0">
                        <a:latin typeface="Cambria Math" panose="02040503050406030204" pitchFamily="18" charset="0"/>
                      </a:rPr>
                      <m:t>𝑠</m:t>
                    </m:r>
                  </m:oMath>
                </a14:m>
                <a:r>
                  <a:rPr lang="en-US" dirty="0">
                    <a:latin typeface="+mj-lt"/>
                  </a:rPr>
                  <a:t> </a:t>
                </a:r>
                <a:r>
                  <a:rPr lang="zh-CN" altLang="en-US" dirty="0">
                    <a:latin typeface="+mj-lt"/>
                  </a:rPr>
                  <a:t>的长度</a:t>
                </a:r>
                <a:endParaRPr lang="en-US" altLang="zh-CN" dirty="0">
                  <a:latin typeface="+mj-lt"/>
                </a:endParaRPr>
              </a:p>
              <a:p>
                <a:r>
                  <a:rPr lang="zh-CN" altLang="en-US" dirty="0">
                    <a:latin typeface="+mj-lt"/>
                  </a:rPr>
                  <a:t>设有串</a:t>
                </a:r>
                <a:r>
                  <a:rPr lang="en-US" altLang="zh-CN" i="1" dirty="0">
                    <a:latin typeface="+mj-lt"/>
                  </a:rPr>
                  <a:t>t</a:t>
                </a:r>
                <a:r>
                  <a:rPr lang="zh-CN" altLang="en-US" dirty="0">
                    <a:latin typeface="+mj-lt"/>
                  </a:rPr>
                  <a:t>与字符</a:t>
                </a:r>
                <a:r>
                  <a:rPr lang="en-US" altLang="zh-CN" i="1" dirty="0">
                    <a:latin typeface="+mj-lt"/>
                  </a:rPr>
                  <a:t>c</a:t>
                </a:r>
                <a:r>
                  <a:rPr lang="zh-CN" altLang="en-US" dirty="0">
                    <a:latin typeface="+mj-lt"/>
                  </a:rPr>
                  <a:t>，记</a:t>
                </a:r>
                <a:r>
                  <a:rPr lang="en-US" altLang="zh-CN" i="1" dirty="0" err="1">
                    <a:latin typeface="+mj-lt"/>
                  </a:rPr>
                  <a:t>tc</a:t>
                </a:r>
                <a:r>
                  <a:rPr lang="zh-CN" altLang="en-US" dirty="0">
                    <a:latin typeface="+mj-lt"/>
                  </a:rPr>
                  <a:t>表示在</a:t>
                </a:r>
                <a:r>
                  <a:rPr lang="en-US" altLang="zh-CN" i="1" dirty="0">
                    <a:latin typeface="+mj-lt"/>
                  </a:rPr>
                  <a:t>t</a:t>
                </a:r>
                <a:r>
                  <a:rPr lang="zh-CN" altLang="en-US" dirty="0">
                    <a:latin typeface="+mj-lt"/>
                  </a:rPr>
                  <a:t>后接上字符</a:t>
                </a:r>
                <a:r>
                  <a:rPr lang="en-US" altLang="zh-CN" i="1" dirty="0">
                    <a:latin typeface="+mj-lt"/>
                  </a:rPr>
                  <a:t>c</a:t>
                </a:r>
                <a:r>
                  <a:rPr lang="zh-CN" altLang="en-US" dirty="0">
                    <a:latin typeface="+mj-lt"/>
                  </a:rPr>
                  <a:t>对应的字符串。</a:t>
                </a:r>
                <a:r>
                  <a:rPr lang="en-US" altLang="zh-CN" i="1" dirty="0" err="1">
                    <a:latin typeface="+mj-lt"/>
                  </a:rPr>
                  <a:t>ct</a:t>
                </a:r>
                <a:r>
                  <a:rPr lang="zh-CN" altLang="en-US" dirty="0">
                    <a:latin typeface="+mj-lt"/>
                  </a:rPr>
                  <a:t>表示在</a:t>
                </a:r>
                <a:r>
                  <a:rPr lang="en-US" altLang="zh-CN" i="1" dirty="0">
                    <a:latin typeface="+mj-lt"/>
                  </a:rPr>
                  <a:t>t</a:t>
                </a:r>
                <a:r>
                  <a:rPr lang="zh-CN" altLang="en-US" dirty="0">
                    <a:latin typeface="+mj-lt"/>
                  </a:rPr>
                  <a:t>前接上字符对应的字符串。</a:t>
                </a:r>
                <a:endParaRPr lang="en-US" altLang="zh-CN" dirty="0">
                  <a:latin typeface="+mj-lt"/>
                </a:endParaRPr>
              </a:p>
              <a:p>
                <a:r>
                  <a:rPr lang="zh-CN" altLang="en-US" dirty="0">
                    <a:latin typeface="+mj-lt"/>
                  </a:rPr>
                  <a:t>一个串</a:t>
                </a:r>
                <a:r>
                  <a:rPr lang="en-US" altLang="zh-CN" i="1" dirty="0">
                    <a:latin typeface="+mj-lt"/>
                  </a:rPr>
                  <a:t>t</a:t>
                </a:r>
                <a:r>
                  <a:rPr lang="zh-CN" altLang="en-US" dirty="0">
                    <a:latin typeface="+mj-lt"/>
                  </a:rPr>
                  <a:t>为</a:t>
                </a:r>
                <a:r>
                  <a:rPr lang="en-US" altLang="zh-CN" i="1" dirty="0">
                    <a:latin typeface="+mj-lt"/>
                  </a:rPr>
                  <a:t>s</a:t>
                </a:r>
                <a:r>
                  <a:rPr lang="zh-CN" altLang="en-US" dirty="0">
                    <a:latin typeface="+mj-lt"/>
                  </a:rPr>
                  <a:t>的回文后缀，当且仅当</a:t>
                </a:r>
                <a14:m>
                  <m:oMath xmlns:m="http://schemas.openxmlformats.org/officeDocument/2006/math">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zh-CN" altLang="en-US" i="1">
                        <a:latin typeface="Cambria Math" panose="02040503050406030204" pitchFamily="18" charset="0"/>
                      </a:rPr>
                      <m:t>，</m:t>
                    </m:r>
                  </m:oMath>
                </a14:m>
                <a:r>
                  <a:rPr lang="zh-CN" altLang="en-US" dirty="0">
                    <a:latin typeface="+mj-lt"/>
                  </a:rPr>
                  <a:t>且</a:t>
                </a:r>
                <a14:m>
                  <m:oMath xmlns:m="http://schemas.openxmlformats.org/officeDocument/2006/math">
                    <m:r>
                      <a:rPr lang="en-US" altLang="zh-CN" b="0" i="1" dirty="0" smtClean="0">
                        <a:latin typeface="Cambria Math" panose="02040503050406030204" pitchFamily="18" charset="0"/>
                      </a:rPr>
                      <m:t>𝑡</m:t>
                    </m:r>
                  </m:oMath>
                </a14:m>
                <a:r>
                  <a:rPr lang="zh-CN" altLang="en-US" dirty="0">
                    <a:latin typeface="+mj-lt"/>
                  </a:rPr>
                  <a:t>为</a:t>
                </a:r>
                <a14:m>
                  <m:oMath xmlns:m="http://schemas.openxmlformats.org/officeDocument/2006/math">
                    <m:r>
                      <a:rPr lang="en-US" altLang="zh-CN" b="0" i="1" dirty="0" smtClean="0">
                        <a:latin typeface="Cambria Math" panose="02040503050406030204" pitchFamily="18" charset="0"/>
                      </a:rPr>
                      <m:t>𝑠</m:t>
                    </m:r>
                  </m:oMath>
                </a14:m>
                <a:r>
                  <a:rPr lang="zh-CN" altLang="en-US" dirty="0">
                    <a:latin typeface="+mj-lt"/>
                  </a:rPr>
                  <a:t>的一个后缀且</a:t>
                </a:r>
                <a:r>
                  <a:rPr lang="en-US" altLang="zh-CN" i="1" dirty="0">
                    <a:latin typeface="+mj-lt"/>
                  </a:rPr>
                  <a:t>t</a:t>
                </a:r>
                <a:r>
                  <a:rPr lang="zh-CN" altLang="en-US" dirty="0">
                    <a:latin typeface="+mj-lt"/>
                  </a:rPr>
                  <a:t>是回文的。</a:t>
                </a:r>
                <a:r>
                  <a:rPr lang="en-US" altLang="zh-CN" i="1" dirty="0">
                    <a:latin typeface="+mj-lt"/>
                  </a:rPr>
                  <a:t>s</a:t>
                </a:r>
                <a:r>
                  <a:rPr lang="zh-CN" altLang="en-US" dirty="0">
                    <a:latin typeface="+mj-lt"/>
                  </a:rPr>
                  <a:t>的最长回文后缀定义为长度最长的，且不为</a:t>
                </a:r>
                <a:r>
                  <a:rPr lang="en-US" altLang="zh-CN" i="1" dirty="0">
                    <a:latin typeface="+mj-lt"/>
                  </a:rPr>
                  <a:t>s</a:t>
                </a:r>
                <a:r>
                  <a:rPr lang="zh-CN" altLang="en-US" dirty="0">
                    <a:latin typeface="+mj-lt"/>
                  </a:rPr>
                  <a:t>的回文后缀的串。注意一个串可能不存在回文后缀，定义他的回文后缀只包含一个空串。</a:t>
                </a:r>
                <a:br>
                  <a:rPr lang="zh-CN" altLang="en-US" dirty="0"/>
                </a:b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143" r="-400"/>
                </a:stretch>
              </a:blipFill>
            </p:spPr>
            <p:txBody>
              <a:bodyPr/>
              <a:lstStyle/>
              <a:p>
                <a:r>
                  <a:rPr lang="en-US">
                    <a:noFill/>
                  </a:rPr>
                  <a:t> </a:t>
                </a:r>
              </a:p>
            </p:txBody>
          </p:sp>
        </mc:Fallback>
      </mc:AlternateContent>
    </p:spTree>
    <p:extLst>
      <p:ext uri="{BB962C8B-B14F-4D97-AF65-F5344CB8AC3E}">
        <p14:creationId xmlns:p14="http://schemas.microsoft.com/office/powerpoint/2010/main" val="379098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回文树的结构</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522414" y="1905000"/>
                <a:ext cx="9296398" cy="4495800"/>
              </a:xfrm>
            </p:spPr>
            <p:txBody>
              <a:bodyPr>
                <a:normAutofit/>
              </a:bodyPr>
              <a:lstStyle/>
              <a:p>
                <a:r>
                  <a:rPr lang="zh-CN" altLang="en-US" dirty="0">
                    <a:latin typeface="+mj-lt"/>
                  </a:rPr>
                  <a:t>一个串</a:t>
                </a:r>
                <a:r>
                  <a:rPr lang="en-US" altLang="zh-CN" i="1" dirty="0">
                    <a:latin typeface="+mj-lt"/>
                  </a:rPr>
                  <a:t>S</a:t>
                </a:r>
                <a:r>
                  <a:rPr lang="zh-CN" altLang="en-US" dirty="0">
                    <a:latin typeface="+mj-lt"/>
                  </a:rPr>
                  <a:t>的回文树为一个森林，由两棵树组成。设两棵树的根分别为</a:t>
                </a:r>
                <a:r>
                  <a:rPr lang="en-US" altLang="zh-CN" i="1" dirty="0">
                    <a:latin typeface="+mj-lt"/>
                  </a:rPr>
                  <a:t>even</a:t>
                </a:r>
                <a:r>
                  <a:rPr lang="en-US" altLang="zh-CN" dirty="0">
                    <a:latin typeface="+mj-lt"/>
                  </a:rPr>
                  <a:t>, </a:t>
                </a:r>
                <a:r>
                  <a:rPr lang="en-US" altLang="zh-CN" i="1" dirty="0">
                    <a:latin typeface="+mj-lt"/>
                  </a:rPr>
                  <a:t>odd</a:t>
                </a:r>
                <a:r>
                  <a:rPr lang="zh-CN" altLang="en-US" dirty="0">
                    <a:latin typeface="+mj-lt"/>
                  </a:rPr>
                  <a:t>。树上每个节点对应着一个字符串，除根外与</a:t>
                </a:r>
                <a:r>
                  <a:rPr lang="en-US" altLang="zh-CN" i="1" dirty="0">
                    <a:latin typeface="+mj-lt"/>
                  </a:rPr>
                  <a:t>s</a:t>
                </a:r>
                <a:r>
                  <a:rPr lang="zh-CN" altLang="en-US" dirty="0">
                    <a:latin typeface="+mj-lt"/>
                  </a:rPr>
                  <a:t>的回文子串一一对应。树上每条边都有对应的一个字符，且满足一个点的所有出边对应的字符各不相同。</a:t>
                </a:r>
                <a:endParaRPr lang="en-US" altLang="zh-CN" dirty="0">
                  <a:latin typeface="+mj-lt"/>
                </a:endParaRPr>
              </a:p>
              <a:p>
                <a:r>
                  <a:rPr lang="zh-CN" altLang="en-US" dirty="0">
                    <a:latin typeface="+mj-lt"/>
                  </a:rPr>
                  <a:t>对于树上一个点</a:t>
                </a:r>
                <a:r>
                  <a:rPr lang="en-US" altLang="zh-CN" i="1" dirty="0">
                    <a:latin typeface="+mj-lt"/>
                  </a:rPr>
                  <a:t>u</a:t>
                </a:r>
                <a:r>
                  <a:rPr lang="zh-CN" altLang="en-US" dirty="0">
                    <a:latin typeface="+mj-lt"/>
                  </a:rPr>
                  <a:t>，令 </a:t>
                </a:r>
                <a14:m>
                  <m:oMath xmlns:m="http://schemas.openxmlformats.org/officeDocument/2006/math">
                    <m:r>
                      <a:rPr lang="en-US" altLang="zh-CN" b="0" i="1" smtClean="0">
                        <a:latin typeface="Cambria Math" panose="02040503050406030204" pitchFamily="18" charset="0"/>
                      </a:rPr>
                      <m:t>𝑓𝑎</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m:t>
                    </m:r>
                  </m:oMath>
                </a14:m>
                <a:r>
                  <a:rPr lang="en-US" altLang="zh-CN" i="1" dirty="0">
                    <a:latin typeface="+mj-lt"/>
                  </a:rPr>
                  <a:t> </a:t>
                </a:r>
                <a:r>
                  <a:rPr lang="zh-CN" altLang="en-US" dirty="0">
                    <a:latin typeface="+mj-lt"/>
                  </a:rPr>
                  <a:t>为其父亲，则</a:t>
                </a:r>
                <a14:m>
                  <m:oMath xmlns:m="http://schemas.openxmlformats.org/officeDocument/2006/math">
                    <m:r>
                      <a:rPr lang="en-US" altLang="zh-CN" b="0" i="1" smtClean="0">
                        <a:latin typeface="Cambria Math" panose="02040503050406030204" pitchFamily="18" charset="0"/>
                      </a:rPr>
                      <m:t>𝑢</m:t>
                    </m:r>
                  </m:oMath>
                </a14:m>
                <a:r>
                  <a:rPr lang="zh-CN" altLang="en-US" dirty="0">
                    <a:latin typeface="+mj-lt"/>
                  </a:rPr>
                  <a:t>对应的字符串为</a:t>
                </a:r>
                <a14:m>
                  <m:oMath xmlns:m="http://schemas.openxmlformats.org/officeDocument/2006/math">
                    <m:r>
                      <a:rPr lang="en-US" altLang="zh-CN" i="1">
                        <a:latin typeface="Cambria Math" panose="02040503050406030204" pitchFamily="18" charset="0"/>
                      </a:rPr>
                      <m:t>𝑓𝑎</m:t>
                    </m:r>
                    <m:r>
                      <a:rPr lang="en-US" altLang="zh-CN" i="1">
                        <a:latin typeface="Cambria Math" panose="02040503050406030204" pitchFamily="18" charset="0"/>
                      </a:rPr>
                      <m:t>[</m:t>
                    </m:r>
                    <m:r>
                      <a:rPr lang="en-US" altLang="zh-CN" b="0" i="1" smtClean="0">
                        <a:latin typeface="Cambria Math" panose="02040503050406030204" pitchFamily="18" charset="0"/>
                      </a:rPr>
                      <m:t>𝑢</m:t>
                    </m:r>
                    <m:r>
                      <a:rPr lang="en-US" altLang="zh-CN" i="1">
                        <a:latin typeface="Cambria Math" panose="02040503050406030204" pitchFamily="18" charset="0"/>
                      </a:rPr>
                      <m:t>]</m:t>
                    </m:r>
                  </m:oMath>
                </a14:m>
                <a:r>
                  <a:rPr lang="zh-CN" altLang="en-US" dirty="0">
                    <a:latin typeface="+mj-lt"/>
                  </a:rPr>
                  <a:t>对应的字符串在两端加上连接</a:t>
                </a:r>
                <a14:m>
                  <m:oMath xmlns:m="http://schemas.openxmlformats.org/officeDocument/2006/math">
                    <m:r>
                      <a:rPr lang="en-US" altLang="zh-CN" b="0" i="1" smtClean="0">
                        <a:latin typeface="Cambria Math" panose="02040503050406030204" pitchFamily="18" charset="0"/>
                      </a:rPr>
                      <m:t>𝑢</m:t>
                    </m:r>
                  </m:oMath>
                </a14:m>
                <a:r>
                  <a:rPr lang="zh-CN" altLang="en-US" dirty="0">
                    <a:latin typeface="+mj-lt"/>
                  </a:rPr>
                  <a:t>与</a:t>
                </a:r>
                <a14:m>
                  <m:oMath xmlns:m="http://schemas.openxmlformats.org/officeDocument/2006/math">
                    <m:r>
                      <a:rPr lang="en-US" altLang="zh-CN" i="1">
                        <a:latin typeface="Cambria Math" panose="02040503050406030204" pitchFamily="18" charset="0"/>
                      </a:rPr>
                      <m:t>𝑓𝑎</m:t>
                    </m:r>
                    <m:r>
                      <a:rPr lang="en-US" altLang="zh-CN" i="1">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m:t>
                    </m:r>
                  </m:oMath>
                </a14:m>
                <a:r>
                  <a:rPr lang="zh-CN" altLang="en-US" dirty="0">
                    <a:latin typeface="+mj-lt"/>
                  </a:rPr>
                  <a:t>的边对应的字符</a:t>
                </a:r>
                <a:r>
                  <a:rPr lang="en-US" altLang="zh-CN" i="1" dirty="0">
                    <a:latin typeface="+mj-lt"/>
                  </a:rPr>
                  <a:t>c</a:t>
                </a:r>
                <a:r>
                  <a:rPr lang="zh-CN" altLang="en-US" i="1" dirty="0">
                    <a:latin typeface="+mj-lt"/>
                  </a:rPr>
                  <a:t>。</a:t>
                </a:r>
                <a:endParaRPr lang="en-US" altLang="zh-CN" i="1" dirty="0">
                  <a:latin typeface="+mj-lt"/>
                </a:endParaRPr>
              </a:p>
              <a:p>
                <a:r>
                  <a:rPr lang="zh-CN" altLang="en-US" dirty="0">
                    <a:latin typeface="+mj-lt"/>
                  </a:rPr>
                  <a:t>特别的，对于根</a:t>
                </a:r>
                <a:r>
                  <a:rPr lang="en-US" altLang="zh-CN" i="1" dirty="0">
                    <a:latin typeface="+mj-lt"/>
                  </a:rPr>
                  <a:t>even</a:t>
                </a:r>
                <a:r>
                  <a:rPr lang="zh-CN" altLang="en-US" dirty="0">
                    <a:latin typeface="+mj-lt"/>
                  </a:rPr>
                  <a:t>，令其对应的字符串为空串，根</a:t>
                </a:r>
                <a:r>
                  <a:rPr lang="en-US" altLang="zh-CN" i="1" dirty="0">
                    <a:latin typeface="+mj-lt"/>
                  </a:rPr>
                  <a:t>odd </a:t>
                </a:r>
                <a:r>
                  <a:rPr lang="zh-CN" altLang="en-US" dirty="0">
                    <a:latin typeface="+mj-lt"/>
                  </a:rPr>
                  <a:t>对应的字符串为一个长度为−</a:t>
                </a:r>
                <a:r>
                  <a:rPr lang="en-US" altLang="zh-CN" dirty="0">
                    <a:latin typeface="+mj-lt"/>
                  </a:rPr>
                  <a:t>1 </a:t>
                </a:r>
                <a:r>
                  <a:rPr lang="zh-CN" altLang="en-US" dirty="0">
                    <a:latin typeface="+mj-lt"/>
                  </a:rPr>
                  <a:t>的实际并不存在的字符串，</a:t>
                </a:r>
                <a:r>
                  <a:rPr lang="en-US" altLang="zh-CN" i="1" dirty="0">
                    <a:latin typeface="+mj-lt"/>
                  </a:rPr>
                  <a:t>odd</a:t>
                </a:r>
                <a:r>
                  <a:rPr lang="zh-CN" altLang="en-US" dirty="0">
                    <a:latin typeface="+mj-lt"/>
                  </a:rPr>
                  <a:t>的儿子对应的字符串为连出边对应的字符。</a:t>
                </a:r>
                <a:endParaRPr lang="en-US" dirty="0">
                  <a:latin typeface="+mj-lt"/>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522414" y="1905000"/>
                <a:ext cx="9296398" cy="4495800"/>
              </a:xfrm>
              <a:blipFill>
                <a:blip r:embed="rId2"/>
                <a:stretch>
                  <a:fillRect l="-918" t="-2035"/>
                </a:stretch>
              </a:blipFill>
            </p:spPr>
            <p:txBody>
              <a:bodyPr/>
              <a:lstStyle/>
              <a:p>
                <a:r>
                  <a:rPr lang="en-US">
                    <a:noFill/>
                  </a:rPr>
                  <a:t> </a:t>
                </a:r>
              </a:p>
            </p:txBody>
          </p:sp>
        </mc:Fallback>
      </mc:AlternateContent>
    </p:spTree>
    <p:extLst>
      <p:ext uri="{BB962C8B-B14F-4D97-AF65-F5344CB8AC3E}">
        <p14:creationId xmlns:p14="http://schemas.microsoft.com/office/powerpoint/2010/main" val="1368996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一些定义</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522414" y="1905000"/>
                <a:ext cx="9143998" cy="4495800"/>
              </a:xfrm>
            </p:spPr>
            <p:txBody>
              <a:bodyPr/>
              <a:lstStyle/>
              <a:p>
                <a14:m>
                  <m:oMath xmlns:m="http://schemas.openxmlformats.org/officeDocument/2006/math">
                    <m:r>
                      <a:rPr lang="en-US" b="0" i="1" smtClean="0">
                        <a:latin typeface="Cambria Math" panose="02040503050406030204" pitchFamily="18" charset="0"/>
                      </a:rPr>
                      <m:t>𝑙𝑒𝑛</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𝑢</m:t>
                        </m:r>
                      </m:e>
                    </m:d>
                    <m:r>
                      <a:rPr lang="en-US" b="0" i="0" smtClean="0">
                        <a:latin typeface="Cambria Math" panose="02040503050406030204" pitchFamily="18" charset="0"/>
                      </a:rPr>
                      <m:t> :</m:t>
                    </m:r>
                  </m:oMath>
                </a14:m>
                <a:r>
                  <a:rPr lang="en-US" dirty="0"/>
                  <a:t> </a:t>
                </a:r>
                <a:r>
                  <a:rPr lang="zh-CN" altLang="en-US" dirty="0"/>
                  <a:t>节点</a:t>
                </a:r>
                <a14:m>
                  <m:oMath xmlns:m="http://schemas.openxmlformats.org/officeDocument/2006/math">
                    <m:r>
                      <a:rPr lang="en-US" altLang="zh-CN" b="0" i="1" smtClean="0">
                        <a:latin typeface="Cambria Math" panose="02040503050406030204" pitchFamily="18" charset="0"/>
                      </a:rPr>
                      <m:t>𝑢</m:t>
                    </m:r>
                  </m:oMath>
                </a14:m>
                <a:r>
                  <a:rPr lang="zh-CN" altLang="en-US" dirty="0"/>
                  <a:t>代表的回文串的长度。</a:t>
                </a:r>
                <a:endParaRPr lang="en-US" altLang="zh-CN" dirty="0"/>
              </a:p>
              <a:p>
                <a:pPr marL="0" indent="0">
                  <a:buNone/>
                </a:pPr>
                <a:r>
                  <a:rPr lang="en-US" altLang="zh-CN" dirty="0"/>
                  <a:t>   </a:t>
                </a:r>
                <a:r>
                  <a:rPr lang="zh-CN" altLang="en-US" dirty="0"/>
                  <a:t>特别地 </a:t>
                </a:r>
                <a14:m>
                  <m:oMath xmlns:m="http://schemas.openxmlformats.org/officeDocument/2006/math">
                    <m:r>
                      <a:rPr lang="en-US" altLang="zh-CN" b="0" i="1" smtClean="0">
                        <a:latin typeface="Cambria Math" panose="02040503050406030204" pitchFamily="18" charset="0"/>
                      </a:rPr>
                      <m:t>𝑙𝑒𝑛</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𝑒𝑣𝑒𝑛</m:t>
                        </m:r>
                      </m:e>
                    </m:d>
                    <m:r>
                      <a:rPr lang="en-US" altLang="zh-CN" b="0" i="1" smtClean="0">
                        <a:latin typeface="Cambria Math" panose="02040503050406030204" pitchFamily="18" charset="0"/>
                      </a:rPr>
                      <m:t>=0, </m:t>
                    </m:r>
                    <m:r>
                      <a:rPr lang="en-US" altLang="zh-CN" b="0" i="1" smtClean="0">
                        <a:latin typeface="Cambria Math" panose="02040503050406030204" pitchFamily="18" charset="0"/>
                      </a:rPr>
                      <m:t>𝑙𝑒𝑛</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𝑜𝑑𝑑</m:t>
                        </m:r>
                      </m:e>
                    </m:d>
                    <m:r>
                      <a:rPr lang="en-US" altLang="zh-CN" b="0" i="1" smtClean="0">
                        <a:latin typeface="Cambria Math" panose="02040503050406030204" pitchFamily="18" charset="0"/>
                      </a:rPr>
                      <m:t>=−1</m:t>
                    </m:r>
                    <m:r>
                      <a:rPr lang="zh-CN" altLang="en-US" i="1">
                        <a:latin typeface="Cambria Math" panose="02040503050406030204" pitchFamily="18" charset="0"/>
                      </a:rPr>
                      <m:t>。</m:t>
                    </m:r>
                  </m:oMath>
                </a14:m>
                <a:endParaRPr lang="en-US" altLang="zh-CN" dirty="0"/>
              </a:p>
              <a:p>
                <a14:m>
                  <m:oMath xmlns:m="http://schemas.openxmlformats.org/officeDocument/2006/math">
                    <m:r>
                      <a:rPr lang="en-US" b="0" i="1" smtClean="0">
                        <a:latin typeface="Cambria Math" panose="02040503050406030204" pitchFamily="18" charset="0"/>
                      </a:rPr>
                      <m:t>𝑐h</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𝑢</m:t>
                        </m:r>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𝑐</m:t>
                        </m:r>
                      </m:e>
                    </m:d>
                    <m:r>
                      <a:rPr lang="en-US" b="0" i="1" smtClean="0">
                        <a:latin typeface="Cambria Math" panose="02040503050406030204" pitchFamily="18" charset="0"/>
                      </a:rPr>
                      <m:t> :</m:t>
                    </m:r>
                  </m:oMath>
                </a14:m>
                <a:r>
                  <a:rPr lang="en-US" dirty="0"/>
                  <a:t> </a:t>
                </a:r>
                <a:r>
                  <a:rPr lang="zh-CN" altLang="en-US" dirty="0"/>
                  <a:t>节点</a:t>
                </a:r>
                <a14:m>
                  <m:oMath xmlns:m="http://schemas.openxmlformats.org/officeDocument/2006/math">
                    <m:r>
                      <a:rPr lang="en-US" altLang="zh-CN" i="1">
                        <a:latin typeface="Cambria Math" panose="02040503050406030204" pitchFamily="18" charset="0"/>
                      </a:rPr>
                      <m:t>𝑢</m:t>
                    </m:r>
                  </m:oMath>
                </a14:m>
                <a:r>
                  <a:rPr lang="zh-CN" altLang="en-US" dirty="0"/>
                  <a:t>的儿子，其连边上的字符为</a:t>
                </a:r>
                <a14:m>
                  <m:oMath xmlns:m="http://schemas.openxmlformats.org/officeDocument/2006/math">
                    <m:r>
                      <m:rPr>
                        <m:sty m:val="p"/>
                      </m:rPr>
                      <a:rPr lang="en-US" altLang="zh-CN" i="1" dirty="0">
                        <a:latin typeface="Cambria Math" panose="02040503050406030204" pitchFamily="18" charset="0"/>
                      </a:rPr>
                      <m:t>c</m:t>
                    </m:r>
                  </m:oMath>
                </a14:m>
                <a:r>
                  <a:rPr lang="zh-CN" altLang="en-US" dirty="0"/>
                  <a:t>。</a:t>
                </a:r>
                <a:endParaRPr lang="en-US" dirty="0"/>
              </a:p>
              <a:p>
                <a14:m>
                  <m:oMath xmlns:m="http://schemas.openxmlformats.org/officeDocument/2006/math">
                    <m:r>
                      <a:rPr lang="en-US" b="0" i="1" smtClean="0">
                        <a:latin typeface="Cambria Math" panose="02040503050406030204" pitchFamily="18" charset="0"/>
                      </a:rPr>
                      <m:t>𝑓𝑎𝑖𝑙</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𝑢</m:t>
                        </m:r>
                      </m:e>
                    </m:d>
                    <m:r>
                      <a:rPr lang="en-US" b="0" i="1" smtClean="0">
                        <a:latin typeface="Cambria Math" panose="02040503050406030204" pitchFamily="18" charset="0"/>
                      </a:rPr>
                      <m:t> :</m:t>
                    </m:r>
                  </m:oMath>
                </a14:m>
                <a:r>
                  <a:rPr lang="en-US" dirty="0"/>
                  <a:t> </a:t>
                </a:r>
                <a14:m>
                  <m:oMath xmlns:m="http://schemas.openxmlformats.org/officeDocument/2006/math">
                    <m:r>
                      <a:rPr lang="en-US" altLang="zh-CN" i="1">
                        <a:latin typeface="Cambria Math" panose="02040503050406030204" pitchFamily="18" charset="0"/>
                      </a:rPr>
                      <m:t>𝑢</m:t>
                    </m:r>
                    <m:r>
                      <a:rPr lang="zh-CN" altLang="en-US" i="1" smtClean="0">
                        <a:latin typeface="Cambria Math" panose="02040503050406030204" pitchFamily="18" charset="0"/>
                      </a:rPr>
                      <m:t>的</m:t>
                    </m:r>
                  </m:oMath>
                </a14:m>
                <a:r>
                  <a:rPr lang="zh-CN" altLang="en-US" dirty="0"/>
                  <a:t>最长回文后缀在回文树上对应的节点。</a:t>
                </a:r>
                <a:endParaRPr lang="en-US" altLang="zh-CN" dirty="0"/>
              </a:p>
              <a:p>
                <a:pPr marL="0" indent="0">
                  <a:buNone/>
                </a:pPr>
                <a:r>
                  <a:rPr lang="en-US" dirty="0"/>
                  <a:t>   </a:t>
                </a:r>
                <a:r>
                  <a:rPr lang="zh-CN" altLang="en-US" dirty="0"/>
                  <a:t>特别地 </a:t>
                </a:r>
                <a14:m>
                  <m:oMath xmlns:m="http://schemas.openxmlformats.org/officeDocument/2006/math">
                    <m:r>
                      <a:rPr lang="en-US" altLang="zh-CN" b="0" i="1" smtClean="0">
                        <a:latin typeface="Cambria Math" panose="02040503050406030204" pitchFamily="18" charset="0"/>
                      </a:rPr>
                      <m:t>𝑓𝑎𝑖𝑙</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𝑒𝑣𝑒𝑛</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𝑓𝑎𝑖𝑙</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𝑜𝑑𝑑</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𝑜𝑑𝑑</m:t>
                    </m:r>
                  </m:oMath>
                </a14:m>
                <a:r>
                  <a:rPr lang="en-US" dirty="0"/>
                  <a:t>,</a:t>
                </a:r>
              </a:p>
              <a:p>
                <a:pPr marL="0" indent="0">
                  <a:buNone/>
                </a:pPr>
                <a:r>
                  <a:rPr lang="en-US" dirty="0"/>
                  <a:t>   </a:t>
                </a:r>
                <a:r>
                  <a:rPr lang="zh-CN" altLang="en-US" dirty="0"/>
                  <a:t>最长回文后缀为空串时，</a:t>
                </a:r>
                <a14:m>
                  <m:oMath xmlns:m="http://schemas.openxmlformats.org/officeDocument/2006/math">
                    <m:r>
                      <a:rPr lang="en-US" altLang="zh-CN" b="0" i="1" smtClean="0">
                        <a:latin typeface="Cambria Math" panose="02040503050406030204" pitchFamily="18" charset="0"/>
                      </a:rPr>
                      <m:t>𝑓𝑎𝑖𝑙</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𝑒𝑣𝑒𝑛</m:t>
                    </m:r>
                  </m:oMath>
                </a14:m>
                <a:r>
                  <a:rPr lang="zh-CN" altLang="en-US" dirty="0"/>
                  <a:t>。</a:t>
                </a:r>
                <a:endParaRPr lang="en-US" altLang="zh-CN" dirty="0"/>
              </a:p>
              <a:p>
                <a:pPr marL="0" indent="0">
                  <a:buNone/>
                </a:pPr>
                <a:r>
                  <a:rPr lang="en-US" dirty="0"/>
                  <a:t>   </a:t>
                </a:r>
                <a:r>
                  <a:rPr lang="zh-CN" altLang="en-US" dirty="0"/>
                  <a:t>可以发现</a:t>
                </a:r>
                <a14:m>
                  <m:oMath xmlns:m="http://schemas.openxmlformats.org/officeDocument/2006/math">
                    <m:r>
                      <a:rPr lang="en-US" altLang="zh-CN" b="0" i="1" smtClean="0">
                        <a:latin typeface="Cambria Math" panose="02040503050406030204" pitchFamily="18" charset="0"/>
                      </a:rPr>
                      <m:t>𝑓𝑎𝑖𝑙</m:t>
                    </m:r>
                    <m:r>
                      <a:rPr lang="zh-CN" altLang="en-US" i="1">
                        <a:latin typeface="Cambria Math" panose="02040503050406030204" pitchFamily="18" charset="0"/>
                      </a:rPr>
                      <m:t>指针</m:t>
                    </m:r>
                  </m:oMath>
                </a14:m>
                <a:r>
                  <a:rPr lang="zh-CN" altLang="en-US" dirty="0"/>
                  <a:t>几乎构成了一棵树，定义一个节点的</a:t>
                </a:r>
                <a14:m>
                  <m:oMath xmlns:m="http://schemas.openxmlformats.org/officeDocument/2006/math">
                    <m:r>
                      <a:rPr lang="en-US" altLang="zh-CN" b="0" i="1" smtClean="0">
                        <a:latin typeface="Cambria Math" panose="02040503050406030204" pitchFamily="18" charset="0"/>
                      </a:rPr>
                      <m:t>𝑓𝑎𝑖𝑙</m:t>
                    </m:r>
                    <m:r>
                      <a:rPr lang="zh-CN" altLang="en-US" i="1">
                        <a:latin typeface="Cambria Math" panose="02040503050406030204" pitchFamily="18" charset="0"/>
                      </a:rPr>
                      <m:t>链</m:t>
                    </m:r>
                  </m:oMath>
                </a14:m>
                <a:r>
                  <a:rPr lang="zh-CN" altLang="en-US" dirty="0"/>
                  <a:t>为这</a:t>
                </a:r>
                <a14:m>
                  <m:oMath xmlns:m="http://schemas.openxmlformats.org/officeDocument/2006/math">
                    <m:r>
                      <a:rPr lang="en-US" altLang="zh-CN" b="0" i="1" smtClean="0">
                        <a:latin typeface="Cambria Math" panose="02040503050406030204" pitchFamily="18" charset="0"/>
                      </a:rPr>
                      <m:t>𝑓𝑎𝑖𝑙</m:t>
                    </m:r>
                  </m:oMath>
                </a14:m>
                <a:r>
                  <a:rPr lang="zh-CN" altLang="en-US" dirty="0"/>
                  <a:t>树上它到根的路径。</a:t>
                </a:r>
                <a:endParaRPr lang="en-US" dirty="0"/>
              </a:p>
              <a:p>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522414" y="1905000"/>
                <a:ext cx="9143998" cy="4495800"/>
              </a:xfrm>
              <a:blipFill>
                <a:blip r:embed="rId2"/>
                <a:stretch>
                  <a:fillRect l="-933" t="-1900" r="-933"/>
                </a:stretch>
              </a:blipFill>
            </p:spPr>
            <p:txBody>
              <a:bodyPr/>
              <a:lstStyle/>
              <a:p>
                <a:r>
                  <a:rPr lang="en-US">
                    <a:noFill/>
                  </a:rPr>
                  <a:t> </a:t>
                </a:r>
              </a:p>
            </p:txBody>
          </p:sp>
        </mc:Fallback>
      </mc:AlternateContent>
    </p:spTree>
    <p:extLst>
      <p:ext uri="{BB962C8B-B14F-4D97-AF65-F5344CB8AC3E}">
        <p14:creationId xmlns:p14="http://schemas.microsoft.com/office/powerpoint/2010/main" val="534724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一个回文树的例子</a:t>
            </a:r>
            <a:endParaRPr lang="en-US" dirty="0"/>
          </a:p>
        </p:txBody>
      </p:sp>
      <p:pic>
        <p:nvPicPr>
          <p:cNvPr id="4" name="内容占位符 3"/>
          <p:cNvPicPr>
            <a:picLocks noGrp="1" noChangeAspect="1"/>
          </p:cNvPicPr>
          <p:nvPr>
            <p:ph idx="1"/>
          </p:nvPr>
        </p:nvPicPr>
        <p:blipFill>
          <a:blip r:embed="rId2"/>
          <a:stretch>
            <a:fillRect/>
          </a:stretch>
        </p:blipFill>
        <p:spPr>
          <a:xfrm>
            <a:off x="1522414" y="1752600"/>
            <a:ext cx="7696200" cy="4747731"/>
          </a:xfrm>
          <a:prstGeom prst="rect">
            <a:avLst/>
          </a:prstGeom>
        </p:spPr>
      </p:pic>
    </p:spTree>
    <p:extLst>
      <p:ext uri="{BB962C8B-B14F-4D97-AF65-F5344CB8AC3E}">
        <p14:creationId xmlns:p14="http://schemas.microsoft.com/office/powerpoint/2010/main" val="2318088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状态数证明</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522414" y="1905000"/>
                <a:ext cx="9296398" cy="4267200"/>
              </a:xfrm>
            </p:spPr>
            <p:txBody>
              <a:bodyPr>
                <a:noAutofit/>
              </a:bodyPr>
              <a:lstStyle/>
              <a:p>
                <a:r>
                  <a:rPr lang="zh-CN" altLang="en-US" dirty="0">
                    <a:latin typeface="+mj-lt"/>
                  </a:rPr>
                  <a:t>定理</a:t>
                </a:r>
                <a:r>
                  <a:rPr lang="en-US" altLang="zh-CN" dirty="0">
                    <a:latin typeface="+mj-lt"/>
                  </a:rPr>
                  <a:t>1.1 </a:t>
                </a:r>
                <a:r>
                  <a:rPr lang="zh-CN" altLang="en-US" dirty="0">
                    <a:latin typeface="+mj-lt"/>
                  </a:rPr>
                  <a:t>对于一个字符串</a:t>
                </a:r>
                <a:r>
                  <a:rPr lang="en-US" altLang="zh-CN" i="1" dirty="0">
                    <a:latin typeface="+mj-lt"/>
                  </a:rPr>
                  <a:t>s</a:t>
                </a:r>
                <a:r>
                  <a:rPr lang="zh-CN" altLang="en-US" dirty="0">
                    <a:latin typeface="+mj-lt"/>
                  </a:rPr>
                  <a:t>，不同的回文子串个数最多只有</a:t>
                </a:r>
                <a14:m>
                  <m:oMath xmlns:m="http://schemas.openxmlformats.org/officeDocument/2006/math">
                    <m:r>
                      <a:rPr lang="en-US" altLang="zh-CN" i="1" dirty="0">
                        <a:latin typeface="Cambria Math" panose="02040503050406030204" pitchFamily="18" charset="0"/>
                      </a:rPr>
                      <m:t>|</m:t>
                    </m:r>
                    <m:r>
                      <a:rPr lang="en-US" altLang="zh-CN" b="0" i="1" dirty="0" smtClean="0">
                        <a:latin typeface="Cambria Math" panose="02040503050406030204" pitchFamily="18" charset="0"/>
                      </a:rPr>
                      <m:t>𝑠</m:t>
                    </m:r>
                    <m:r>
                      <a:rPr lang="en-US" altLang="zh-CN" i="1" dirty="0" smtClean="0">
                        <a:latin typeface="Cambria Math" panose="02040503050406030204" pitchFamily="18" charset="0"/>
                      </a:rPr>
                      <m:t>|</m:t>
                    </m:r>
                  </m:oMath>
                </a14:m>
                <a:r>
                  <a:rPr lang="zh-CN" altLang="en-US" dirty="0">
                    <a:latin typeface="+mj-lt"/>
                  </a:rPr>
                  <a:t>个。</a:t>
                </a:r>
                <a:endParaRPr lang="en-US" altLang="zh-CN" dirty="0">
                  <a:latin typeface="+mj-lt"/>
                </a:endParaRPr>
              </a:p>
              <a:p>
                <a:r>
                  <a:rPr lang="zh-CN" altLang="en-US" dirty="0">
                    <a:latin typeface="+mj-lt"/>
                  </a:rPr>
                  <a:t>证明可用数学归纳法</a:t>
                </a:r>
                <a:endParaRPr lang="en-US" altLang="zh-CN" dirty="0">
                  <a:latin typeface="+mj-lt"/>
                </a:endParaRPr>
              </a:p>
              <a:p>
                <a:r>
                  <a:rPr lang="zh-CN" altLang="en-US" dirty="0">
                    <a:latin typeface="+mj-lt"/>
                  </a:rPr>
                  <a:t>即回文树状态和转移数均是</a:t>
                </a:r>
                <a14:m>
                  <m:oMath xmlns:m="http://schemas.openxmlformats.org/officeDocument/2006/math">
                    <m:r>
                      <m:rPr>
                        <m:sty m:val="p"/>
                      </m:rPr>
                      <a:rPr lang="en-US" altLang="zh-CN" i="1" dirty="0">
                        <a:latin typeface="Cambria Math" panose="02040503050406030204" pitchFamily="18" charset="0"/>
                      </a:rPr>
                      <m:t>O</m:t>
                    </m:r>
                    <m:r>
                      <a:rPr lang="en-US" altLang="zh-CN" i="1" dirty="0">
                        <a:latin typeface="Cambria Math" panose="02040503050406030204" pitchFamily="18" charset="0"/>
                      </a:rPr>
                      <m:t>(|</m:t>
                    </m:r>
                    <m:r>
                      <a:rPr lang="en-US" altLang="zh-CN" i="1" dirty="0">
                        <a:latin typeface="Cambria Math" panose="02040503050406030204" pitchFamily="18" charset="0"/>
                      </a:rPr>
                      <m:t>𝑠</m:t>
                    </m:r>
                    <m:r>
                      <a:rPr lang="en-US" altLang="zh-CN" i="1" dirty="0">
                        <a:latin typeface="Cambria Math" panose="02040503050406030204" pitchFamily="18" charset="0"/>
                      </a:rPr>
                      <m:t>|)</m:t>
                    </m:r>
                    <m:r>
                      <a:rPr lang="zh-CN" altLang="en-US" i="1" dirty="0">
                        <a:latin typeface="Cambria Math" panose="02040503050406030204" pitchFamily="18" charset="0"/>
                      </a:rPr>
                      <m:t>的</m:t>
                    </m:r>
                  </m:oMath>
                </a14:m>
                <a:r>
                  <a:rPr lang="zh-CN" altLang="en-US" dirty="0">
                    <a:latin typeface="+mj-lt"/>
                  </a:rPr>
                  <a:t>。</a:t>
                </a:r>
                <a:endParaRPr lang="en-US" altLang="zh-CN" dirty="0">
                  <a:latin typeface="+mj-lt"/>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522414" y="1905000"/>
                <a:ext cx="9296398" cy="4267200"/>
              </a:xfrm>
              <a:blipFill>
                <a:blip r:embed="rId2"/>
                <a:stretch>
                  <a:fillRect l="-918" t="-2143" r="-525"/>
                </a:stretch>
              </a:blipFill>
            </p:spPr>
            <p:txBody>
              <a:bodyPr/>
              <a:lstStyle/>
              <a:p>
                <a:r>
                  <a:rPr lang="en-US">
                    <a:noFill/>
                  </a:rPr>
                  <a:t> </a:t>
                </a:r>
              </a:p>
            </p:txBody>
          </p:sp>
        </mc:Fallback>
      </mc:AlternateContent>
    </p:spTree>
    <p:extLst>
      <p:ext uri="{BB962C8B-B14F-4D97-AF65-F5344CB8AC3E}">
        <p14:creationId xmlns:p14="http://schemas.microsoft.com/office/powerpoint/2010/main" val="1707183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基础插入算法</a:t>
            </a:r>
            <a:endParaRPr lang="en-US" dirty="0"/>
          </a:p>
        </p:txBody>
      </p:sp>
      <p:sp>
        <p:nvSpPr>
          <p:cNvPr id="3" name="内容占位符 2"/>
          <p:cNvSpPr>
            <a:spLocks noGrp="1"/>
          </p:cNvSpPr>
          <p:nvPr>
            <p:ph idx="1"/>
          </p:nvPr>
        </p:nvSpPr>
        <p:spPr/>
        <p:txBody>
          <a:bodyPr>
            <a:normAutofit/>
          </a:bodyPr>
          <a:lstStyle/>
          <a:p>
            <a:r>
              <a:rPr lang="zh-CN" altLang="en-US" dirty="0">
                <a:latin typeface="+mj-lt"/>
              </a:rPr>
              <a:t>我们采用增量法来构造出字符串</a:t>
            </a:r>
            <a:r>
              <a:rPr lang="en-US" altLang="zh-CN" i="1" dirty="0">
                <a:latin typeface="+mj-lt"/>
              </a:rPr>
              <a:t>s</a:t>
            </a:r>
            <a:r>
              <a:rPr lang="zh-CN" altLang="en-US" dirty="0">
                <a:latin typeface="+mj-lt"/>
              </a:rPr>
              <a:t>的回文树。假设已经构造出</a:t>
            </a:r>
            <a:r>
              <a:rPr lang="en-US" altLang="zh-CN" i="1" dirty="0">
                <a:latin typeface="+mj-lt"/>
              </a:rPr>
              <a:t>s</a:t>
            </a:r>
            <a:r>
              <a:rPr lang="zh-CN" altLang="en-US" dirty="0">
                <a:latin typeface="+mj-lt"/>
              </a:rPr>
              <a:t>的回文树，接下来需要在</a:t>
            </a:r>
            <a:r>
              <a:rPr lang="en-US" altLang="zh-CN" i="1" dirty="0">
                <a:latin typeface="+mj-lt"/>
              </a:rPr>
              <a:t>s</a:t>
            </a:r>
            <a:r>
              <a:rPr lang="zh-CN" altLang="en-US" dirty="0">
                <a:latin typeface="+mj-lt"/>
              </a:rPr>
              <a:t>的末尾加入一个新的字符</a:t>
            </a:r>
            <a:r>
              <a:rPr lang="en-US" altLang="zh-CN" i="1" dirty="0">
                <a:latin typeface="+mj-lt"/>
              </a:rPr>
              <a:t>c</a:t>
            </a:r>
            <a:r>
              <a:rPr lang="zh-CN" altLang="en-US" dirty="0">
                <a:latin typeface="+mj-lt"/>
              </a:rPr>
              <a:t>，并维护出</a:t>
            </a:r>
            <a:r>
              <a:rPr lang="en-US" altLang="zh-CN" i="1" dirty="0" err="1">
                <a:latin typeface="+mj-lt"/>
              </a:rPr>
              <a:t>sc</a:t>
            </a:r>
            <a:r>
              <a:rPr lang="zh-CN" altLang="en-US" dirty="0">
                <a:latin typeface="+mj-lt"/>
              </a:rPr>
              <a:t>的回文树。</a:t>
            </a:r>
            <a:endParaRPr lang="en-US" altLang="zh-CN" dirty="0">
              <a:latin typeface="+mj-lt"/>
            </a:endParaRPr>
          </a:p>
          <a:p>
            <a:r>
              <a:rPr lang="zh-CN" altLang="en-US" dirty="0">
                <a:latin typeface="+mj-lt"/>
              </a:rPr>
              <a:t>定理</a:t>
            </a:r>
            <a:r>
              <a:rPr lang="en-US" altLang="zh-CN" dirty="0">
                <a:latin typeface="+mj-lt"/>
              </a:rPr>
              <a:t>1.2</a:t>
            </a:r>
            <a:r>
              <a:rPr lang="en-US" altLang="zh-CN" b="1" dirty="0">
                <a:latin typeface="+mj-lt"/>
              </a:rPr>
              <a:t> </a:t>
            </a:r>
            <a:r>
              <a:rPr lang="zh-CN" altLang="en-US" dirty="0">
                <a:latin typeface="+mj-lt"/>
              </a:rPr>
              <a:t>以新加入的字符</a:t>
            </a:r>
            <a:r>
              <a:rPr lang="en-US" altLang="zh-CN" i="1" dirty="0">
                <a:latin typeface="+mj-lt"/>
              </a:rPr>
              <a:t>c</a:t>
            </a:r>
            <a:r>
              <a:rPr lang="zh-CN" altLang="en-US" dirty="0">
                <a:latin typeface="+mj-lt"/>
              </a:rPr>
              <a:t>为结尾的，未在</a:t>
            </a:r>
            <a:r>
              <a:rPr lang="en-US" altLang="zh-CN" i="1" dirty="0">
                <a:latin typeface="+mj-lt"/>
              </a:rPr>
              <a:t>s</a:t>
            </a:r>
            <a:r>
              <a:rPr lang="zh-CN" altLang="en-US" dirty="0">
                <a:latin typeface="+mj-lt"/>
              </a:rPr>
              <a:t>中出现过的回文子串最多只有</a:t>
            </a:r>
            <a:r>
              <a:rPr lang="en-US" altLang="zh-CN" dirty="0">
                <a:latin typeface="+mj-lt"/>
              </a:rPr>
              <a:t>1</a:t>
            </a:r>
            <a:r>
              <a:rPr lang="zh-CN" altLang="en-US" dirty="0">
                <a:latin typeface="+mj-lt"/>
              </a:rPr>
              <a:t>个，且必为</a:t>
            </a:r>
            <a:r>
              <a:rPr lang="en-US" altLang="zh-CN" i="1" dirty="0" err="1">
                <a:latin typeface="+mj-lt"/>
              </a:rPr>
              <a:t>sc</a:t>
            </a:r>
            <a:r>
              <a:rPr lang="zh-CN" altLang="en-US" i="1" dirty="0">
                <a:latin typeface="+mj-lt"/>
              </a:rPr>
              <a:t>的</a:t>
            </a:r>
            <a:r>
              <a:rPr lang="zh-CN" altLang="en-US" dirty="0">
                <a:latin typeface="+mj-lt"/>
              </a:rPr>
              <a:t>最长回文后缀。</a:t>
            </a:r>
            <a:endParaRPr lang="en-US" altLang="zh-CN" dirty="0">
              <a:latin typeface="+mj-lt"/>
            </a:endParaRPr>
          </a:p>
          <a:p>
            <a:r>
              <a:rPr lang="zh-CN" altLang="en-US" dirty="0">
                <a:latin typeface="+mj-lt"/>
              </a:rPr>
              <a:t>证明跟之前那个是一样的</a:t>
            </a:r>
            <a:endParaRPr lang="en-US" dirty="0"/>
          </a:p>
        </p:txBody>
      </p:sp>
    </p:spTree>
    <p:extLst>
      <p:ext uri="{BB962C8B-B14F-4D97-AF65-F5344CB8AC3E}">
        <p14:creationId xmlns:p14="http://schemas.microsoft.com/office/powerpoint/2010/main" val="3269392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基础插入算法</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mj-lt"/>
                  </a:rPr>
                  <a:t>每次只需求出</a:t>
                </a:r>
                <a:r>
                  <a:rPr lang="en-US" altLang="zh-CN" i="1" dirty="0" err="1">
                    <a:latin typeface="+mj-lt"/>
                  </a:rPr>
                  <a:t>sc</a:t>
                </a:r>
                <a:r>
                  <a:rPr lang="zh-CN" altLang="en-US" dirty="0">
                    <a:latin typeface="+mj-lt"/>
                  </a:rPr>
                  <a:t>的最长回文后缀即可。</a:t>
                </a:r>
                <a:endParaRPr lang="en-US" altLang="zh-CN" dirty="0">
                  <a:latin typeface="+mj-lt"/>
                </a:endParaRPr>
              </a:p>
              <a:p>
                <a:r>
                  <a:rPr lang="zh-CN" altLang="en-US" dirty="0">
                    <a:latin typeface="+mj-lt"/>
                  </a:rPr>
                  <a:t>不妨设</a:t>
                </a:r>
                <a:r>
                  <a:rPr lang="en-US" altLang="zh-CN" i="1" dirty="0" err="1">
                    <a:latin typeface="+mj-lt"/>
                  </a:rPr>
                  <a:t>sc</a:t>
                </a:r>
                <a:r>
                  <a:rPr lang="zh-CN" altLang="en-US" dirty="0">
                    <a:latin typeface="+mj-lt"/>
                  </a:rPr>
                  <a:t>的最长回文后缀为</a:t>
                </a:r>
                <a14:m>
                  <m:oMath xmlns:m="http://schemas.openxmlformats.org/officeDocument/2006/math">
                    <m:r>
                      <a:rPr lang="en-US" altLang="zh-CN" b="0" i="0" smtClean="0">
                        <a:latin typeface="Cambria Math" panose="02040503050406030204" pitchFamily="18" charset="0"/>
                      </a:rPr>
                      <m:t> </m:t>
                    </m:r>
                    <m:r>
                      <a:rPr lang="en-US" altLang="zh-CN" b="0" i="1" smtClean="0">
                        <a:latin typeface="Cambria Math" panose="02040503050406030204" pitchFamily="18" charset="0"/>
                      </a:rPr>
                      <m:t>𝑠</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e>
                    </m:d>
                    <m:r>
                      <a:rPr lang="en-US" altLang="zh-CN" b="0" i="1" smtClean="0">
                        <a:latin typeface="Cambria Math" panose="02040503050406030204" pitchFamily="18" charset="0"/>
                      </a:rPr>
                      <m:t>𝑐</m:t>
                    </m:r>
                  </m:oMath>
                </a14:m>
                <a:r>
                  <a:rPr lang="zh-CN" altLang="en-US" dirty="0">
                    <a:latin typeface="+mj-lt"/>
                  </a:rPr>
                  <a:t>，那么由回文串的定义，要么</a:t>
                </a:r>
                <a14:m>
                  <m:oMath xmlns:m="http://schemas.openxmlformats.org/officeDocument/2006/math">
                    <m:r>
                      <a:rPr lang="en-US" altLang="zh-CN" b="0" i="1" smtClean="0">
                        <a:latin typeface="Cambria Math" panose="02040503050406030204" pitchFamily="18" charset="0"/>
                      </a:rPr>
                      <m:t>𝑖</m:t>
                    </m:r>
                    <m:r>
                      <a:rPr lang="en-US" altLang="zh-CN" b="0" i="1" smtClean="0">
                        <a:latin typeface="Cambria Math" panose="02040503050406030204" pitchFamily="18" charset="0"/>
                      </a:rPr>
                      <m:t>&gt;|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oMath>
                </a14:m>
                <a:r>
                  <a:rPr lang="zh-CN" altLang="en-US" dirty="0">
                    <a:latin typeface="+mj-lt"/>
                  </a:rPr>
                  <a:t>，即最长回文后缀只有</a:t>
                </a:r>
                <a:r>
                  <a:rPr lang="en-US" altLang="zh-CN" i="1" dirty="0">
                    <a:latin typeface="+mj-lt"/>
                  </a:rPr>
                  <a:t>c</a:t>
                </a:r>
                <a:r>
                  <a:rPr lang="zh-CN" altLang="en-US" dirty="0">
                    <a:latin typeface="+mj-lt"/>
                  </a:rPr>
                  <a:t>这个字符，要么</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+1..|</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oMath>
                </a14:m>
                <a:r>
                  <a:rPr lang="zh-CN" altLang="en-US" dirty="0">
                    <a:latin typeface="+mj-lt"/>
                  </a:rPr>
                  <a:t>也是一个回文串。</a:t>
                </a:r>
                <a:endParaRPr lang="en-US" altLang="zh-CN" dirty="0">
                  <a:latin typeface="+mj-lt"/>
                </a:endParaRPr>
              </a:p>
              <a:p>
                <a:r>
                  <a:rPr lang="zh-CN" altLang="en-US" dirty="0">
                    <a:latin typeface="+mj-lt"/>
                  </a:rPr>
                  <a:t>也就是说，</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+1..|</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oMath>
                </a14:m>
                <a:r>
                  <a:rPr lang="zh-CN" altLang="en-US" dirty="0">
                    <a:latin typeface="+mj-lt"/>
                  </a:rPr>
                  <a:t>必须是</a:t>
                </a:r>
                <a:r>
                  <a:rPr lang="en-US" altLang="zh-CN" i="1" dirty="0">
                    <a:latin typeface="+mj-lt"/>
                  </a:rPr>
                  <a:t>s</a:t>
                </a:r>
                <a:r>
                  <a:rPr lang="zh-CN" altLang="en-US" dirty="0">
                    <a:latin typeface="+mj-lt"/>
                  </a:rPr>
                  <a:t>的回文后缀，或是长度为</a:t>
                </a:r>
                <a:r>
                  <a:rPr lang="en-US" altLang="zh-CN" dirty="0">
                    <a:latin typeface="+mj-lt"/>
                  </a:rPr>
                  <a:t>0</a:t>
                </a:r>
                <a:r>
                  <a:rPr lang="zh-CN" altLang="en-US" dirty="0">
                    <a:latin typeface="+mj-lt"/>
                  </a:rPr>
                  <a:t>或</a:t>
                </a:r>
                <a:r>
                  <a:rPr lang="en-US" altLang="zh-CN" dirty="0">
                    <a:latin typeface="+mj-lt"/>
                  </a:rPr>
                  <a:t>-1</a:t>
                </a:r>
                <a:r>
                  <a:rPr lang="zh-CN" altLang="en-US" dirty="0">
                    <a:latin typeface="+mj-lt"/>
                  </a:rPr>
                  <a:t>的串（方便来讲就是回文树上的</a:t>
                </a:r>
                <a:r>
                  <a:rPr lang="en-US" altLang="zh-CN" i="1" dirty="0">
                    <a:latin typeface="+mj-lt"/>
                  </a:rPr>
                  <a:t>even</a:t>
                </a:r>
                <a:r>
                  <a:rPr lang="zh-CN" altLang="en-US" dirty="0">
                    <a:latin typeface="+mj-lt"/>
                  </a:rPr>
                  <a:t>和</a:t>
                </a:r>
                <a:r>
                  <a:rPr lang="en-US" altLang="zh-CN" i="1" dirty="0">
                    <a:latin typeface="+mj-lt"/>
                  </a:rPr>
                  <a:t>odd</a:t>
                </a:r>
                <a:r>
                  <a:rPr lang="zh-CN" altLang="en-US" dirty="0">
                    <a:latin typeface="+mj-lt"/>
                  </a:rPr>
                  <a:t>）。</a:t>
                </a:r>
                <a:endParaRPr lang="en-US" altLang="zh-CN" dirty="0">
                  <a:latin typeface="+mj-lt"/>
                </a:endParaRPr>
              </a:p>
              <a:p>
                <a:r>
                  <a:rPr lang="zh-CN" altLang="en-US" dirty="0">
                    <a:latin typeface="+mj-lt"/>
                  </a:rPr>
                  <a:t>现在要在</a:t>
                </a:r>
                <a:r>
                  <a:rPr lang="en-US" altLang="zh-CN" i="1" dirty="0">
                    <a:latin typeface="+mj-lt"/>
                  </a:rPr>
                  <a:t>s</a:t>
                </a:r>
                <a:r>
                  <a:rPr lang="zh-CN" altLang="en-US" dirty="0">
                    <a:latin typeface="+mj-lt"/>
                  </a:rPr>
                  <a:t>的最长回文后缀对应的</a:t>
                </a:r>
                <a14:m>
                  <m:oMath xmlns:m="http://schemas.openxmlformats.org/officeDocument/2006/math">
                    <m:r>
                      <a:rPr lang="en-US" altLang="zh-CN" b="0" i="1" smtClean="0">
                        <a:latin typeface="Cambria Math" panose="02040503050406030204" pitchFamily="18" charset="0"/>
                      </a:rPr>
                      <m:t>𝑓𝑎𝑖𝑙</m:t>
                    </m:r>
                  </m:oMath>
                </a14:m>
                <a:r>
                  <a:rPr lang="zh-CN" altLang="en-US" dirty="0">
                    <a:latin typeface="+mj-lt"/>
                  </a:rPr>
                  <a:t>链中找到长度最大的一个节点</a:t>
                </a:r>
                <a:r>
                  <a:rPr lang="en-US" altLang="zh-CN" i="1" dirty="0">
                    <a:latin typeface="+mj-lt"/>
                  </a:rPr>
                  <a:t>t</a:t>
                </a:r>
                <a:r>
                  <a:rPr lang="zh-CN" altLang="en-US" dirty="0">
                    <a:latin typeface="+mj-lt"/>
                  </a:rPr>
                  <a:t>，满足</a:t>
                </a:r>
                <a14:m>
                  <m:oMath xmlns:m="http://schemas.openxmlformats.org/officeDocument/2006/math">
                    <m:r>
                      <a:rPr lang="en-US" altLang="zh-CN" b="0" i="1" smtClean="0">
                        <a:latin typeface="Cambria Math" panose="02040503050406030204" pitchFamily="18" charset="0"/>
                      </a:rPr>
                      <m:t>𝑠</m:t>
                    </m:r>
                    <m:d>
                      <m:dPr>
                        <m:begChr m:val="["/>
                        <m:endChr m:val="]"/>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𝑙𝑒𝑛</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e>
                    </m:d>
                    <m:r>
                      <a:rPr lang="en-US" altLang="zh-CN" b="0" i="1" smtClean="0">
                        <a:latin typeface="Cambria Math" panose="02040503050406030204" pitchFamily="18" charset="0"/>
                      </a:rPr>
                      <m:t>=</m:t>
                    </m:r>
                    <m:r>
                      <a:rPr lang="en-US" altLang="zh-CN" b="0" i="1" smtClean="0">
                        <a:latin typeface="Cambria Math" panose="02040503050406030204" pitchFamily="18" charset="0"/>
                      </a:rPr>
                      <m:t>𝑐</m:t>
                    </m:r>
                  </m:oMath>
                </a14:m>
                <a:r>
                  <a:rPr lang="zh-CN" altLang="en-US" dirty="0">
                    <a:latin typeface="+mj-lt"/>
                  </a:rPr>
                  <a:t>，则</a:t>
                </a:r>
                <a:r>
                  <a:rPr lang="en-US" altLang="zh-CN" i="1" dirty="0" err="1">
                    <a:latin typeface="+mj-lt"/>
                  </a:rPr>
                  <a:t>sc</a:t>
                </a:r>
                <a:r>
                  <a:rPr lang="zh-CN" altLang="en-US" dirty="0">
                    <a:latin typeface="+mj-lt"/>
                  </a:rPr>
                  <a:t>的最长回文后缀就是</a:t>
                </a:r>
                <a:r>
                  <a:rPr lang="en-US" altLang="zh-CN" i="1" dirty="0" err="1">
                    <a:latin typeface="+mj-lt"/>
                  </a:rPr>
                  <a:t>ctc</a:t>
                </a:r>
                <a:r>
                  <a:rPr lang="zh-CN" altLang="en-US" dirty="0">
                    <a:latin typeface="+mj-lt"/>
                  </a:rPr>
                  <a:t>。</a:t>
                </a:r>
                <a:br>
                  <a:rPr lang="zh-CN" altLang="en-US" dirty="0"/>
                </a:br>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143" r="-867"/>
                </a:stretch>
              </a:blipFill>
            </p:spPr>
            <p:txBody>
              <a:bodyPr/>
              <a:lstStyle/>
              <a:p>
                <a:r>
                  <a:rPr lang="en-US">
                    <a:noFill/>
                  </a:rPr>
                  <a:t> </a:t>
                </a:r>
              </a:p>
            </p:txBody>
          </p:sp>
        </mc:Fallback>
      </mc:AlternateContent>
    </p:spTree>
    <p:extLst>
      <p:ext uri="{BB962C8B-B14F-4D97-AF65-F5344CB8AC3E}">
        <p14:creationId xmlns:p14="http://schemas.microsoft.com/office/powerpoint/2010/main" val="403524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基础插入算法</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latin typeface="+mj-lt"/>
                  </a:rPr>
                  <a:t>插入时，假如回文树上不存在一个节点代表</a:t>
                </a:r>
                <a:r>
                  <a:rPr lang="en-US" altLang="zh-CN" i="1" dirty="0" err="1">
                    <a:latin typeface="+mj-lt"/>
                  </a:rPr>
                  <a:t>ctc</a:t>
                </a:r>
                <a:r>
                  <a:rPr lang="zh-CN" altLang="en-US" dirty="0">
                    <a:latin typeface="+mj-lt"/>
                  </a:rPr>
                  <a:t>，则需要新建一个新的节点来代表</a:t>
                </a:r>
                <a14:m>
                  <m:oMath xmlns:m="http://schemas.openxmlformats.org/officeDocument/2006/math">
                    <m:r>
                      <a:rPr lang="en-US" altLang="zh-CN" b="0" i="1" smtClean="0">
                        <a:latin typeface="Cambria Math" panose="02040503050406030204" pitchFamily="18" charset="0"/>
                      </a:rPr>
                      <m:t>𝑐𝑡𝑐</m:t>
                    </m:r>
                  </m:oMath>
                </a14:m>
                <a:r>
                  <a:rPr lang="zh-CN" altLang="en-US" dirty="0">
                    <a:latin typeface="+mj-lt"/>
                  </a:rPr>
                  <a:t>，否则直接使用这个节点。</a:t>
                </a:r>
                <a:endParaRPr lang="en-US" altLang="zh-CN" dirty="0">
                  <a:latin typeface="+mj-lt"/>
                </a:endParaRPr>
              </a:p>
              <a:p>
                <a:r>
                  <a:rPr lang="zh-CN" altLang="en-US" dirty="0">
                    <a:latin typeface="+mj-lt"/>
                  </a:rPr>
                  <a:t>假如新建了一个节点，还需要求出这个新节点的</a:t>
                </a:r>
                <a14:m>
                  <m:oMath xmlns:m="http://schemas.openxmlformats.org/officeDocument/2006/math">
                    <m:r>
                      <a:rPr lang="en-US" altLang="zh-CN" b="0" i="1" smtClean="0">
                        <a:latin typeface="Cambria Math" panose="02040503050406030204" pitchFamily="18" charset="0"/>
                      </a:rPr>
                      <m:t>𝑓𝑎𝑖𝑙</m:t>
                    </m:r>
                  </m:oMath>
                </a14:m>
                <a:r>
                  <a:rPr lang="zh-CN" altLang="en-US" dirty="0">
                    <a:latin typeface="+mj-lt"/>
                  </a:rPr>
                  <a:t>指针对应的节点，相当于在</a:t>
                </a:r>
                <a14:m>
                  <m:oMath xmlns:m="http://schemas.openxmlformats.org/officeDocument/2006/math">
                    <m:r>
                      <a:rPr lang="en-US" altLang="zh-CN" b="0" i="1" smtClean="0">
                        <a:latin typeface="Cambria Math" panose="02040503050406030204" pitchFamily="18" charset="0"/>
                      </a:rPr>
                      <m:t>𝑓𝑎𝑖𝑙</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oMath>
                </a14:m>
                <a:r>
                  <a:rPr lang="zh-CN" altLang="en-US" dirty="0">
                    <a:latin typeface="+mj-lt"/>
                  </a:rPr>
                  <a:t>的</a:t>
                </a:r>
                <a14:m>
                  <m:oMath xmlns:m="http://schemas.openxmlformats.org/officeDocument/2006/math">
                    <m:r>
                      <a:rPr lang="en-US" altLang="zh-CN" b="0" i="1" smtClean="0">
                        <a:latin typeface="Cambria Math" panose="02040503050406030204" pitchFamily="18" charset="0"/>
                      </a:rPr>
                      <m:t>𝑓𝑎𝑖𝑙</m:t>
                    </m:r>
                  </m:oMath>
                </a14:m>
                <a:r>
                  <a:rPr lang="zh-CN" altLang="en-US" dirty="0">
                    <a:latin typeface="+mj-lt"/>
                  </a:rPr>
                  <a:t>链中再找一个长度最长的节点</a:t>
                </a:r>
                <a:r>
                  <a:rPr lang="en-US" altLang="zh-CN" i="1" dirty="0">
                    <a:latin typeface="+mj-lt"/>
                  </a:rPr>
                  <a:t>v</a:t>
                </a:r>
                <a:r>
                  <a:rPr lang="zh-CN" altLang="en-US" dirty="0">
                    <a:latin typeface="+mj-lt"/>
                  </a:rPr>
                  <a:t>满足</a:t>
                </a:r>
                <a14:m>
                  <m:oMath xmlns:m="http://schemas.openxmlformats.org/officeDocument/2006/math">
                    <m:r>
                      <a:rPr lang="en-US" altLang="zh-CN" b="0" i="1" smtClean="0">
                        <a:latin typeface="Cambria Math" panose="02040503050406030204" pitchFamily="18" charset="0"/>
                      </a:rPr>
                      <m:t>𝑠</m:t>
                    </m:r>
                    <m:d>
                      <m:dPr>
                        <m:begChr m:val="["/>
                        <m:endChr m:val="]"/>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𝑙𝑒𝑛</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𝑣</m:t>
                            </m:r>
                          </m:e>
                        </m:d>
                      </m:e>
                    </m:d>
                    <m:r>
                      <a:rPr lang="en-US" altLang="zh-CN" b="0" i="1" smtClean="0">
                        <a:latin typeface="Cambria Math" panose="02040503050406030204" pitchFamily="18" charset="0"/>
                      </a:rPr>
                      <m:t>=</m:t>
                    </m:r>
                    <m:r>
                      <a:rPr lang="en-US" altLang="zh-CN" b="0" i="1" smtClean="0">
                        <a:latin typeface="Cambria Math" panose="02040503050406030204" pitchFamily="18" charset="0"/>
                      </a:rPr>
                      <m:t>𝑐</m:t>
                    </m:r>
                  </m:oMath>
                </a14:m>
                <a:r>
                  <a:rPr lang="zh-CN" altLang="en-US" dirty="0">
                    <a:latin typeface="+mj-lt"/>
                  </a:rPr>
                  <a:t>。</a:t>
                </a:r>
                <a:endParaRPr lang="en-US" altLang="zh-CN" dirty="0">
                  <a:latin typeface="+mj-lt"/>
                </a:endParaRPr>
              </a:p>
              <a:p>
                <a:r>
                  <a:rPr lang="zh-CN" altLang="en-US" dirty="0"/>
                  <a:t>注意假如</a:t>
                </a:r>
                <a14:m>
                  <m:oMath xmlns:m="http://schemas.openxmlformats.org/officeDocument/2006/math">
                    <m:r>
                      <a:rPr lang="en-US" altLang="zh-CN" b="0" i="1" smtClean="0">
                        <a:latin typeface="Cambria Math" panose="02040503050406030204" pitchFamily="18" charset="0"/>
                      </a:rPr>
                      <m:t>𝑙𝑒𝑛</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rPr>
                      <m:t>=−1</m:t>
                    </m:r>
                  </m:oMath>
                </a14:m>
                <a:r>
                  <a:rPr lang="zh-CN" altLang="en-US" dirty="0"/>
                  <a:t>，那么</a:t>
                </a:r>
                <a14:m>
                  <m:oMath xmlns:m="http://schemas.openxmlformats.org/officeDocument/2006/math">
                    <m:r>
                      <a:rPr lang="en-US" altLang="zh-CN" b="0" i="1" smtClean="0">
                        <a:latin typeface="Cambria Math" panose="02040503050406030204" pitchFamily="18" charset="0"/>
                      </a:rPr>
                      <m:t>𝑐𝑡𝑐</m:t>
                    </m:r>
                  </m:oMath>
                </a14:m>
                <a:r>
                  <a:rPr lang="zh-CN" altLang="en-US" dirty="0"/>
                  <a:t>的</a:t>
                </a:r>
                <a14:m>
                  <m:oMath xmlns:m="http://schemas.openxmlformats.org/officeDocument/2006/math">
                    <m:r>
                      <a:rPr lang="en-US" altLang="zh-CN" b="0" i="1" smtClean="0">
                        <a:latin typeface="Cambria Math" panose="02040503050406030204" pitchFamily="18" charset="0"/>
                      </a:rPr>
                      <m:t>𝑓𝑎𝑖𝑙</m:t>
                    </m:r>
                  </m:oMath>
                </a14:m>
                <a:r>
                  <a:rPr lang="zh-CN" altLang="en-US" dirty="0"/>
                  <a:t>指针应当指向长度为</a:t>
                </a:r>
                <a:r>
                  <a:rPr lang="en-US" altLang="zh-CN" dirty="0"/>
                  <a:t>0 </a:t>
                </a:r>
                <a:r>
                  <a:rPr lang="zh-CN" altLang="en-US" dirty="0"/>
                  <a:t>的节点。</a:t>
                </a:r>
                <a:br>
                  <a:rPr lang="zh-CN" altLang="en-US" dirty="0"/>
                </a:br>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143" r="-67"/>
                </a:stretch>
              </a:blipFill>
            </p:spPr>
            <p:txBody>
              <a:bodyPr/>
              <a:lstStyle/>
              <a:p>
                <a:r>
                  <a:rPr lang="en-US">
                    <a:noFill/>
                  </a:rPr>
                  <a:t> </a:t>
                </a:r>
              </a:p>
            </p:txBody>
          </p:sp>
        </mc:Fallback>
      </mc:AlternateContent>
    </p:spTree>
    <p:extLst>
      <p:ext uri="{BB962C8B-B14F-4D97-AF65-F5344CB8AC3E}">
        <p14:creationId xmlns:p14="http://schemas.microsoft.com/office/powerpoint/2010/main" val="685799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复杂度证明</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latin typeface="+mj-lt"/>
                  </a:rPr>
                  <a:t>定理 </a:t>
                </a:r>
                <a:r>
                  <a:rPr lang="en-US" altLang="zh-CN" dirty="0">
                    <a:latin typeface="+mj-lt"/>
                  </a:rPr>
                  <a:t>1.3</a:t>
                </a:r>
                <a:r>
                  <a:rPr lang="en-US" altLang="zh-CN" b="1" dirty="0">
                    <a:latin typeface="+mj-lt"/>
                  </a:rPr>
                  <a:t> </a:t>
                </a:r>
                <a:r>
                  <a:rPr lang="zh-CN" altLang="en-US" dirty="0">
                    <a:latin typeface="+mj-lt"/>
                  </a:rPr>
                  <a:t>这种实现的总时间复杂度为</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oMath>
                </a14:m>
                <a:r>
                  <a:rPr lang="zh-CN" altLang="en-US" dirty="0">
                    <a:latin typeface="+mj-lt"/>
                  </a:rPr>
                  <a:t>，空间复杂度为</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r>
                      <m:rPr>
                        <m:sty m:val="p"/>
                      </m:rPr>
                      <a:rPr lang="en-US" altLang="zh-CN" b="0" i="0" smtClean="0">
                        <a:latin typeface="Cambria Math" panose="02040503050406030204" pitchFamily="18" charset="0"/>
                      </a:rPr>
                      <m:t>Σ</m:t>
                    </m:r>
                    <m:r>
                      <a:rPr lang="en-US" altLang="zh-CN" b="0" i="1" smtClean="0">
                        <a:latin typeface="Cambria Math" panose="02040503050406030204" pitchFamily="18" charset="0"/>
                      </a:rPr>
                      <m:t>)</m:t>
                    </m:r>
                  </m:oMath>
                </a14:m>
                <a:r>
                  <a:rPr lang="zh-CN" altLang="en-US" dirty="0">
                    <a:latin typeface="+mj-lt"/>
                  </a:rPr>
                  <a:t>。</a:t>
                </a:r>
                <a:endParaRPr lang="en-US" altLang="zh-CN" dirty="0">
                  <a:latin typeface="+mj-lt"/>
                </a:endParaRPr>
              </a:p>
              <a:p>
                <a:r>
                  <a:rPr lang="zh-CN" altLang="en-US" dirty="0">
                    <a:latin typeface="+mj-lt"/>
                  </a:rPr>
                  <a:t>将两次跳</a:t>
                </a:r>
                <a14:m>
                  <m:oMath xmlns:m="http://schemas.openxmlformats.org/officeDocument/2006/math">
                    <m:r>
                      <a:rPr lang="en-US" altLang="zh-CN" b="0" i="1" smtClean="0">
                        <a:latin typeface="Cambria Math" panose="02040503050406030204" pitchFamily="18" charset="0"/>
                      </a:rPr>
                      <m:t>𝑓𝑎𝑖𝑙</m:t>
                    </m:r>
                    <m:r>
                      <a:rPr lang="zh-CN" altLang="en-US" i="1">
                        <a:latin typeface="Cambria Math" panose="02040503050406030204" pitchFamily="18" charset="0"/>
                      </a:rPr>
                      <m:t>的</m:t>
                    </m:r>
                  </m:oMath>
                </a14:m>
                <a:r>
                  <a:rPr lang="zh-CN" altLang="en-US" dirty="0">
                    <a:latin typeface="+mj-lt"/>
                  </a:rPr>
                  <a:t>复杂度分开考虑。考虑每次跳</a:t>
                </a:r>
                <a14:m>
                  <m:oMath xmlns:m="http://schemas.openxmlformats.org/officeDocument/2006/math">
                    <m:r>
                      <a:rPr lang="en-US" altLang="zh-CN" b="0" i="1" smtClean="0">
                        <a:latin typeface="Cambria Math" panose="02040503050406030204" pitchFamily="18" charset="0"/>
                      </a:rPr>
                      <m:t>𝑓𝑎𝑖𝑙</m:t>
                    </m:r>
                    <m:r>
                      <a:rPr lang="zh-CN" altLang="en-US" i="1">
                        <a:latin typeface="Cambria Math" panose="02040503050406030204" pitchFamily="18" charset="0"/>
                      </a:rPr>
                      <m:t>时</m:t>
                    </m:r>
                  </m:oMath>
                </a14:m>
                <a:r>
                  <a:rPr lang="zh-CN" altLang="en-US" dirty="0">
                    <a:latin typeface="+mj-lt"/>
                  </a:rPr>
                  <a:t>，其代表的回文串的长度至少</a:t>
                </a:r>
                <a14:m>
                  <m:oMath xmlns:m="http://schemas.openxmlformats.org/officeDocument/2006/math">
                    <m:r>
                      <a:rPr lang="en-US" altLang="zh-CN" i="1" dirty="0">
                        <a:latin typeface="Cambria Math" panose="02040503050406030204" pitchFamily="18" charset="0"/>
                      </a:rPr>
                      <m:t>−</m:t>
                    </m:r>
                    <m:r>
                      <a:rPr lang="en-US" altLang="zh-CN" b="0" i="0" dirty="0" smtClean="0">
                        <a:latin typeface="Cambria Math" panose="02040503050406030204" pitchFamily="18" charset="0"/>
                      </a:rPr>
                      <m:t>1</m:t>
                    </m:r>
                  </m:oMath>
                </a14:m>
                <a:r>
                  <a:rPr lang="zh-CN" altLang="en-US" dirty="0">
                    <a:latin typeface="+mj-lt"/>
                  </a:rPr>
                  <a:t>，而每次插入时，其长度相较于其父亲</a:t>
                </a:r>
                <a14:m>
                  <m:oMath xmlns:m="http://schemas.openxmlformats.org/officeDocument/2006/math">
                    <m:r>
                      <a:rPr lang="en-US" altLang="zh-CN" b="0" i="1" smtClean="0">
                        <a:latin typeface="Cambria Math" panose="02040503050406030204" pitchFamily="18" charset="0"/>
                      </a:rPr>
                      <m:t>+2</m:t>
                    </m:r>
                  </m:oMath>
                </a14:m>
                <a:r>
                  <a:rPr lang="zh-CN" altLang="en-US" dirty="0">
                    <a:latin typeface="+mj-lt"/>
                  </a:rPr>
                  <a:t>。</a:t>
                </a:r>
                <a:endParaRPr lang="en-US" altLang="zh-CN" dirty="0">
                  <a:latin typeface="+mj-lt"/>
                </a:endParaRPr>
              </a:p>
              <a:p>
                <a:r>
                  <a:rPr lang="zh-CN" altLang="en-US" dirty="0">
                    <a:latin typeface="+mj-lt"/>
                  </a:rPr>
                  <a:t>故总时间复杂度为</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zh-CN" altLang="en-US" i="1">
                        <a:latin typeface="Cambria Math" panose="02040503050406030204" pitchFamily="18" charset="0"/>
                      </a:rPr>
                      <m:t>。</m:t>
                    </m:r>
                  </m:oMath>
                </a14:m>
                <a:r>
                  <a:rPr lang="zh-CN" altLang="en-US" dirty="0">
                    <a:latin typeface="+mj-lt"/>
                  </a:rPr>
                  <a:t>当然，字符集较大时，可每个节点开一个</a:t>
                </a:r>
                <a:r>
                  <a:rPr lang="en-US" altLang="zh-CN" dirty="0">
                    <a:latin typeface="+mj-lt"/>
                  </a:rPr>
                  <a:t>map</a:t>
                </a:r>
                <a:r>
                  <a:rPr lang="zh-CN" altLang="en-US" dirty="0">
                    <a:latin typeface="+mj-lt"/>
                  </a:rPr>
                  <a:t>记录</a:t>
                </a:r>
                <a14:m>
                  <m:oMath xmlns:m="http://schemas.openxmlformats.org/officeDocument/2006/math">
                    <m:r>
                      <a:rPr lang="en-US" altLang="zh-CN" b="0" i="1" smtClean="0">
                        <a:latin typeface="Cambria Math" panose="02040503050406030204" pitchFamily="18" charset="0"/>
                      </a:rPr>
                      <m:t>𝑐h</m:t>
                    </m:r>
                    <m:r>
                      <a:rPr lang="en-US" altLang="zh-CN" b="0" i="1" smtClean="0">
                        <a:latin typeface="Cambria Math" panose="02040503050406030204" pitchFamily="18" charset="0"/>
                      </a:rPr>
                      <m:t>[]</m:t>
                    </m:r>
                  </m:oMath>
                </a14:m>
                <a:r>
                  <a:rPr lang="zh-CN" altLang="en-US" dirty="0">
                    <a:latin typeface="+mj-lt"/>
                  </a:rPr>
                  <a:t>，其时间复杂度为</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𝑙𝑜𝑔</m:t>
                    </m:r>
                    <m:r>
                      <m:rPr>
                        <m:sty m:val="p"/>
                      </m:rPr>
                      <a:rPr lang="en-US" altLang="zh-CN" b="0" i="0" smtClean="0">
                        <a:latin typeface="Cambria Math" panose="02040503050406030204" pitchFamily="18" charset="0"/>
                      </a:rPr>
                      <m:t>Σ</m:t>
                    </m:r>
                    <m:r>
                      <a:rPr lang="en-US" altLang="zh-CN" b="0" i="1" smtClean="0">
                        <a:latin typeface="Cambria Math" panose="02040503050406030204" pitchFamily="18" charset="0"/>
                      </a:rPr>
                      <m:t>)</m:t>
                    </m:r>
                    <m:r>
                      <a:rPr lang="zh-CN" altLang="en-US" i="1">
                        <a:latin typeface="Cambria Math" panose="02040503050406030204" pitchFamily="18" charset="0"/>
                      </a:rPr>
                      <m:t>，</m:t>
                    </m:r>
                    <m:r>
                      <a:rPr lang="zh-CN" altLang="en-US" i="1" smtClean="0">
                        <a:latin typeface="Cambria Math" panose="02040503050406030204" pitchFamily="18" charset="0"/>
                      </a:rPr>
                      <m:t>空间复杂度</m:t>
                    </m:r>
                  </m:oMath>
                </a14:m>
                <a:r>
                  <a:rPr lang="zh-CN" altLang="en-US" dirty="0">
                    <a:latin typeface="+mj-lt"/>
                  </a:rPr>
                  <a:t>降为</a:t>
                </a:r>
                <a14:m>
                  <m:oMath xmlns:m="http://schemas.openxmlformats.org/officeDocument/2006/math">
                    <m:r>
                      <a:rPr lang="en-US" altLang="zh-CN" b="0" i="1" smtClean="0">
                        <a:latin typeface="Cambria Math" panose="02040503050406030204" pitchFamily="18" charset="0"/>
                      </a:rPr>
                      <m:t>𝑂</m:t>
                    </m:r>
                    <m:d>
                      <m:dPr>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e>
                    </m:d>
                  </m:oMath>
                </a14:m>
                <a:r>
                  <a:rPr lang="zh-CN" altLang="en-US" dirty="0">
                    <a:latin typeface="+mj-lt"/>
                  </a:rPr>
                  <a:t>。</a:t>
                </a:r>
                <a:endParaRPr lang="en-US" altLang="zh-CN" dirty="0">
                  <a:latin typeface="+mj-lt"/>
                </a:endParaRPr>
              </a:p>
              <a:p>
                <a:r>
                  <a:rPr lang="zh-CN" altLang="en-US" dirty="0">
                    <a:latin typeface="+mj-lt"/>
                  </a:rPr>
                  <a:t>注意这种插入算法的复杂度是基于势能分析的，单次插入可能达到</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oMath>
                </a14:m>
                <a:r>
                  <a:rPr lang="zh-CN" altLang="en-US" dirty="0">
                    <a:latin typeface="+mj-lt"/>
                  </a:rPr>
                  <a:t>。</a:t>
                </a:r>
                <a:endParaRPr lang="en-US" altLang="zh-CN" dirty="0">
                  <a:latin typeface="+mj-lt"/>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143" r="-933"/>
                </a:stretch>
              </a:blipFill>
            </p:spPr>
            <p:txBody>
              <a:bodyPr/>
              <a:lstStyle/>
              <a:p>
                <a:r>
                  <a:rPr lang="en-US">
                    <a:noFill/>
                  </a:rPr>
                  <a:t> </a:t>
                </a:r>
              </a:p>
            </p:txBody>
          </p:sp>
        </mc:Fallback>
      </mc:AlternateContent>
    </p:spTree>
    <p:extLst>
      <p:ext uri="{BB962C8B-B14F-4D97-AF65-F5344CB8AC3E}">
        <p14:creationId xmlns:p14="http://schemas.microsoft.com/office/powerpoint/2010/main" val="836507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经典问题</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给定一个只包含小写字母的字符串，对于</a:t>
                </a:r>
                <a14:m>
                  <m:oMath xmlns:m="http://schemas.openxmlformats.org/officeDocument/2006/math">
                    <m:r>
                      <a:rPr lang="en-US" altLang="zh-CN" b="0" i="1" smtClean="0">
                        <a:latin typeface="Cambria Math" panose="02040503050406030204" pitchFamily="18" charset="0"/>
                      </a:rPr>
                      <m:t>𝑠</m:t>
                    </m:r>
                  </m:oMath>
                </a14:m>
                <a:r>
                  <a:rPr lang="zh-CN" altLang="en-US" dirty="0"/>
                  <a:t>的每个前缀</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[1…</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oMath>
                </a14:m>
                <a:r>
                  <a:rPr lang="zh-CN" altLang="en-US" dirty="0"/>
                  <a:t>，求出其不同的回文子串个数以及位置不同的回文子串个数。</a:t>
                </a:r>
                <a:endParaRPr lang="en-US" altLang="zh-CN" dirty="0"/>
              </a:p>
              <a:p>
                <a14:m>
                  <m:oMath xmlns:m="http://schemas.openxmlformats.org/officeDocument/2006/math">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endParaRPr lang="en-US" altLang="zh-CN" dirty="0"/>
              </a:p>
              <a:p>
                <a:r>
                  <a:rPr lang="zh-CN" altLang="en-US" dirty="0"/>
                  <a:t>由于回文树是增量构造，因此可以在加入每个字符后得到对应的回文树结构。不同的回文子串个数就是当前回文树上的节点数量减</a:t>
                </a:r>
                <a:r>
                  <a:rPr lang="en-US" altLang="zh-CN" dirty="0"/>
                  <a:t>2</a:t>
                </a:r>
                <a:r>
                  <a:rPr lang="zh-CN" altLang="en-US" dirty="0"/>
                  <a:t>（有两个根） 。</a:t>
                </a:r>
                <a:endParaRPr lang="en-US" altLang="zh-CN" dirty="0"/>
              </a:p>
              <a:p>
                <a:r>
                  <a:rPr lang="zh-CN" altLang="en-US" dirty="0"/>
                  <a:t>位置不同的回文子串数量，相当于之前的数量加上以当前位置为结尾的回文串数量，这就等于这个串的回文后缀的数量，就等于这个点的</a:t>
                </a:r>
                <a14:m>
                  <m:oMath xmlns:m="http://schemas.openxmlformats.org/officeDocument/2006/math">
                    <m:r>
                      <a:rPr lang="en-US" altLang="zh-CN" b="0" i="1" smtClean="0">
                        <a:latin typeface="Cambria Math" panose="02040503050406030204" pitchFamily="18" charset="0"/>
                      </a:rPr>
                      <m:t>𝑓𝑎𝑖𝑙</m:t>
                    </m:r>
                  </m:oMath>
                </a14:m>
                <a:r>
                  <a:rPr lang="zh-CN" altLang="en-US" dirty="0"/>
                  <a:t>链的长度（注意</a:t>
                </a:r>
                <a14:m>
                  <m:oMath xmlns:m="http://schemas.openxmlformats.org/officeDocument/2006/math">
                    <m:r>
                      <a:rPr lang="en-US" altLang="zh-CN" b="0" i="1" smtClean="0">
                        <a:latin typeface="Cambria Math" panose="02040503050406030204" pitchFamily="18" charset="0"/>
                      </a:rPr>
                      <m:t>𝑜𝑑𝑑</m:t>
                    </m:r>
                  </m:oMath>
                </a14:m>
                <a:r>
                  <a:rPr lang="zh-CN" altLang="en-US" dirty="0"/>
                  <a:t>与</a:t>
                </a:r>
                <a14:m>
                  <m:oMath xmlns:m="http://schemas.openxmlformats.org/officeDocument/2006/math">
                    <m:r>
                      <a:rPr lang="en-US" altLang="zh-CN" b="0" i="1" smtClean="0">
                        <a:latin typeface="Cambria Math" panose="02040503050406030204" pitchFamily="18" charset="0"/>
                      </a:rPr>
                      <m:t>𝑒𝑣𝑒𝑛</m:t>
                    </m:r>
                  </m:oMath>
                </a14:m>
                <a:r>
                  <a:rPr lang="zh-CN" altLang="en-US" dirty="0"/>
                  <a:t>不算入长度） 。在回文树上另外维护一个节点</a:t>
                </a:r>
                <a14:m>
                  <m:oMath xmlns:m="http://schemas.openxmlformats.org/officeDocument/2006/math">
                    <m:r>
                      <a:rPr lang="en-US" altLang="zh-CN" b="0" i="1" smtClean="0">
                        <a:latin typeface="Cambria Math" panose="02040503050406030204" pitchFamily="18" charset="0"/>
                      </a:rPr>
                      <m:t>𝑓𝑎𝑖𝑙</m:t>
                    </m:r>
                  </m:oMath>
                </a14:m>
                <a:r>
                  <a:rPr lang="zh-CN" altLang="en-US" dirty="0"/>
                  <a:t>链上的节点数量。</a:t>
                </a:r>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000"/>
                </a:stretch>
              </a:blipFill>
            </p:spPr>
            <p:txBody>
              <a:bodyPr/>
              <a:lstStyle/>
              <a:p>
                <a:r>
                  <a:rPr lang="en-US">
                    <a:noFill/>
                  </a:rPr>
                  <a:t> </a:t>
                </a:r>
              </a:p>
            </p:txBody>
          </p:sp>
        </mc:Fallback>
      </mc:AlternateContent>
    </p:spTree>
    <p:extLst>
      <p:ext uri="{BB962C8B-B14F-4D97-AF65-F5344CB8AC3E}">
        <p14:creationId xmlns:p14="http://schemas.microsoft.com/office/powerpoint/2010/main" val="1475469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APIO 2014 Palindrome</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538547" y="1752600"/>
                <a:ext cx="9144000" cy="4724400"/>
              </a:xfrm>
            </p:spPr>
            <p:txBody>
              <a:bodyPr>
                <a:normAutofit/>
              </a:bodyPr>
              <a:lstStyle/>
              <a:p>
                <a:r>
                  <a:rPr lang="zh-CN" altLang="en-US" dirty="0">
                    <a:latin typeface="+mj-lt"/>
                  </a:rPr>
                  <a:t>考虑一个只包含小写字符的字符串</a:t>
                </a:r>
                <a:r>
                  <a:rPr lang="en-US" altLang="zh-CN" i="1" dirty="0">
                    <a:latin typeface="+mj-lt"/>
                  </a:rPr>
                  <a:t>s</a:t>
                </a:r>
                <a:r>
                  <a:rPr lang="zh-CN" altLang="en-US" dirty="0">
                    <a:latin typeface="+mj-lt"/>
                  </a:rPr>
                  <a:t>，定义</a:t>
                </a:r>
                <a:r>
                  <a:rPr lang="en-US" altLang="zh-CN" i="1" dirty="0">
                    <a:latin typeface="+mj-lt"/>
                  </a:rPr>
                  <a:t>s</a:t>
                </a:r>
                <a:r>
                  <a:rPr lang="zh-CN" altLang="en-US" dirty="0">
                    <a:latin typeface="+mj-lt"/>
                  </a:rPr>
                  <a:t>的一个子串</a:t>
                </a:r>
                <a:r>
                  <a:rPr lang="en-US" altLang="zh-CN" i="1" dirty="0">
                    <a:latin typeface="+mj-lt"/>
                  </a:rPr>
                  <a:t>t</a:t>
                </a:r>
                <a:r>
                  <a:rPr lang="zh-CN" altLang="en-US" dirty="0">
                    <a:latin typeface="+mj-lt"/>
                  </a:rPr>
                  <a:t>的出现值为</a:t>
                </a:r>
                <a:r>
                  <a:rPr lang="en-US" altLang="zh-CN" i="1" dirty="0">
                    <a:latin typeface="+mj-lt"/>
                  </a:rPr>
                  <a:t>t</a:t>
                </a:r>
                <a:r>
                  <a:rPr lang="zh-CN" altLang="en-US" dirty="0">
                    <a:latin typeface="+mj-lt"/>
                  </a:rPr>
                  <a:t>在</a:t>
                </a:r>
                <a:r>
                  <a:rPr lang="en-US" altLang="zh-CN" i="1" dirty="0">
                    <a:latin typeface="+mj-lt"/>
                  </a:rPr>
                  <a:t>s</a:t>
                </a:r>
                <a:r>
                  <a:rPr lang="zh-CN" altLang="en-US" dirty="0">
                    <a:latin typeface="+mj-lt"/>
                  </a:rPr>
                  <a:t>中的出现次数乘上</a:t>
                </a:r>
                <a:r>
                  <a:rPr lang="en-US" altLang="zh-CN" i="1" dirty="0">
                    <a:latin typeface="+mj-lt"/>
                  </a:rPr>
                  <a:t>t</a:t>
                </a:r>
                <a:r>
                  <a:rPr lang="zh-CN" altLang="en-US" dirty="0">
                    <a:latin typeface="+mj-lt"/>
                  </a:rPr>
                  <a:t>的长度。求出</a:t>
                </a:r>
                <a:r>
                  <a:rPr lang="en-US" altLang="zh-CN" i="1" dirty="0">
                    <a:latin typeface="+mj-lt"/>
                  </a:rPr>
                  <a:t>s</a:t>
                </a:r>
                <a:r>
                  <a:rPr lang="zh-CN" altLang="en-US" dirty="0">
                    <a:latin typeface="+mj-lt"/>
                  </a:rPr>
                  <a:t>的所有回文子串中的最大出现值。</a:t>
                </a:r>
                <a:endParaRPr lang="en-US" altLang="zh-CN" dirty="0">
                  <a:latin typeface="+mj-lt"/>
                </a:endParaRPr>
              </a:p>
              <a:p>
                <a14:m>
                  <m:oMath xmlns:m="http://schemas.openxmlformats.org/officeDocument/2006/math">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3×10</m:t>
                        </m:r>
                      </m:e>
                      <m:sup>
                        <m:r>
                          <a:rPr lang="en-US" altLang="zh-CN" b="0" i="1" smtClean="0">
                            <a:latin typeface="Cambria Math" panose="02040503050406030204" pitchFamily="18" charset="0"/>
                          </a:rPr>
                          <m:t>5</m:t>
                        </m:r>
                      </m:sup>
                    </m:sSup>
                  </m:oMath>
                </a14:m>
                <a:endParaRPr lang="en-US" altLang="zh-CN" dirty="0">
                  <a:latin typeface="+mj-lt"/>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538547" y="1752600"/>
                <a:ext cx="9144000" cy="4724400"/>
              </a:xfrm>
              <a:blipFill>
                <a:blip r:embed="rId2"/>
                <a:stretch>
                  <a:fillRect l="-867" t="-1935"/>
                </a:stretch>
              </a:blipFill>
            </p:spPr>
            <p:txBody>
              <a:bodyPr/>
              <a:lstStyle/>
              <a:p>
                <a:r>
                  <a:rPr lang="en-US">
                    <a:noFill/>
                  </a:rPr>
                  <a:t> </a:t>
                </a:r>
              </a:p>
            </p:txBody>
          </p:sp>
        </mc:Fallback>
      </mc:AlternateContent>
    </p:spTree>
    <p:extLst>
      <p:ext uri="{BB962C8B-B14F-4D97-AF65-F5344CB8AC3E}">
        <p14:creationId xmlns:p14="http://schemas.microsoft.com/office/powerpoint/2010/main" val="440718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p:cNvSpPr>
                <a:spLocks noGrp="1"/>
              </p:cNvSpPr>
              <p:nvPr>
                <p:ph type="title"/>
              </p:nvPr>
            </p:nvSpPr>
            <p:spPr/>
            <p:txBody>
              <a:bodyPr/>
              <a:lstStyle/>
              <a:p>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𝑟𝑖𝑔h𝑡</m:t>
                      </m:r>
                      <m:r>
                        <a:rPr lang="zh-CN" altLang="en-US" i="1">
                          <a:latin typeface="Cambria Math" panose="02040503050406030204" pitchFamily="18" charset="0"/>
                        </a:rPr>
                        <m:t>集合</m:t>
                      </m:r>
                    </m:oMath>
                  </m:oMathPara>
                </a14:m>
                <a:endParaRPr lang="en-US" dirty="0"/>
              </a:p>
            </p:txBody>
          </p:sp>
        </mc:Choice>
        <mc:Fallback xmlns="">
          <p:sp>
            <p:nvSpPr>
              <p:cNvPr id="2" name="标题 1"/>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首先建出</a:t>
                </a:r>
                <a14:m>
                  <m:oMath xmlns:m="http://schemas.openxmlformats.org/officeDocument/2006/math">
                    <m:r>
                      <a:rPr lang="en-US" altLang="zh-CN" b="0" i="1" smtClean="0">
                        <a:latin typeface="Cambria Math" panose="02040503050406030204" pitchFamily="18" charset="0"/>
                      </a:rPr>
                      <m:t>𝑠</m:t>
                    </m:r>
                  </m:oMath>
                </a14:m>
                <a:r>
                  <a:rPr lang="zh-CN" altLang="en-US" dirty="0"/>
                  <a:t>的回文树。对于回文树上的一个节点</a:t>
                </a:r>
                <a14:m>
                  <m:oMath xmlns:m="http://schemas.openxmlformats.org/officeDocument/2006/math">
                    <m:r>
                      <a:rPr lang="en-US" altLang="zh-CN" i="1">
                        <a:latin typeface="Cambria Math" panose="02040503050406030204" pitchFamily="18" charset="0"/>
                      </a:rPr>
                      <m:t>𝑡</m:t>
                    </m:r>
                  </m:oMath>
                </a14:m>
                <a:r>
                  <a:rPr lang="zh-CN" altLang="en-US" dirty="0"/>
                  <a:t>，定义</a:t>
                </a:r>
                <a14:m>
                  <m:oMath xmlns:m="http://schemas.openxmlformats.org/officeDocument/2006/math">
                    <m:r>
                      <a:rPr lang="en-US" altLang="zh-CN" i="1">
                        <a:latin typeface="Cambria Math" panose="02040503050406030204" pitchFamily="18" charset="0"/>
                      </a:rPr>
                      <m:t>𝑟𝑖𝑔h𝑡</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oMath>
                </a14:m>
                <a:r>
                  <a:rPr lang="zh-CN" altLang="en-US" dirty="0"/>
                  <a:t>为一个端点集合，表示在</a:t>
                </a:r>
                <a14:m>
                  <m:oMath xmlns:m="http://schemas.openxmlformats.org/officeDocument/2006/math">
                    <m:r>
                      <a:rPr lang="en-US" altLang="zh-CN" b="0" i="1" smtClean="0">
                        <a:latin typeface="Cambria Math" panose="02040503050406030204" pitchFamily="18" charset="0"/>
                      </a:rPr>
                      <m:t>𝑠</m:t>
                    </m:r>
                  </m:oMath>
                </a14:m>
                <a:r>
                  <a:rPr lang="zh-CN" altLang="en-US" dirty="0"/>
                  <a:t>中的出现位置的右端点集合，那么</a:t>
                </a:r>
                <a14:m>
                  <m:oMath xmlns:m="http://schemas.openxmlformats.org/officeDocument/2006/math">
                    <m:r>
                      <a:rPr lang="en-US" altLang="zh-CN" b="0" i="1" smtClean="0">
                        <a:latin typeface="Cambria Math" panose="02040503050406030204" pitchFamily="18" charset="0"/>
                      </a:rPr>
                      <m:t>𝑡</m:t>
                    </m:r>
                  </m:oMath>
                </a14:m>
                <a:r>
                  <a:rPr lang="zh-CN" altLang="en-US" dirty="0"/>
                  <a:t>的出现值就是</a:t>
                </a:r>
                <a14:m>
                  <m:oMath xmlns:m="http://schemas.openxmlformats.org/officeDocument/2006/math">
                    <m:r>
                      <a:rPr lang="en-US" altLang="zh-CN" b="0" i="1" smtClean="0">
                        <a:latin typeface="Cambria Math" panose="02040503050406030204" pitchFamily="18" charset="0"/>
                      </a:rPr>
                      <m:t>𝑙𝑒𝑛</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𝑟𝑖𝑔h𝑡</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oMath>
                </a14:m>
                <a:r>
                  <a:rPr lang="en-US" altLang="zh-CN" dirty="0"/>
                  <a:t>|</a:t>
                </a:r>
                <a:r>
                  <a:rPr lang="zh-CN" altLang="en-US" dirty="0"/>
                  <a:t>。</a:t>
                </a:r>
                <a:endParaRPr lang="en-US" altLang="zh-CN" dirty="0"/>
              </a:p>
              <a:p>
                <a:r>
                  <a:rPr lang="zh-CN" altLang="en-US" dirty="0"/>
                  <a:t>只需要对每个节点求出</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𝑟𝑖𝑔h𝑡</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oMath>
                </a14:m>
                <a:r>
                  <a:rPr lang="zh-CN" altLang="en-US" dirty="0"/>
                  <a:t>即可。对于</a:t>
                </a:r>
                <a14:m>
                  <m:oMath xmlns:m="http://schemas.openxmlformats.org/officeDocument/2006/math">
                    <m:r>
                      <a:rPr lang="en-US" altLang="zh-CN" b="0" i="1" smtClean="0">
                        <a:latin typeface="Cambria Math" panose="02040503050406030204" pitchFamily="18" charset="0"/>
                      </a:rPr>
                      <m:t>𝑠</m:t>
                    </m:r>
                  </m:oMath>
                </a14:m>
                <a:r>
                  <a:rPr lang="zh-CN" altLang="en-US" dirty="0"/>
                  <a:t>的每个前缀</a:t>
                </a:r>
                <a14:m>
                  <m:oMath xmlns:m="http://schemas.openxmlformats.org/officeDocument/2006/math">
                    <m:r>
                      <a:rPr lang="en-US" altLang="zh-CN" b="0" i="1" smtClean="0">
                        <a:latin typeface="Cambria Math" panose="02040503050406030204" pitchFamily="18" charset="0"/>
                      </a:rPr>
                      <m:t>𝑖</m:t>
                    </m:r>
                  </m:oMath>
                </a14:m>
                <a:r>
                  <a:rPr lang="zh-CN" altLang="en-US" dirty="0"/>
                  <a:t>，可以求出其最长回文后缀，设为</a:t>
                </a:r>
                <a14:m>
                  <m:oMath xmlns:m="http://schemas.openxmlformats.org/officeDocument/2006/math">
                    <m:r>
                      <a:rPr lang="en-US" altLang="zh-CN" b="0" i="1" smtClean="0">
                        <a:latin typeface="Cambria Math" panose="02040503050406030204" pitchFamily="18" charset="0"/>
                      </a:rPr>
                      <m:t>𝑢</m:t>
                    </m:r>
                  </m:oMath>
                </a14:m>
                <a:r>
                  <a:rPr lang="zh-CN" altLang="en-US" dirty="0"/>
                  <a:t>，将</a:t>
                </a:r>
                <a14:m>
                  <m:oMath xmlns:m="http://schemas.openxmlformats.org/officeDocument/2006/math">
                    <m:r>
                      <a:rPr lang="en-US" altLang="zh-CN" b="0" i="1" smtClean="0">
                        <a:latin typeface="Cambria Math" panose="02040503050406030204" pitchFamily="18" charset="0"/>
                      </a:rPr>
                      <m:t>𝑖</m:t>
                    </m:r>
                  </m:oMath>
                </a14:m>
                <a:r>
                  <a:rPr lang="zh-CN" altLang="en-US" dirty="0"/>
                  <a:t>加入</a:t>
                </a:r>
                <a14:m>
                  <m:oMath xmlns:m="http://schemas.openxmlformats.org/officeDocument/2006/math">
                    <m:r>
                      <a:rPr lang="en-US" altLang="zh-CN" b="0" i="1" smtClean="0">
                        <a:latin typeface="Cambria Math" panose="02040503050406030204" pitchFamily="18" charset="0"/>
                      </a:rPr>
                      <m:t>𝑢</m:t>
                    </m:r>
                  </m:oMath>
                </a14:m>
                <a:r>
                  <a:rPr lang="zh-CN" altLang="en-US" dirty="0"/>
                  <a:t>当中。</a:t>
                </a:r>
                <a:endParaRPr lang="en-US" altLang="zh-CN" dirty="0"/>
              </a:p>
              <a:p>
                <a:r>
                  <a:rPr lang="zh-CN" altLang="en-US" dirty="0"/>
                  <a:t>做完每个前缀后，每个节点的</a:t>
                </a:r>
                <a14:m>
                  <m:oMath xmlns:m="http://schemas.openxmlformats.org/officeDocument/2006/math">
                    <m:r>
                      <a:rPr lang="en-US" altLang="zh-CN" b="0" i="1" smtClean="0">
                        <a:latin typeface="Cambria Math" panose="02040503050406030204" pitchFamily="18" charset="0"/>
                      </a:rPr>
                      <m:t>𝑟𝑖𝑔h𝑡</m:t>
                    </m:r>
                  </m:oMath>
                </a14:m>
                <a:r>
                  <a:rPr lang="zh-CN" altLang="en-US" dirty="0"/>
                  <a:t>就是</a:t>
                </a:r>
                <a14:m>
                  <m:oMath xmlns:m="http://schemas.openxmlformats.org/officeDocument/2006/math">
                    <m:r>
                      <a:rPr lang="en-US" altLang="zh-CN" b="0" i="1" smtClean="0">
                        <a:latin typeface="Cambria Math" panose="02040503050406030204" pitchFamily="18" charset="0"/>
                      </a:rPr>
                      <m:t>𝑓𝑎𝑖𝑙</m:t>
                    </m:r>
                  </m:oMath>
                </a14:m>
                <a:r>
                  <a:rPr lang="zh-CN" altLang="en-US" dirty="0"/>
                  <a:t>树上他的儿子的</a:t>
                </a:r>
                <a14:m>
                  <m:oMath xmlns:m="http://schemas.openxmlformats.org/officeDocument/2006/math">
                    <m:r>
                      <a:rPr lang="en-US" altLang="zh-CN" b="0" i="1" smtClean="0">
                        <a:latin typeface="Cambria Math" panose="02040503050406030204" pitchFamily="18" charset="0"/>
                      </a:rPr>
                      <m:t>𝑟𝑖𝑔h𝑡</m:t>
                    </m:r>
                  </m:oMath>
                </a14:m>
                <a:r>
                  <a:rPr lang="zh-CN" altLang="en-US" dirty="0"/>
                  <a:t>的并集，其</a:t>
                </a:r>
                <a14:m>
                  <m:oMath xmlns:m="http://schemas.openxmlformats.org/officeDocument/2006/math">
                    <m:r>
                      <a:rPr lang="en-US" altLang="zh-CN" b="0" i="1" smtClean="0">
                        <a:latin typeface="Cambria Math" panose="02040503050406030204" pitchFamily="18" charset="0"/>
                      </a:rPr>
                      <m:t>𝑟𝑖𝑔h𝑡</m:t>
                    </m:r>
                  </m:oMath>
                </a14:m>
                <a:r>
                  <a:rPr lang="zh-CN" altLang="en-US" dirty="0"/>
                  <a:t>的大小就是所有儿子的</a:t>
                </a:r>
                <a14:m>
                  <m:oMath xmlns:m="http://schemas.openxmlformats.org/officeDocument/2006/math">
                    <m:r>
                      <a:rPr lang="en-US" altLang="zh-CN" b="0" i="1" smtClean="0">
                        <a:latin typeface="Cambria Math" panose="02040503050406030204" pitchFamily="18" charset="0"/>
                      </a:rPr>
                      <m:t>𝑟𝑖𝑔h𝑡</m:t>
                    </m:r>
                  </m:oMath>
                </a14:m>
                <a:r>
                  <a:rPr lang="zh-CN" altLang="en-US" dirty="0"/>
                  <a:t>的大小的和。</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933" t="-2000" r="-667"/>
                </a:stretch>
              </a:blipFill>
            </p:spPr>
            <p:txBody>
              <a:bodyPr/>
              <a:lstStyle/>
              <a:p>
                <a:r>
                  <a:rPr lang="en-US">
                    <a:noFill/>
                  </a:rPr>
                  <a:t> </a:t>
                </a:r>
              </a:p>
            </p:txBody>
          </p:sp>
        </mc:Fallback>
      </mc:AlternateContent>
    </p:spTree>
    <p:extLst>
      <p:ext uri="{BB962C8B-B14F-4D97-AF65-F5344CB8AC3E}">
        <p14:creationId xmlns:p14="http://schemas.microsoft.com/office/powerpoint/2010/main" val="608178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回文树的拓展</a:t>
            </a:r>
            <a:endParaRPr lang="en-US" dirty="0"/>
          </a:p>
        </p:txBody>
      </p:sp>
      <p:sp>
        <p:nvSpPr>
          <p:cNvPr id="3" name="内容占位符 2"/>
          <p:cNvSpPr>
            <a:spLocks noGrp="1"/>
          </p:cNvSpPr>
          <p:nvPr>
            <p:ph idx="1"/>
          </p:nvPr>
        </p:nvSpPr>
        <p:spPr/>
        <p:txBody>
          <a:bodyPr/>
          <a:lstStyle/>
          <a:p>
            <a:r>
              <a:rPr lang="zh-CN" altLang="en-US" dirty="0"/>
              <a:t>前端插入</a:t>
            </a:r>
            <a:endParaRPr lang="en-US" altLang="zh-CN" dirty="0"/>
          </a:p>
          <a:p>
            <a:r>
              <a:rPr lang="zh-CN" altLang="en-US" dirty="0"/>
              <a:t>不基于势能分析的插入算法</a:t>
            </a:r>
            <a:endParaRPr lang="en-US" altLang="zh-CN" dirty="0"/>
          </a:p>
          <a:p>
            <a:r>
              <a:rPr lang="zh-CN" altLang="en-US" dirty="0"/>
              <a:t>双端插入删除</a:t>
            </a:r>
            <a:endParaRPr lang="en-US" altLang="zh-CN" dirty="0"/>
          </a:p>
          <a:p>
            <a:r>
              <a:rPr lang="zh-CN" altLang="en-US" dirty="0"/>
              <a:t>在</a:t>
            </a:r>
            <a:r>
              <a:rPr lang="en-US" dirty="0"/>
              <a:t>Trie</a:t>
            </a:r>
            <a:r>
              <a:rPr lang="zh-CN" altLang="en-US" dirty="0"/>
              <a:t>上建回文树</a:t>
            </a:r>
            <a:endParaRPr lang="en-US" dirty="0"/>
          </a:p>
          <a:p>
            <a:r>
              <a:rPr lang="zh-CN" altLang="en-US" dirty="0"/>
              <a:t>可持久化</a:t>
            </a:r>
            <a:endParaRPr lang="en-US" dirty="0"/>
          </a:p>
        </p:txBody>
      </p:sp>
      <p:sp>
        <p:nvSpPr>
          <p:cNvPr id="4" name="文本框 3"/>
          <p:cNvSpPr txBox="1"/>
          <p:nvPr/>
        </p:nvSpPr>
        <p:spPr>
          <a:xfrm>
            <a:off x="6170612" y="1429023"/>
            <a:ext cx="990600" cy="424732"/>
          </a:xfrm>
          <a:prstGeom prst="rect">
            <a:avLst/>
          </a:prstGeom>
          <a:noFill/>
        </p:spPr>
        <p:txBody>
          <a:bodyPr wrap="square" rtlCol="0">
            <a:spAutoFit/>
          </a:bodyPr>
          <a:lstStyle/>
          <a:p>
            <a:pPr>
              <a:lnSpc>
                <a:spcPct val="90000"/>
              </a:lnSpc>
            </a:pPr>
            <a:r>
              <a:rPr lang="en-US" altLang="zh-CN" sz="2400" dirty="0">
                <a:solidFill>
                  <a:schemeClr val="bg2">
                    <a:lumMod val="50000"/>
                  </a:schemeClr>
                </a:solidFill>
              </a:rPr>
              <a:t>nyg</a:t>
            </a:r>
            <a:endParaRPr lang="zh-CN" altLang="en-US" sz="2400" dirty="0">
              <a:solidFill>
                <a:schemeClr val="bg2">
                  <a:lumMod val="50000"/>
                </a:schemeClr>
              </a:solidFill>
            </a:endParaRPr>
          </a:p>
        </p:txBody>
      </p:sp>
    </p:spTree>
    <p:extLst>
      <p:ext uri="{BB962C8B-B14F-4D97-AF65-F5344CB8AC3E}">
        <p14:creationId xmlns:p14="http://schemas.microsoft.com/office/powerpoint/2010/main" val="1381879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前端插入</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latin typeface="+mj-lt"/>
                  </a:rPr>
                  <a:t>与末端插入类似的，可以发现在前端插入时，比如当前字符串为</a:t>
                </a:r>
                <a:r>
                  <a:rPr lang="en-US" altLang="zh-CN" i="1" dirty="0">
                    <a:latin typeface="+mj-lt"/>
                  </a:rPr>
                  <a:t>s</a:t>
                </a:r>
                <a:r>
                  <a:rPr lang="zh-CN" altLang="en-US" dirty="0">
                    <a:latin typeface="+mj-lt"/>
                  </a:rPr>
                  <a:t>，要求出</a:t>
                </a:r>
                <a:r>
                  <a:rPr lang="en-US" altLang="zh-CN" i="1" dirty="0" err="1">
                    <a:latin typeface="+mj-lt"/>
                  </a:rPr>
                  <a:t>cs</a:t>
                </a:r>
                <a:r>
                  <a:rPr lang="zh-CN" altLang="en-US" dirty="0">
                    <a:latin typeface="+mj-lt"/>
                  </a:rPr>
                  <a:t>的回文树，那么以</a:t>
                </a:r>
                <a:r>
                  <a:rPr lang="en-US" altLang="zh-CN" i="1" dirty="0">
                    <a:latin typeface="+mj-lt"/>
                  </a:rPr>
                  <a:t>c</a:t>
                </a:r>
                <a:r>
                  <a:rPr lang="zh-CN" altLang="en-US" dirty="0">
                    <a:latin typeface="+mj-lt"/>
                  </a:rPr>
                  <a:t>为开头的产生的新的回文串最多只有</a:t>
                </a:r>
                <a:r>
                  <a:rPr lang="en-US" altLang="zh-CN" dirty="0">
                    <a:latin typeface="+mj-lt"/>
                  </a:rPr>
                  <a:t>1</a:t>
                </a:r>
                <a:r>
                  <a:rPr lang="zh-CN" altLang="en-US" dirty="0">
                    <a:latin typeface="+mj-lt"/>
                  </a:rPr>
                  <a:t>个，并且是</a:t>
                </a:r>
                <a:r>
                  <a:rPr lang="en-US" altLang="zh-CN" i="1" dirty="0" err="1">
                    <a:latin typeface="+mj-lt"/>
                  </a:rPr>
                  <a:t>cs</a:t>
                </a:r>
                <a:r>
                  <a:rPr lang="zh-CN" altLang="en-US" dirty="0">
                    <a:latin typeface="+mj-lt"/>
                  </a:rPr>
                  <a:t>的最长回文前缀。</a:t>
                </a:r>
                <a:endParaRPr lang="en-US" altLang="zh-CN" dirty="0">
                  <a:latin typeface="+mj-lt"/>
                </a:endParaRPr>
              </a:p>
              <a:p>
                <a:r>
                  <a:rPr lang="zh-CN" altLang="en-US" dirty="0">
                    <a:latin typeface="+mj-lt"/>
                  </a:rPr>
                  <a:t>由之前的过程可知，只需要找到</a:t>
                </a:r>
                <a14:m>
                  <m:oMath xmlns:m="http://schemas.openxmlformats.org/officeDocument/2006/math">
                    <m:r>
                      <a:rPr lang="en-US" altLang="zh-CN" b="0" i="1" smtClean="0">
                        <a:latin typeface="Cambria Math" panose="02040503050406030204" pitchFamily="18" charset="0"/>
                      </a:rPr>
                      <m:t>𝑠</m:t>
                    </m:r>
                  </m:oMath>
                </a14:m>
                <a:r>
                  <a:rPr lang="zh-CN" altLang="en-US" dirty="0">
                    <a:latin typeface="+mj-lt"/>
                  </a:rPr>
                  <a:t>的一个最长的回文前缀</a:t>
                </a:r>
                <a14:m>
                  <m:oMath xmlns:m="http://schemas.openxmlformats.org/officeDocument/2006/math">
                    <m:r>
                      <a:rPr lang="en-US" altLang="zh-CN" b="0" i="1" smtClean="0">
                        <a:latin typeface="Cambria Math" panose="02040503050406030204" pitchFamily="18" charset="0"/>
                      </a:rPr>
                      <m:t>𝑡</m:t>
                    </m:r>
                  </m:oMath>
                </a14:m>
                <a:r>
                  <a:rPr lang="zh-CN" altLang="en-US" dirty="0">
                    <a:latin typeface="+mj-lt"/>
                  </a:rPr>
                  <a:t>，满足</a:t>
                </a:r>
                <a14:m>
                  <m:oMath xmlns:m="http://schemas.openxmlformats.org/officeDocument/2006/math">
                    <m:r>
                      <a:rPr lang="en-US" altLang="zh-CN" b="0" i="1" smtClean="0">
                        <a:latin typeface="Cambria Math" panose="02040503050406030204" pitchFamily="18" charset="0"/>
                      </a:rPr>
                      <m:t>𝑠</m:t>
                    </m:r>
                    <m:d>
                      <m:dPr>
                        <m:begChr m:val="["/>
                        <m:endChr m:val="]"/>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𝑐</m:t>
                    </m:r>
                  </m:oMath>
                </a14:m>
                <a:r>
                  <a:rPr lang="zh-CN" altLang="en-US" dirty="0">
                    <a:latin typeface="+mj-lt"/>
                  </a:rPr>
                  <a:t>，那么新的最长回文前缀就是</a:t>
                </a:r>
                <a14:m>
                  <m:oMath xmlns:m="http://schemas.openxmlformats.org/officeDocument/2006/math">
                    <m:r>
                      <a:rPr lang="en-US" altLang="zh-CN" b="0" i="1" smtClean="0">
                        <a:latin typeface="Cambria Math" panose="02040503050406030204" pitchFamily="18" charset="0"/>
                      </a:rPr>
                      <m:t>𝑐𝑡𝑐</m:t>
                    </m:r>
                  </m:oMath>
                </a14:m>
                <a:r>
                  <a:rPr lang="zh-CN" altLang="en-US" dirty="0">
                    <a:latin typeface="+mj-lt"/>
                  </a:rPr>
                  <a:t>。</a:t>
                </a:r>
                <a:endParaRPr lang="en-US" altLang="zh-CN" dirty="0">
                  <a:latin typeface="+mj-lt"/>
                </a:endParaRPr>
              </a:p>
              <a:p>
                <a:r>
                  <a:rPr lang="zh-CN" altLang="en-US" dirty="0">
                    <a:latin typeface="+mj-lt"/>
                  </a:rPr>
                  <a:t>直接的想法是，在回文树上对每个节点再维护一个</a:t>
                </a:r>
                <a14:m>
                  <m:oMath xmlns:m="http://schemas.openxmlformats.org/officeDocument/2006/math">
                    <m:r>
                      <a:rPr lang="en-US" altLang="zh-CN" b="0" i="1" smtClean="0">
                        <a:latin typeface="Cambria Math" panose="02040503050406030204" pitchFamily="18" charset="0"/>
                      </a:rPr>
                      <m:t>𝑓𝑎𝑖𝑙</m:t>
                    </m:r>
                    <m:r>
                      <a:rPr lang="en-US" altLang="zh-CN" b="0" i="1" smtClean="0">
                        <a:latin typeface="Cambria Math" panose="02040503050406030204" pitchFamily="18" charset="0"/>
                      </a:rPr>
                      <m:t>′</m:t>
                    </m:r>
                  </m:oMath>
                </a14:m>
                <a:r>
                  <a:rPr lang="zh-CN" altLang="en-US" dirty="0">
                    <a:latin typeface="+mj-lt"/>
                  </a:rPr>
                  <a:t>指针，表示这个节点的最长回文前缀指向的节点，那么每次加入新字符的时候，只需要沿着</a:t>
                </a:r>
                <a:r>
                  <a:rPr lang="en-US" altLang="zh-CN" i="1" dirty="0">
                    <a:latin typeface="+mj-lt"/>
                  </a:rPr>
                  <a:t>s</a:t>
                </a:r>
                <a:r>
                  <a:rPr lang="zh-CN" altLang="en-US" dirty="0">
                    <a:latin typeface="+mj-lt"/>
                  </a:rPr>
                  <a:t>的最长回文前缀的</a:t>
                </a:r>
                <a14:m>
                  <m:oMath xmlns:m="http://schemas.openxmlformats.org/officeDocument/2006/math">
                    <m:r>
                      <a:rPr lang="en-US" altLang="zh-CN" b="0" i="1" smtClean="0">
                        <a:latin typeface="Cambria Math" panose="02040503050406030204" pitchFamily="18" charset="0"/>
                      </a:rPr>
                      <m:t>𝑓𝑎𝑖𝑙</m:t>
                    </m:r>
                    <m:r>
                      <a:rPr lang="en-US" altLang="zh-CN" b="0" i="1" smtClean="0">
                        <a:latin typeface="Cambria Math" panose="02040503050406030204" pitchFamily="18" charset="0"/>
                      </a:rPr>
                      <m:t>′</m:t>
                    </m:r>
                  </m:oMath>
                </a14:m>
                <a:r>
                  <a:rPr lang="zh-CN" altLang="en-US" dirty="0">
                    <a:latin typeface="+mj-lt"/>
                  </a:rPr>
                  <a:t>链找到一个最长的合法的</a:t>
                </a:r>
                <a14:m>
                  <m:oMath xmlns:m="http://schemas.openxmlformats.org/officeDocument/2006/math">
                    <m:r>
                      <a:rPr lang="en-US" altLang="zh-CN" b="0" i="1" smtClean="0">
                        <a:latin typeface="Cambria Math" panose="02040503050406030204" pitchFamily="18" charset="0"/>
                      </a:rPr>
                      <m:t>𝑡</m:t>
                    </m:r>
                    <m:r>
                      <a:rPr lang="zh-CN" altLang="en-US" i="1">
                        <a:latin typeface="Cambria Math" panose="02040503050406030204" pitchFamily="18" charset="0"/>
                      </a:rPr>
                      <m:t>。</m:t>
                    </m:r>
                  </m:oMath>
                </a14:m>
                <a:endParaRPr lang="en-US" dirty="0">
                  <a:latin typeface="+mj-lt"/>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000"/>
                </a:stretch>
              </a:blipFill>
            </p:spPr>
            <p:txBody>
              <a:bodyPr/>
              <a:lstStyle/>
              <a:p>
                <a:r>
                  <a:rPr lang="en-US">
                    <a:noFill/>
                  </a:rPr>
                  <a:t> </a:t>
                </a:r>
              </a:p>
            </p:txBody>
          </p:sp>
        </mc:Fallback>
      </mc:AlternateContent>
    </p:spTree>
    <p:extLst>
      <p:ext uri="{BB962C8B-B14F-4D97-AF65-F5344CB8AC3E}">
        <p14:creationId xmlns:p14="http://schemas.microsoft.com/office/powerpoint/2010/main" val="2764881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前端插入</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然而由于回文串的性质，有</a:t>
                </a:r>
                <a14:m>
                  <m:oMath xmlns:m="http://schemas.openxmlformats.org/officeDocument/2006/math">
                    <m:r>
                      <a:rPr lang="en-US" altLang="zh-CN" b="0" i="1" smtClean="0">
                        <a:latin typeface="Cambria Math" panose="02040503050406030204" pitchFamily="18" charset="0"/>
                      </a:rPr>
                      <m:t>𝑓𝑎𝑖𝑙</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𝑓𝑎𝑖</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𝑙</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m:t>
                    </m:r>
                    <m:r>
                      <a:rPr lang="zh-CN" altLang="en-US" i="1">
                        <a:latin typeface="Cambria Math" panose="02040503050406030204" pitchFamily="18" charset="0"/>
                      </a:rPr>
                      <m:t>。</m:t>
                    </m:r>
                  </m:oMath>
                </a14:m>
                <a:endParaRPr lang="en-US" dirty="0"/>
              </a:p>
              <a:p>
                <a:r>
                  <a:rPr lang="zh-CN" altLang="en-US" dirty="0"/>
                  <a:t>因此只需要维护出字符串的最长回文前缀与最长回文后缀，就能支持字符串的前端和末端插入了。</a:t>
                </a:r>
                <a:endParaRPr lang="en-US" altLang="zh-CN" dirty="0"/>
              </a:p>
              <a:p>
                <a:r>
                  <a:rPr lang="zh-CN" altLang="en-US" dirty="0"/>
                  <a:t>需要注意在前（后）端插入时可能会对最长回文后（前）缀造成影响，另外维护一下就好了。</a:t>
                </a:r>
                <a:br>
                  <a:rPr lang="zh-CN" altLang="en-US" dirty="0"/>
                </a:br>
                <a:endParaRPr lang="en-US" dirty="0"/>
              </a:p>
              <a:p>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000"/>
                </a:stretch>
              </a:blipFill>
            </p:spPr>
            <p:txBody>
              <a:bodyPr/>
              <a:lstStyle/>
              <a:p>
                <a:r>
                  <a:rPr lang="en-US">
                    <a:noFill/>
                  </a:rPr>
                  <a:t> </a:t>
                </a:r>
              </a:p>
            </p:txBody>
          </p:sp>
        </mc:Fallback>
      </mc:AlternateContent>
    </p:spTree>
    <p:extLst>
      <p:ext uri="{BB962C8B-B14F-4D97-AF65-F5344CB8AC3E}">
        <p14:creationId xmlns:p14="http://schemas.microsoft.com/office/powerpoint/2010/main" val="421246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HDU5421 Victor and String</a:t>
            </a:r>
            <a:endParaRPr 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fontScale="92500" lnSpcReduction="10000"/>
              </a:bodyPr>
              <a:lstStyle/>
              <a:p>
                <a:r>
                  <a:rPr lang="zh-CN" altLang="en-US" dirty="0">
                    <a:latin typeface="+mj-lt"/>
                  </a:rPr>
                  <a:t>一开始有一个空串</a:t>
                </a:r>
                <a:r>
                  <a:rPr lang="en-US" altLang="zh-CN" i="1" dirty="0">
                    <a:latin typeface="+mj-lt"/>
                  </a:rPr>
                  <a:t>s</a:t>
                </a:r>
                <a:r>
                  <a:rPr lang="zh-CN" altLang="en-US" dirty="0">
                    <a:latin typeface="+mj-lt"/>
                  </a:rPr>
                  <a:t>。接下来进行</a:t>
                </a:r>
                <a14:m>
                  <m:oMath xmlns:m="http://schemas.openxmlformats.org/officeDocument/2006/math">
                    <m:r>
                      <a:rPr lang="en-US" altLang="zh-CN" b="0" i="1" smtClean="0">
                        <a:latin typeface="Cambria Math" panose="02040503050406030204" pitchFamily="18" charset="0"/>
                      </a:rPr>
                      <m:t>𝑛</m:t>
                    </m:r>
                  </m:oMath>
                </a14:m>
                <a:r>
                  <a:rPr lang="zh-CN" altLang="en-US" dirty="0">
                    <a:latin typeface="+mj-lt"/>
                  </a:rPr>
                  <a:t>次操作，操作有以下</a:t>
                </a:r>
                <a:r>
                  <a:rPr lang="en-US" altLang="zh-CN" dirty="0">
                    <a:latin typeface="+mj-lt"/>
                  </a:rPr>
                  <a:t>4</a:t>
                </a:r>
                <a:r>
                  <a:rPr lang="zh-CN" altLang="en-US" dirty="0">
                    <a:latin typeface="+mj-lt"/>
                  </a:rPr>
                  <a:t>种：</a:t>
                </a:r>
                <a:endParaRPr lang="en-US" altLang="zh-CN" dirty="0">
                  <a:latin typeface="+mj-lt"/>
                </a:endParaRPr>
              </a:p>
              <a:p>
                <a:r>
                  <a:rPr lang="zh-CN" altLang="en-US" dirty="0">
                    <a:latin typeface="+mj-lt"/>
                  </a:rPr>
                  <a:t>在</a:t>
                </a:r>
                <a:r>
                  <a:rPr lang="en-US" altLang="zh-CN" i="1" dirty="0">
                    <a:latin typeface="+mj-lt"/>
                  </a:rPr>
                  <a:t>s</a:t>
                </a:r>
                <a:r>
                  <a:rPr lang="zh-CN" altLang="en-US" dirty="0">
                    <a:latin typeface="+mj-lt"/>
                  </a:rPr>
                  <a:t>的前端加入一个给定的字符。</a:t>
                </a:r>
                <a:endParaRPr lang="en-US" altLang="zh-CN" dirty="0">
                  <a:latin typeface="+mj-lt"/>
                </a:endParaRPr>
              </a:p>
              <a:p>
                <a:r>
                  <a:rPr lang="zh-CN" altLang="en-US" dirty="0">
                    <a:latin typeface="+mj-lt"/>
                  </a:rPr>
                  <a:t>在</a:t>
                </a:r>
                <a:r>
                  <a:rPr lang="en-US" altLang="zh-CN" i="1" dirty="0">
                    <a:latin typeface="+mj-lt"/>
                  </a:rPr>
                  <a:t>s</a:t>
                </a:r>
                <a:r>
                  <a:rPr lang="zh-CN" altLang="en-US" dirty="0">
                    <a:latin typeface="+mj-lt"/>
                  </a:rPr>
                  <a:t>的末端加入一个给定的字符。</a:t>
                </a:r>
                <a:endParaRPr lang="en-US" altLang="zh-CN" dirty="0">
                  <a:latin typeface="+mj-lt"/>
                </a:endParaRPr>
              </a:p>
              <a:p>
                <a:r>
                  <a:rPr lang="zh-CN" altLang="en-US" dirty="0">
                    <a:latin typeface="+mj-lt"/>
                  </a:rPr>
                  <a:t>询问当前</a:t>
                </a:r>
                <a:r>
                  <a:rPr lang="en-US" altLang="zh-CN" i="1" dirty="0">
                    <a:latin typeface="+mj-lt"/>
                  </a:rPr>
                  <a:t>s</a:t>
                </a:r>
                <a:r>
                  <a:rPr lang="zh-CN" altLang="en-US" dirty="0">
                    <a:latin typeface="+mj-lt"/>
                  </a:rPr>
                  <a:t>中有多少不一样的回文串。</a:t>
                </a:r>
                <a:endParaRPr lang="en-US" altLang="zh-CN" dirty="0">
                  <a:latin typeface="+mj-lt"/>
                </a:endParaRPr>
              </a:p>
              <a:p>
                <a:r>
                  <a:rPr lang="zh-CN" altLang="en-US" dirty="0">
                    <a:latin typeface="+mj-lt"/>
                  </a:rPr>
                  <a:t>询问当前</a:t>
                </a:r>
                <a:r>
                  <a:rPr lang="en-US" altLang="zh-CN" i="1" dirty="0">
                    <a:latin typeface="+mj-lt"/>
                  </a:rPr>
                  <a:t>s</a:t>
                </a:r>
                <a:r>
                  <a:rPr lang="zh-CN" altLang="en-US" dirty="0">
                    <a:latin typeface="+mj-lt"/>
                  </a:rPr>
                  <a:t>中有多少位置不同的回文串。</a:t>
                </a:r>
                <a:endParaRPr lang="en-US" altLang="zh-CN" dirty="0">
                  <a:latin typeface="+mj-lt"/>
                </a:endParaRPr>
              </a:p>
              <a:p>
                <a14:m>
                  <m:oMath xmlns:m="http://schemas.openxmlformats.org/officeDocument/2006/math">
                    <m:r>
                      <a:rPr lang="en-US" altLang="zh-CN" b="0" i="1" dirty="0" smtClean="0">
                        <a:latin typeface="Cambria Math" panose="02040503050406030204" pitchFamily="18" charset="0"/>
                      </a:rPr>
                      <m:t>𝑛</m:t>
                    </m:r>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10</m:t>
                        </m:r>
                      </m:e>
                      <m:sup>
                        <m:r>
                          <a:rPr lang="en-US" altLang="zh-CN" b="0" i="1" dirty="0" smtClean="0">
                            <a:latin typeface="Cambria Math" panose="02040503050406030204" pitchFamily="18" charset="0"/>
                          </a:rPr>
                          <m:t>5</m:t>
                        </m:r>
                      </m:sup>
                    </m:sSup>
                  </m:oMath>
                </a14:m>
                <a:endParaRPr lang="en-US" altLang="zh-CN" dirty="0"/>
              </a:p>
              <a:p>
                <a:r>
                  <a:rPr lang="zh-CN" altLang="en-US" dirty="0"/>
                  <a:t>一道可以交的裸题而已。</a:t>
                </a:r>
                <a:br>
                  <a:rPr lang="zh-CN" altLang="en-US" dirty="0"/>
                </a:br>
                <a:endParaRPr 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81" t="-88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25427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支持删除操作？</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522414" y="1905000"/>
                <a:ext cx="9144000" cy="4419600"/>
              </a:xfrm>
            </p:spPr>
            <p:txBody>
              <a:bodyPr/>
              <a:lstStyle/>
              <a:p>
                <a:r>
                  <a:rPr lang="zh-CN" altLang="en-US" dirty="0">
                    <a:latin typeface="+mj-lt"/>
                  </a:rPr>
                  <a:t>一种很简单的思路就是，对于</a:t>
                </a:r>
                <a:r>
                  <a:rPr lang="en-US" altLang="zh-CN" i="1" dirty="0">
                    <a:latin typeface="+mj-lt"/>
                  </a:rPr>
                  <a:t>s</a:t>
                </a:r>
                <a:r>
                  <a:rPr lang="zh-CN" altLang="en-US" dirty="0">
                    <a:latin typeface="+mj-lt"/>
                  </a:rPr>
                  <a:t>串的每个前缀都记录下它的最长回文后缀，回文树上每个节点记录下这个节点作为一个前缀的最长回文后缀的次数。</a:t>
                </a:r>
                <a:endParaRPr lang="en-US" altLang="zh-CN" dirty="0">
                  <a:latin typeface="+mj-lt"/>
                </a:endParaRPr>
              </a:p>
              <a:p>
                <a:r>
                  <a:rPr lang="zh-CN" altLang="en-US" dirty="0">
                    <a:latin typeface="+mj-lt"/>
                  </a:rPr>
                  <a:t>当删除</a:t>
                </a:r>
                <a:r>
                  <a:rPr lang="en-US" altLang="zh-CN" i="1" dirty="0">
                    <a:latin typeface="+mj-lt"/>
                  </a:rPr>
                  <a:t>s </a:t>
                </a:r>
                <a:r>
                  <a:rPr lang="zh-CN" altLang="en-US" dirty="0">
                    <a:latin typeface="+mj-lt"/>
                  </a:rPr>
                  <a:t>的最后一个字符的时候，相当于删掉其最长回文后缀（因为其他回文后缀依然在</a:t>
                </a:r>
                <a:r>
                  <a:rPr lang="en-US" altLang="zh-CN" i="1" dirty="0">
                    <a:latin typeface="+mj-lt"/>
                  </a:rPr>
                  <a:t>s</a:t>
                </a:r>
                <a:r>
                  <a:rPr lang="zh-CN" altLang="en-US" dirty="0">
                    <a:latin typeface="+mj-lt"/>
                  </a:rPr>
                  <a:t>中存在），直接在回文树上对应的节点将其次数减</a:t>
                </a:r>
                <a:r>
                  <a:rPr lang="en-US" altLang="zh-CN" dirty="0">
                    <a:latin typeface="+mj-lt"/>
                  </a:rPr>
                  <a:t>1</a:t>
                </a:r>
                <a:r>
                  <a:rPr lang="zh-CN" altLang="en-US" dirty="0">
                    <a:latin typeface="+mj-lt"/>
                  </a:rPr>
                  <a:t>，假如一个节点的次数变为</a:t>
                </a:r>
                <a:r>
                  <a:rPr lang="en-US" altLang="zh-CN" dirty="0">
                    <a:latin typeface="+mj-lt"/>
                  </a:rPr>
                  <a:t>0</a:t>
                </a:r>
                <a:r>
                  <a:rPr lang="zh-CN" altLang="en-US" dirty="0">
                    <a:latin typeface="+mj-lt"/>
                  </a:rPr>
                  <a:t>了就将这个节点从回文树上删去。</a:t>
                </a:r>
                <a:endParaRPr lang="en-US" altLang="zh-CN" dirty="0">
                  <a:latin typeface="+mj-lt"/>
                </a:endParaRPr>
              </a:p>
              <a:p>
                <a:r>
                  <a:rPr lang="zh-CN" altLang="en-US" dirty="0">
                    <a:latin typeface="+mj-lt"/>
                  </a:rPr>
                  <a:t>然而最坏情况下，一次插入操作会消耗</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oMath>
                </a14:m>
                <a:r>
                  <a:rPr lang="zh-CN" altLang="en-US" dirty="0"/>
                  <a:t>的势能。如果又进行删除则会恢复消耗的势能，复杂度变为</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𝑛</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r>
                      <a:rPr lang="zh-CN" altLang="en-US" i="1">
                        <a:latin typeface="Cambria Math" panose="02040503050406030204" pitchFamily="18" charset="0"/>
                      </a:rPr>
                      <m:t>。</m:t>
                    </m:r>
                  </m:oMath>
                </a14:m>
                <a:endParaRPr lang="en-US" altLang="zh-CN" dirty="0"/>
              </a:p>
              <a:p>
                <a:r>
                  <a:rPr lang="zh-CN" altLang="en-US" dirty="0"/>
                  <a:t>于是我们需要另一种插入算法。</a:t>
                </a:r>
                <a:br>
                  <a:rPr lang="zh-CN" altLang="en-US" dirty="0"/>
                </a:br>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522414" y="1905000"/>
                <a:ext cx="9144000" cy="4419600"/>
              </a:xfrm>
              <a:blipFill>
                <a:blip r:embed="rId2"/>
                <a:stretch>
                  <a:fillRect l="-933" t="-2069"/>
                </a:stretch>
              </a:blipFill>
            </p:spPr>
            <p:txBody>
              <a:bodyPr/>
              <a:lstStyle/>
              <a:p>
                <a:r>
                  <a:rPr lang="en-US">
                    <a:noFill/>
                  </a:rPr>
                  <a:t> </a:t>
                </a:r>
              </a:p>
            </p:txBody>
          </p:sp>
        </mc:Fallback>
      </mc:AlternateContent>
    </p:spTree>
    <p:extLst>
      <p:ext uri="{BB962C8B-B14F-4D97-AF65-F5344CB8AC3E}">
        <p14:creationId xmlns:p14="http://schemas.microsoft.com/office/powerpoint/2010/main" val="2213626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不基于势能分析的插入算法</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latin typeface="+mj-lt"/>
                  </a:rPr>
                  <a:t>之前的插入算法的瓶颈在于，每次插入一个字符</a:t>
                </a:r>
                <a:r>
                  <a:rPr lang="en-US" altLang="zh-CN" i="1" dirty="0">
                    <a:latin typeface="+mj-lt"/>
                  </a:rPr>
                  <a:t>c</a:t>
                </a:r>
                <a:r>
                  <a:rPr lang="zh-CN" altLang="en-US" dirty="0">
                    <a:latin typeface="+mj-lt"/>
                  </a:rPr>
                  <a:t>，都要沿着当前最长回文后缀</a:t>
                </a:r>
                <a14:m>
                  <m:oMath xmlns:m="http://schemas.openxmlformats.org/officeDocument/2006/math">
                    <m:r>
                      <a:rPr lang="en-US" altLang="zh-CN" b="0" i="1" smtClean="0">
                        <a:latin typeface="Cambria Math" panose="02040503050406030204" pitchFamily="18" charset="0"/>
                      </a:rPr>
                      <m:t>𝑡</m:t>
                    </m:r>
                  </m:oMath>
                </a14:m>
                <a:r>
                  <a:rPr lang="zh-CN" altLang="en-US" dirty="0">
                    <a:latin typeface="+mj-lt"/>
                  </a:rPr>
                  <a:t>的</a:t>
                </a:r>
                <a14:m>
                  <m:oMath xmlns:m="http://schemas.openxmlformats.org/officeDocument/2006/math">
                    <m:r>
                      <a:rPr lang="en-US" altLang="zh-CN" b="0" i="1" smtClean="0">
                        <a:latin typeface="Cambria Math" panose="02040503050406030204" pitchFamily="18" charset="0"/>
                      </a:rPr>
                      <m:t>𝑓𝑎𝑖𝑙</m:t>
                    </m:r>
                  </m:oMath>
                </a14:m>
                <a:r>
                  <a:rPr lang="zh-CN" altLang="en-US" dirty="0">
                    <a:latin typeface="+mj-lt"/>
                  </a:rPr>
                  <a:t>链往上找到第一个</a:t>
                </a:r>
                <a:r>
                  <a:rPr lang="en-US" altLang="zh-CN" i="1" dirty="0">
                    <a:latin typeface="+mj-lt"/>
                  </a:rPr>
                  <a:t>v</a:t>
                </a:r>
                <a:r>
                  <a:rPr lang="zh-CN" altLang="en-US" dirty="0">
                    <a:latin typeface="+mj-lt"/>
                  </a:rPr>
                  <a:t>使得</a:t>
                </a:r>
                <a:r>
                  <a:rPr lang="en-US" altLang="zh-CN" i="1" dirty="0">
                    <a:latin typeface="+mj-lt"/>
                  </a:rPr>
                  <a:t>v</a:t>
                </a:r>
                <a:r>
                  <a:rPr lang="zh-CN" altLang="en-US" dirty="0">
                    <a:latin typeface="+mj-lt"/>
                  </a:rPr>
                  <a:t>在</a:t>
                </a:r>
                <a:r>
                  <a:rPr lang="en-US" altLang="zh-CN" i="1" dirty="0">
                    <a:latin typeface="+mj-lt"/>
                  </a:rPr>
                  <a:t>s</a:t>
                </a:r>
                <a:r>
                  <a:rPr lang="zh-CN" altLang="en-US" dirty="0">
                    <a:latin typeface="+mj-lt"/>
                  </a:rPr>
                  <a:t>中的前驱（即</a:t>
                </a:r>
                <a:r>
                  <a:rPr lang="en-US" altLang="zh-CN" i="1" dirty="0">
                    <a:latin typeface="+mj-lt"/>
                  </a:rPr>
                  <a:t>v</a:t>
                </a:r>
                <a:r>
                  <a:rPr lang="zh-CN" altLang="en-US" dirty="0">
                    <a:latin typeface="+mj-lt"/>
                  </a:rPr>
                  <a:t>的前一个字符）为</a:t>
                </a:r>
                <a:r>
                  <a:rPr lang="en-US" altLang="zh-CN" i="1" dirty="0">
                    <a:latin typeface="+mj-lt"/>
                  </a:rPr>
                  <a:t>c</a:t>
                </a:r>
                <a:r>
                  <a:rPr lang="zh-CN" altLang="en-US" dirty="0">
                    <a:latin typeface="+mj-lt"/>
                  </a:rPr>
                  <a:t>。</a:t>
                </a:r>
                <a:endParaRPr lang="en-US" altLang="zh-CN" dirty="0">
                  <a:latin typeface="+mj-lt"/>
                </a:endParaRPr>
              </a:p>
              <a:p>
                <a:r>
                  <a:rPr lang="zh-CN" altLang="en-US" dirty="0"/>
                  <a:t>注意到除去</a:t>
                </a:r>
                <a14:m>
                  <m:oMath xmlns:m="http://schemas.openxmlformats.org/officeDocument/2006/math">
                    <m:r>
                      <a:rPr lang="en-US" altLang="zh-CN" b="0" i="1" smtClean="0">
                        <a:latin typeface="Cambria Math" panose="02040503050406030204" pitchFamily="18" charset="0"/>
                      </a:rPr>
                      <m:t>𝑠</m:t>
                    </m:r>
                    <m:d>
                      <m:dPr>
                        <m:begChr m:val="["/>
                        <m:endChr m:val="]"/>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𝑙𝑒𝑛</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e>
                    </m:d>
                    <m:r>
                      <a:rPr lang="en-US" altLang="zh-CN" b="0" i="1" smtClean="0">
                        <a:latin typeface="Cambria Math" panose="02040503050406030204" pitchFamily="18" charset="0"/>
                      </a:rPr>
                      <m:t>=</m:t>
                    </m:r>
                    <m:r>
                      <a:rPr lang="en-US" altLang="zh-CN" b="0" i="1" smtClean="0">
                        <a:latin typeface="Cambria Math" panose="02040503050406030204" pitchFamily="18" charset="0"/>
                      </a:rPr>
                      <m:t>𝑐</m:t>
                    </m:r>
                  </m:oMath>
                </a14:m>
                <a:r>
                  <a:rPr lang="zh-CN" altLang="en-US" dirty="0"/>
                  <a:t>的情况，我们找到的</a:t>
                </a:r>
                <a14:m>
                  <m:oMath xmlns:m="http://schemas.openxmlformats.org/officeDocument/2006/math">
                    <m:r>
                      <a:rPr lang="en-US" altLang="zh-CN" b="0" i="1" smtClean="0">
                        <a:latin typeface="Cambria Math" panose="02040503050406030204" pitchFamily="18" charset="0"/>
                      </a:rPr>
                      <m:t>𝑣</m:t>
                    </m:r>
                    <m:r>
                      <a:rPr lang="zh-CN" altLang="en-US" i="1">
                        <a:latin typeface="Cambria Math" panose="02040503050406030204" pitchFamily="18" charset="0"/>
                      </a:rPr>
                      <m:t>将</m:t>
                    </m:r>
                    <m:r>
                      <a:rPr lang="zh-CN" altLang="en-US" i="1" smtClean="0">
                        <a:latin typeface="Cambria Math" panose="02040503050406030204" pitchFamily="18" charset="0"/>
                      </a:rPr>
                      <m:t>是</m:t>
                    </m:r>
                  </m:oMath>
                </a14:m>
                <a:r>
                  <a:rPr lang="zh-CN" altLang="en-US" dirty="0"/>
                  <a:t>确定的。</a:t>
                </a:r>
                <a:endParaRPr lang="en-US" altLang="zh-CN" dirty="0"/>
              </a:p>
              <a:p>
                <a:r>
                  <a:rPr lang="zh-CN" altLang="en-US" dirty="0"/>
                  <a:t>于是我们特判前一种情况，对每个节点</a:t>
                </a:r>
                <a14:m>
                  <m:oMath xmlns:m="http://schemas.openxmlformats.org/officeDocument/2006/math">
                    <m:r>
                      <a:rPr lang="en-US" altLang="zh-CN" b="0" i="1" smtClean="0">
                        <a:latin typeface="Cambria Math" panose="02040503050406030204" pitchFamily="18" charset="0"/>
                      </a:rPr>
                      <m:t>𝑣</m:t>
                    </m:r>
                  </m:oMath>
                </a14:m>
                <a:r>
                  <a:rPr lang="zh-CN" altLang="en-US" dirty="0"/>
                  <a:t>记录</a:t>
                </a:r>
                <a14:m>
                  <m:oMath xmlns:m="http://schemas.openxmlformats.org/officeDocument/2006/math">
                    <m:r>
                      <a:rPr lang="en-US" altLang="zh-CN" b="0" i="1" smtClean="0">
                        <a:latin typeface="Cambria Math" panose="02040503050406030204" pitchFamily="18" charset="0"/>
                      </a:rPr>
                      <m:t>𝑔𝑜</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𝑣</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oMath>
                </a14:m>
                <a:r>
                  <a:rPr lang="zh-CN" altLang="en-US" dirty="0"/>
                  <a:t>，表示最长的满足前驱为</a:t>
                </a:r>
                <a14:m>
                  <m:oMath xmlns:m="http://schemas.openxmlformats.org/officeDocument/2006/math">
                    <m:r>
                      <a:rPr lang="en-US" altLang="zh-CN" b="0" i="1" smtClean="0">
                        <a:latin typeface="Cambria Math" panose="02040503050406030204" pitchFamily="18" charset="0"/>
                      </a:rPr>
                      <m:t>𝑐</m:t>
                    </m:r>
                    <m:r>
                      <a:rPr lang="zh-CN" altLang="en-US" i="1">
                        <a:latin typeface="Cambria Math" panose="02040503050406030204" pitchFamily="18" charset="0"/>
                      </a:rPr>
                      <m:t>的</m:t>
                    </m:r>
                  </m:oMath>
                </a14:m>
                <a:r>
                  <a:rPr lang="zh-CN" altLang="en-US" dirty="0"/>
                  <a:t>回文后缀。</a:t>
                </a:r>
                <a:br>
                  <a:rPr lang="zh-CN" altLang="en-US" dirty="0"/>
                </a:b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143" r="-4333"/>
                </a:stretch>
              </a:blipFill>
            </p:spPr>
            <p:txBody>
              <a:bodyPr/>
              <a:lstStyle/>
              <a:p>
                <a:r>
                  <a:rPr lang="en-US">
                    <a:noFill/>
                  </a:rPr>
                  <a:t> </a:t>
                </a:r>
              </a:p>
            </p:txBody>
          </p:sp>
        </mc:Fallback>
      </mc:AlternateContent>
    </p:spTree>
    <p:extLst>
      <p:ext uri="{BB962C8B-B14F-4D97-AF65-F5344CB8AC3E}">
        <p14:creationId xmlns:p14="http://schemas.microsoft.com/office/powerpoint/2010/main" val="61532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不基于势能分析的插入算法</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如何维护这个</a:t>
                </a:r>
                <a14:m>
                  <m:oMath xmlns:m="http://schemas.openxmlformats.org/officeDocument/2006/math">
                    <m:r>
                      <a:rPr lang="en-US" altLang="zh-CN" b="0" i="1" smtClean="0">
                        <a:latin typeface="Cambria Math" panose="02040503050406030204" pitchFamily="18" charset="0"/>
                      </a:rPr>
                      <m:t>𝑔𝑜</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𝑣</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oMath>
                </a14:m>
                <a:r>
                  <a:rPr lang="zh-CN" altLang="en-US" dirty="0"/>
                  <a:t>呢？</a:t>
                </a:r>
                <a:endParaRPr lang="en-US" altLang="zh-CN" dirty="0"/>
              </a:p>
              <a:p>
                <a:r>
                  <a:rPr lang="zh-CN" altLang="en-US" dirty="0"/>
                  <a:t>注意到</a:t>
                </a:r>
                <a14:m>
                  <m:oMath xmlns:m="http://schemas.openxmlformats.org/officeDocument/2006/math">
                    <m:r>
                      <a:rPr lang="en-US" altLang="zh-CN" b="0" i="1" smtClean="0">
                        <a:latin typeface="Cambria Math" panose="02040503050406030204" pitchFamily="18" charset="0"/>
                      </a:rPr>
                      <m:t>𝑣</m:t>
                    </m:r>
                  </m:oMath>
                </a14:m>
                <a:r>
                  <a:rPr lang="zh-CN" altLang="en-US" dirty="0"/>
                  <a:t>与</a:t>
                </a:r>
                <a14:m>
                  <m:oMath xmlns:m="http://schemas.openxmlformats.org/officeDocument/2006/math">
                    <m:r>
                      <a:rPr lang="en-US" altLang="zh-CN" b="0" i="1" smtClean="0">
                        <a:latin typeface="Cambria Math" panose="02040503050406030204" pitchFamily="18" charset="0"/>
                      </a:rPr>
                      <m:t>𝑓𝑎𝑖𝑙</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oMath>
                </a14:m>
                <a:r>
                  <a:rPr lang="zh-CN" altLang="en-US" dirty="0"/>
                  <a:t>的</a:t>
                </a:r>
                <a14:m>
                  <m:oMath xmlns:m="http://schemas.openxmlformats.org/officeDocument/2006/math">
                    <m:r>
                      <a:rPr lang="en-US" altLang="zh-CN" b="0" i="1" smtClean="0">
                        <a:latin typeface="Cambria Math" panose="02040503050406030204" pitchFamily="18" charset="0"/>
                      </a:rPr>
                      <m:t>𝑔𝑜</m:t>
                    </m:r>
                    <m:r>
                      <a:rPr lang="en-US" altLang="zh-CN" b="0" i="1" smtClean="0">
                        <a:latin typeface="Cambria Math" panose="02040503050406030204" pitchFamily="18" charset="0"/>
                      </a:rPr>
                      <m:t>[]</m:t>
                    </m:r>
                  </m:oMath>
                </a14:m>
                <a:r>
                  <a:rPr lang="zh-CN" altLang="en-US" dirty="0"/>
                  <a:t>几乎没有什么差别，于是我们直接把</a:t>
                </a:r>
                <a14:m>
                  <m:oMath xmlns:m="http://schemas.openxmlformats.org/officeDocument/2006/math">
                    <m:r>
                      <a:rPr lang="en-US" altLang="zh-CN" b="0" i="1" smtClean="0">
                        <a:latin typeface="Cambria Math" panose="02040503050406030204" pitchFamily="18" charset="0"/>
                      </a:rPr>
                      <m:t>𝑔𝑜</m:t>
                    </m:r>
                    <m:r>
                      <a:rPr lang="en-US" altLang="zh-CN" b="0" i="1" smtClean="0">
                        <a:latin typeface="Cambria Math" panose="02040503050406030204" pitchFamily="18" charset="0"/>
                      </a:rPr>
                      <m:t>[</m:t>
                    </m:r>
                    <m:r>
                      <a:rPr lang="en-US" altLang="zh-CN" b="0" i="1" smtClean="0">
                        <a:latin typeface="Cambria Math" panose="02040503050406030204" pitchFamily="18" charset="0"/>
                      </a:rPr>
                      <m:t>𝑓𝑎𝑖𝑙</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oMath>
                </a14:m>
                <a:r>
                  <a:rPr lang="en-US" dirty="0"/>
                  <a:t> </a:t>
                </a:r>
                <a:r>
                  <a:rPr lang="zh-CN" altLang="en-US" dirty="0"/>
                  <a:t>复制到</a:t>
                </a:r>
                <a14:m>
                  <m:oMath xmlns:m="http://schemas.openxmlformats.org/officeDocument/2006/math">
                    <m:r>
                      <a:rPr lang="en-US" altLang="zh-CN" b="0" i="1" smtClean="0">
                        <a:latin typeface="Cambria Math" panose="02040503050406030204" pitchFamily="18" charset="0"/>
                      </a:rPr>
                      <m:t>𝑔𝑜</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𝑣</m:t>
                        </m:r>
                      </m:e>
                    </m:d>
                    <m:r>
                      <a:rPr lang="zh-CN" altLang="en-US" i="1">
                        <a:latin typeface="Cambria Math" panose="02040503050406030204" pitchFamily="18" charset="0"/>
                      </a:rPr>
                      <m:t>，</m:t>
                    </m:r>
                  </m:oMath>
                </a14:m>
                <a:r>
                  <a:rPr lang="zh-CN" altLang="en-US" dirty="0"/>
                  <a:t>再考虑</a:t>
                </a:r>
                <a14:m>
                  <m:oMath xmlns:m="http://schemas.openxmlformats.org/officeDocument/2006/math">
                    <m:r>
                      <a:rPr lang="en-US" altLang="zh-CN" b="0" i="1" smtClean="0">
                        <a:latin typeface="Cambria Math" panose="02040503050406030204" pitchFamily="18" charset="0"/>
                      </a:rPr>
                      <m:t>𝑓𝑎𝑖𝑙</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r>
                      <a:rPr lang="zh-CN" altLang="en-US" i="1">
                        <a:latin typeface="Cambria Math" panose="02040503050406030204" pitchFamily="18" charset="0"/>
                      </a:rPr>
                      <m:t>的</m:t>
                    </m:r>
                  </m:oMath>
                </a14:m>
                <a:r>
                  <a:rPr lang="zh-CN" altLang="en-US" dirty="0"/>
                  <a:t>前驱</a:t>
                </a:r>
                <a14:m>
                  <m:oMath xmlns:m="http://schemas.openxmlformats.org/officeDocument/2006/math">
                    <m:r>
                      <a:rPr lang="en-US" altLang="zh-CN" b="0" i="1" smtClean="0">
                        <a:latin typeface="Cambria Math" panose="02040503050406030204" pitchFamily="18" charset="0"/>
                      </a:rPr>
                      <m:t>𝑐</m:t>
                    </m:r>
                    <m:r>
                      <a:rPr lang="zh-CN" altLang="en-US" i="1">
                        <a:latin typeface="Cambria Math" panose="02040503050406030204" pitchFamily="18" charset="0"/>
                      </a:rPr>
                      <m:t>，</m:t>
                    </m:r>
                  </m:oMath>
                </a14:m>
                <a:r>
                  <a:rPr lang="zh-CN" altLang="en-US" dirty="0"/>
                  <a:t>直接令</a:t>
                </a:r>
                <a14:m>
                  <m:oMath xmlns:m="http://schemas.openxmlformats.org/officeDocument/2006/math">
                    <m:r>
                      <a:rPr lang="en-US" altLang="zh-CN" b="0" i="1" smtClean="0">
                        <a:latin typeface="Cambria Math" panose="02040503050406030204" pitchFamily="18" charset="0"/>
                      </a:rPr>
                      <m:t>𝑔𝑜</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𝑣</m:t>
                        </m:r>
                      </m:e>
                    </m:d>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𝑐</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𝑓𝑎𝑖𝑙</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r>
                      <a:rPr lang="zh-CN" altLang="en-US" i="1">
                        <a:latin typeface="Cambria Math" panose="02040503050406030204" pitchFamily="18" charset="0"/>
                      </a:rPr>
                      <m:t>即可</m:t>
                    </m:r>
                  </m:oMath>
                </a14:m>
                <a:r>
                  <a:rPr lang="zh-CN" altLang="en-US" dirty="0"/>
                  <a:t>。</a:t>
                </a:r>
                <a:endParaRPr lang="en-US" altLang="zh-CN" dirty="0"/>
              </a:p>
              <a:p>
                <a:r>
                  <a:rPr lang="zh-CN" altLang="en-US" dirty="0"/>
                  <a:t>这样单次插入时间复杂度为</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Σ</m:t>
                    </m:r>
                    <m:r>
                      <a:rPr lang="en-US" altLang="zh-CN" b="0" i="1" smtClean="0">
                        <a:latin typeface="Cambria Math" panose="02040503050406030204" pitchFamily="18" charset="0"/>
                      </a:rPr>
                      <m:t>)</m:t>
                    </m:r>
                    <m:r>
                      <a:rPr lang="zh-CN" altLang="en-US" i="1">
                        <a:latin typeface="Cambria Math" panose="02040503050406030204" pitchFamily="18" charset="0"/>
                      </a:rPr>
                      <m:t>。</m:t>
                    </m:r>
                  </m:oMath>
                </a14:m>
                <a:endParaRPr lang="en-US" altLang="zh-CN" dirty="0"/>
              </a:p>
              <a:p>
                <a:r>
                  <a:rPr lang="zh-CN" altLang="en-US" dirty="0"/>
                  <a:t>当然，在字符集较大时，可使用可持久化线段树维护</a:t>
                </a:r>
                <a14:m>
                  <m:oMath xmlns:m="http://schemas.openxmlformats.org/officeDocument/2006/math">
                    <m:r>
                      <a:rPr lang="en-US" altLang="zh-CN" b="0" i="1" smtClean="0">
                        <a:latin typeface="Cambria Math" panose="02040503050406030204" pitchFamily="18" charset="0"/>
                      </a:rPr>
                      <m:t>𝑔𝑜</m:t>
                    </m:r>
                    <m:r>
                      <a:rPr lang="en-US" altLang="zh-CN" b="0" i="1" smtClean="0">
                        <a:latin typeface="Cambria Math" panose="02040503050406030204" pitchFamily="18" charset="0"/>
                      </a:rPr>
                      <m:t>[</m:t>
                    </m:r>
                    <m:r>
                      <a:rPr lang="en-US" altLang="zh-CN" b="0" i="1" smtClean="0">
                        <a:latin typeface="Cambria Math" panose="02040503050406030204" pitchFamily="18" charset="0"/>
                      </a:rPr>
                      <m:t>𝑣</m:t>
                    </m:r>
                    <m:r>
                      <a:rPr lang="en-US" altLang="zh-CN" b="0" i="1" smtClean="0">
                        <a:latin typeface="Cambria Math" panose="02040503050406030204" pitchFamily="18" charset="0"/>
                      </a:rPr>
                      <m:t>]</m:t>
                    </m:r>
                    <m:r>
                      <a:rPr lang="zh-CN" altLang="en-US" i="1">
                        <a:latin typeface="Cambria Math" panose="02040503050406030204" pitchFamily="18" charset="0"/>
                      </a:rPr>
                      <m:t>。</m:t>
                    </m:r>
                  </m:oMath>
                </a14:m>
                <a:r>
                  <a:rPr lang="zh-CN" altLang="en-US" dirty="0"/>
                  <a:t>单次时间复杂度为</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𝑙𝑜𝑔</m:t>
                    </m:r>
                    <m:r>
                      <m:rPr>
                        <m:sty m:val="p"/>
                      </m:rPr>
                      <a:rPr lang="en-US" altLang="zh-CN" b="0" i="0" smtClean="0">
                        <a:latin typeface="Cambria Math" panose="02040503050406030204" pitchFamily="18" charset="0"/>
                      </a:rPr>
                      <m:t>Σ</m:t>
                    </m:r>
                    <m:r>
                      <a:rPr lang="en-US" altLang="zh-CN" b="0" i="1" smtClean="0">
                        <a:latin typeface="Cambria Math" panose="02040503050406030204" pitchFamily="18" charset="0"/>
                      </a:rPr>
                      <m:t>)</m:t>
                    </m:r>
                    <m:r>
                      <a:rPr lang="zh-CN" altLang="en-US" i="1">
                        <a:latin typeface="Cambria Math" panose="02040503050406030204" pitchFamily="18" charset="0"/>
                      </a:rPr>
                      <m:t>。</m:t>
                    </m:r>
                  </m:oMath>
                </a14:m>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000" r="-800"/>
                </a:stretch>
              </a:blipFill>
            </p:spPr>
            <p:txBody>
              <a:bodyPr/>
              <a:lstStyle/>
              <a:p>
                <a:r>
                  <a:rPr lang="en-US">
                    <a:noFill/>
                  </a:rPr>
                  <a:t> </a:t>
                </a:r>
              </a:p>
            </p:txBody>
          </p:sp>
        </mc:Fallback>
      </mc:AlternateContent>
    </p:spTree>
    <p:extLst>
      <p:ext uri="{BB962C8B-B14F-4D97-AF65-F5344CB8AC3E}">
        <p14:creationId xmlns:p14="http://schemas.microsoft.com/office/powerpoint/2010/main" val="2071457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双端插入删除</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首先引入一些概念</a:t>
                </a:r>
                <a:endParaRPr lang="en-US" altLang="zh-CN" dirty="0"/>
              </a:p>
              <a:p>
                <a:r>
                  <a:rPr lang="zh-CN" altLang="en-US" dirty="0">
                    <a:latin typeface="+mj-lt"/>
                  </a:rPr>
                  <a:t>一个</a:t>
                </a:r>
                <a14:m>
                  <m:oMath xmlns:m="http://schemas.openxmlformats.org/officeDocument/2006/math">
                    <m:r>
                      <a:rPr lang="en-US" altLang="zh-CN" b="0" i="1" smtClean="0">
                        <a:latin typeface="Cambria Math" panose="02040503050406030204" pitchFamily="18" charset="0"/>
                      </a:rPr>
                      <m:t>𝑠</m:t>
                    </m:r>
                  </m:oMath>
                </a14:m>
                <a:r>
                  <a:rPr lang="zh-CN" altLang="en-US" dirty="0">
                    <a:latin typeface="+mj-lt"/>
                  </a:rPr>
                  <a:t>中的子串</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oMath>
                </a14:m>
                <a:r>
                  <a:rPr lang="zh-CN" altLang="en-US" dirty="0">
                    <a:latin typeface="+mj-lt"/>
                  </a:rPr>
                  <a:t>被称为重要的，当且仅当</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oMath>
                </a14:m>
                <a:r>
                  <a:rPr lang="zh-CN" altLang="en-US" dirty="0">
                    <a:latin typeface="+mj-lt"/>
                  </a:rPr>
                  <a:t>是回文的，且不存在一个</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𝑟</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&gt;</m:t>
                    </m:r>
                    <m:r>
                      <a:rPr lang="en-US" altLang="zh-CN" b="0" i="1" smtClean="0">
                        <a:latin typeface="Cambria Math" panose="02040503050406030204" pitchFamily="18" charset="0"/>
                      </a:rPr>
                      <m:t>𝑟</m:t>
                    </m:r>
                  </m:oMath>
                </a14:m>
                <a:r>
                  <a:rPr lang="zh-CN" altLang="en-US" dirty="0">
                    <a:latin typeface="+mj-lt"/>
                  </a:rPr>
                  <a:t>，使得</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oMath>
                </a14:m>
                <a:r>
                  <a:rPr lang="zh-CN" altLang="en-US" dirty="0">
                    <a:latin typeface="+mj-lt"/>
                  </a:rPr>
                  <a:t>是回文的；不存在一个</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𝑙</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&lt;</m:t>
                    </m:r>
                    <m:r>
                      <a:rPr lang="en-US" altLang="zh-CN" b="0" i="1" smtClean="0">
                        <a:latin typeface="Cambria Math" panose="02040503050406030204" pitchFamily="18" charset="0"/>
                      </a:rPr>
                      <m:t>𝑙</m:t>
                    </m:r>
                  </m:oMath>
                </a14:m>
                <a:r>
                  <a:rPr lang="zh-CN" altLang="en-US" dirty="0">
                    <a:latin typeface="+mj-lt"/>
                  </a:rPr>
                  <a:t>，使得</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𝑙</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oMath>
                </a14:m>
                <a:r>
                  <a:rPr lang="zh-CN" altLang="en-US" dirty="0">
                    <a:latin typeface="+mj-lt"/>
                  </a:rPr>
                  <a:t>是回文的。</a:t>
                </a:r>
                <a:endParaRPr lang="en-US" altLang="zh-CN" dirty="0">
                  <a:latin typeface="+mj-lt"/>
                </a:endParaRPr>
              </a:p>
              <a:p>
                <a:r>
                  <a:rPr lang="zh-CN" altLang="en-US" dirty="0">
                    <a:latin typeface="+mj-lt"/>
                  </a:rPr>
                  <a:t>对于每个位置</a:t>
                </a:r>
                <a14:m>
                  <m:oMath xmlns:m="http://schemas.openxmlformats.org/officeDocument/2006/math">
                    <m:r>
                      <a:rPr lang="en-US" altLang="zh-CN" b="0" i="1" smtClean="0">
                        <a:latin typeface="Cambria Math" panose="02040503050406030204" pitchFamily="18" charset="0"/>
                      </a:rPr>
                      <m:t>𝑟</m:t>
                    </m:r>
                  </m:oMath>
                </a14:m>
                <a:r>
                  <a:rPr lang="zh-CN" altLang="en-US" dirty="0">
                    <a:latin typeface="+mj-lt"/>
                  </a:rPr>
                  <a:t>，显然最多只有一个</a:t>
                </a:r>
                <a14:m>
                  <m:oMath xmlns:m="http://schemas.openxmlformats.org/officeDocument/2006/math">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oMath>
                </a14:m>
                <a:r>
                  <a:rPr lang="zh-CN" altLang="en-US" dirty="0">
                    <a:latin typeface="+mj-lt"/>
                  </a:rPr>
                  <a:t>，满足</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oMath>
                </a14:m>
                <a:r>
                  <a:rPr lang="zh-CN" altLang="en-US" dirty="0">
                    <a:latin typeface="+mj-lt"/>
                  </a:rPr>
                  <a:t>是重要的，称</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oMath>
                </a14:m>
                <a:r>
                  <a:rPr lang="zh-CN" altLang="en-US" dirty="0">
                    <a:latin typeface="+mj-lt"/>
                  </a:rPr>
                  <a:t>为</a:t>
                </a:r>
                <a14:m>
                  <m:oMath xmlns:m="http://schemas.openxmlformats.org/officeDocument/2006/math">
                    <m:r>
                      <a:rPr lang="en-US" altLang="zh-CN" b="0" i="1" smtClean="0">
                        <a:latin typeface="Cambria Math" panose="02040503050406030204" pitchFamily="18" charset="0"/>
                      </a:rPr>
                      <m:t>𝑟</m:t>
                    </m:r>
                  </m:oMath>
                </a14:m>
                <a:r>
                  <a:rPr lang="zh-CN" altLang="en-US" dirty="0">
                    <a:latin typeface="+mj-lt"/>
                  </a:rPr>
                  <a:t>的重要后缀，</a:t>
                </a:r>
                <a:r>
                  <a:rPr lang="en-US" altLang="zh-CN" dirty="0"/>
                  <a:t> </a:t>
                </a:r>
                <a14:m>
                  <m:oMath xmlns:m="http://schemas.openxmlformats.org/officeDocument/2006/math">
                    <m:r>
                      <a:rPr lang="en-US" altLang="zh-CN" b="0" i="1" smtClean="0">
                        <a:latin typeface="Cambria Math" panose="02040503050406030204" pitchFamily="18" charset="0"/>
                      </a:rPr>
                      <m:t>𝑟</m:t>
                    </m:r>
                  </m:oMath>
                </a14:m>
                <a:r>
                  <a:rPr lang="zh-CN" altLang="en-US" dirty="0">
                    <a:latin typeface="+mj-lt"/>
                  </a:rPr>
                  <a:t>可以没有重要后缀；同样的，可以对</a:t>
                </a:r>
                <a14:m>
                  <m:oMath xmlns:m="http://schemas.openxmlformats.org/officeDocument/2006/math">
                    <m:r>
                      <a:rPr lang="en-US" altLang="zh-CN" b="0" i="1" smtClean="0">
                        <a:latin typeface="Cambria Math" panose="02040503050406030204" pitchFamily="18" charset="0"/>
                      </a:rPr>
                      <m:t>𝑙</m:t>
                    </m:r>
                  </m:oMath>
                </a14:m>
                <a:r>
                  <a:rPr lang="zh-CN" altLang="en-US" dirty="0">
                    <a:latin typeface="+mj-lt"/>
                  </a:rPr>
                  <a:t>定义重要前缀。</a:t>
                </a:r>
                <a:br>
                  <a:rPr lang="zh-CN" altLang="en-US" dirty="0"/>
                </a:br>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000" r="-4333"/>
                </a:stretch>
              </a:blipFill>
            </p:spPr>
            <p:txBody>
              <a:bodyPr/>
              <a:lstStyle/>
              <a:p>
                <a:r>
                  <a:rPr lang="en-US">
                    <a:noFill/>
                  </a:rPr>
                  <a:t> </a:t>
                </a:r>
              </a:p>
            </p:txBody>
          </p:sp>
        </mc:Fallback>
      </mc:AlternateContent>
    </p:spTree>
    <p:extLst>
      <p:ext uri="{BB962C8B-B14F-4D97-AF65-F5344CB8AC3E}">
        <p14:creationId xmlns:p14="http://schemas.microsoft.com/office/powerpoint/2010/main" val="1809115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在末端插入新的字符</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不妨设</a:t>
                </a:r>
                <a14:m>
                  <m:oMath xmlns:m="http://schemas.openxmlformats.org/officeDocument/2006/math">
                    <m:r>
                      <a:rPr lang="en-US" altLang="zh-CN" b="0" i="1" smtClean="0">
                        <a:latin typeface="Cambria Math" panose="02040503050406030204" pitchFamily="18" charset="0"/>
                      </a:rPr>
                      <m:t>𝑟</m:t>
                    </m:r>
                  </m:oMath>
                </a14:m>
                <a:r>
                  <a:rPr lang="zh-CN" altLang="en-US" dirty="0"/>
                  <a:t>表示原来末端的位置，那么</a:t>
                </a:r>
                <a14:m>
                  <m:oMath xmlns:m="http://schemas.openxmlformats.org/officeDocument/2006/math">
                    <m:r>
                      <a:rPr lang="en-US" altLang="zh-CN" b="0" i="1" smtClean="0">
                        <a:latin typeface="Cambria Math" panose="02040503050406030204" pitchFamily="18" charset="0"/>
                      </a:rPr>
                      <m:t>𝑟</m:t>
                    </m:r>
                  </m:oMath>
                </a14:m>
                <a:r>
                  <a:rPr lang="zh-CN" altLang="en-US" dirty="0"/>
                  <a:t>必然会有一个重要后缀，而这个后缀就是当前</a:t>
                </a:r>
                <a14:m>
                  <m:oMath xmlns:m="http://schemas.openxmlformats.org/officeDocument/2006/math">
                    <m:r>
                      <a:rPr lang="en-US" altLang="zh-CN" b="0" i="1" smtClean="0">
                        <a:latin typeface="Cambria Math" panose="02040503050406030204" pitchFamily="18" charset="0"/>
                      </a:rPr>
                      <m:t>𝑠</m:t>
                    </m:r>
                  </m:oMath>
                </a14:m>
                <a:r>
                  <a:rPr lang="zh-CN" altLang="en-US" dirty="0"/>
                  <a:t>的最长回文后缀。</a:t>
                </a:r>
                <a:endParaRPr lang="en-US" altLang="zh-CN" dirty="0"/>
              </a:p>
              <a:p>
                <a:r>
                  <a:rPr lang="zh-CN" altLang="en-US" dirty="0"/>
                  <a:t>直接套用末端插入的算法求出新的回文树并得到新的最长回文后缀，令</a:t>
                </a:r>
                <a14:m>
                  <m:oMath xmlns:m="http://schemas.openxmlformats.org/officeDocument/2006/math">
                    <m:r>
                      <a:rPr lang="en-US" altLang="zh-CN" b="0" i="1" smtClean="0">
                        <a:latin typeface="Cambria Math" panose="02040503050406030204" pitchFamily="18" charset="0"/>
                      </a:rPr>
                      <m:t>𝑙</m:t>
                    </m:r>
                  </m:oMath>
                </a14:m>
                <a:r>
                  <a:rPr lang="zh-CN" altLang="en-US" dirty="0"/>
                  <a:t>为新最长回文后缀的左端点，则</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+1]</m:t>
                    </m:r>
                  </m:oMath>
                </a14:m>
                <a:r>
                  <a:rPr lang="zh-CN" altLang="en-US" dirty="0"/>
                  <a:t>是重要的。</a:t>
                </a:r>
                <a:endParaRPr lang="en-US" altLang="zh-CN" dirty="0"/>
              </a:p>
              <a:p>
                <a:r>
                  <a:rPr lang="zh-CN" altLang="en-US" dirty="0"/>
                  <a:t>注意可能会让</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+1]</m:t>
                    </m:r>
                  </m:oMath>
                </a14:m>
                <a:r>
                  <a:rPr lang="zh-CN" altLang="en-US" dirty="0"/>
                  <a:t>的最长回文前缀变得不重要。另外维护一个桶</a:t>
                </a:r>
                <a14:m>
                  <m:oMath xmlns:m="http://schemas.openxmlformats.org/officeDocument/2006/math">
                    <m:r>
                      <a:rPr lang="en-US" altLang="zh-CN" b="0" i="1" smtClean="0">
                        <a:latin typeface="Cambria Math" panose="02040503050406030204" pitchFamily="18" charset="0"/>
                      </a:rPr>
                      <m:t>𝑐𝑛𝑡</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𝑙</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oMath>
                </a14:m>
                <a:r>
                  <a:rPr lang="zh-CN" altLang="en-US" dirty="0"/>
                  <a:t>表示</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oMath>
                </a14:m>
                <a:r>
                  <a:rPr lang="zh-CN" altLang="en-US" dirty="0"/>
                  <a:t>被标记了多少次“不重要”，</a:t>
                </a:r>
                <a:r>
                  <a:rPr lang="en-US" altLang="zh-CN" dirty="0"/>
                  <a:t> </a:t>
                </a:r>
                <a14:m>
                  <m:oMath xmlns:m="http://schemas.openxmlformats.org/officeDocument/2006/math">
                    <m:r>
                      <a:rPr lang="en-US" altLang="zh-CN" b="0" i="1" smtClean="0">
                        <a:latin typeface="Cambria Math" panose="02040503050406030204" pitchFamily="18" charset="0"/>
                      </a:rPr>
                      <m:t>𝑐𝑛𝑡</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𝑙</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oMath>
                </a14:m>
                <a:r>
                  <a:rPr lang="zh-CN" altLang="en-US" dirty="0"/>
                  <a:t>可以用哈希来实现。</a:t>
                </a:r>
                <a:br>
                  <a:rPr lang="zh-CN" altLang="en-US" dirty="0"/>
                </a:br>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000"/>
                </a:stretch>
              </a:blipFill>
            </p:spPr>
            <p:txBody>
              <a:bodyPr/>
              <a:lstStyle/>
              <a:p>
                <a:r>
                  <a:rPr lang="en-US">
                    <a:noFill/>
                  </a:rPr>
                  <a:t> </a:t>
                </a:r>
              </a:p>
            </p:txBody>
          </p:sp>
        </mc:Fallback>
      </mc:AlternateContent>
    </p:spTree>
    <p:extLst>
      <p:ext uri="{BB962C8B-B14F-4D97-AF65-F5344CB8AC3E}">
        <p14:creationId xmlns:p14="http://schemas.microsoft.com/office/powerpoint/2010/main" val="2883313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在末端删除字符</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522414" y="1905000"/>
                <a:ext cx="9144000" cy="4419600"/>
              </a:xfrm>
            </p:spPr>
            <p:txBody>
              <a:bodyPr>
                <a:normAutofit/>
              </a:bodyPr>
              <a:lstStyle/>
              <a:p>
                <a:r>
                  <a:rPr lang="zh-CN" altLang="en-US" dirty="0">
                    <a:latin typeface="+mj-lt"/>
                  </a:rPr>
                  <a:t>令</a:t>
                </a:r>
                <a14:m>
                  <m:oMath xmlns:m="http://schemas.openxmlformats.org/officeDocument/2006/math">
                    <m:r>
                      <a:rPr lang="en-US" altLang="zh-CN" b="0" i="1" smtClean="0">
                        <a:latin typeface="Cambria Math" panose="02040503050406030204" pitchFamily="18" charset="0"/>
                      </a:rPr>
                      <m:t>𝑙</m:t>
                    </m:r>
                  </m:oMath>
                </a14:m>
                <a:r>
                  <a:rPr lang="zh-CN" altLang="en-US" dirty="0">
                    <a:latin typeface="+mj-lt"/>
                  </a:rPr>
                  <a:t>为</a:t>
                </a:r>
                <a14:m>
                  <m:oMath xmlns:m="http://schemas.openxmlformats.org/officeDocument/2006/math">
                    <m:r>
                      <a:rPr lang="en-US" altLang="zh-CN" b="0" i="1" smtClean="0">
                        <a:latin typeface="Cambria Math" panose="02040503050406030204" pitchFamily="18" charset="0"/>
                      </a:rPr>
                      <m:t>𝑟</m:t>
                    </m:r>
                  </m:oMath>
                </a14:m>
                <a:r>
                  <a:rPr lang="zh-CN" altLang="en-US" dirty="0">
                    <a:latin typeface="+mj-lt"/>
                  </a:rPr>
                  <a:t>的重要后缀的左端点，将</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oMath>
                </a14:m>
                <a:r>
                  <a:rPr lang="zh-CN" altLang="en-US" dirty="0">
                    <a:latin typeface="+mj-lt"/>
                  </a:rPr>
                  <a:t>的最长回文前缀对应的</a:t>
                </a:r>
                <a14:m>
                  <m:oMath xmlns:m="http://schemas.openxmlformats.org/officeDocument/2006/math">
                    <m:r>
                      <a:rPr lang="en-US" altLang="zh-CN" b="0" i="1" smtClean="0">
                        <a:latin typeface="Cambria Math" panose="02040503050406030204" pitchFamily="18" charset="0"/>
                      </a:rPr>
                      <m:t>𝑐𝑛𝑡</m:t>
                    </m:r>
                  </m:oMath>
                </a14:m>
                <a:r>
                  <a:rPr lang="zh-CN" altLang="en-US" dirty="0">
                    <a:latin typeface="+mj-lt"/>
                  </a:rPr>
                  <a:t>减</a:t>
                </a:r>
                <a:r>
                  <a:rPr lang="en-US" altLang="zh-CN" dirty="0">
                    <a:latin typeface="+mj-lt"/>
                  </a:rPr>
                  <a:t>1</a:t>
                </a:r>
                <a:r>
                  <a:rPr lang="zh-CN" altLang="en-US" dirty="0">
                    <a:latin typeface="+mj-lt"/>
                  </a:rPr>
                  <a:t>，假如被减为</a:t>
                </a:r>
                <a:r>
                  <a:rPr lang="en-US" altLang="zh-CN" dirty="0">
                    <a:latin typeface="+mj-lt"/>
                  </a:rPr>
                  <a:t>0</a:t>
                </a:r>
                <a:r>
                  <a:rPr lang="zh-CN" altLang="en-US" dirty="0">
                    <a:latin typeface="+mj-lt"/>
                  </a:rPr>
                  <a:t>，意味着他再次变成重要的。</a:t>
                </a:r>
                <a:endParaRPr lang="en-US" altLang="zh-CN" dirty="0">
                  <a:latin typeface="+mj-lt"/>
                </a:endParaRPr>
              </a:p>
              <a:p>
                <a:r>
                  <a:rPr lang="zh-CN" altLang="en-US" dirty="0">
                    <a:latin typeface="+mj-lt"/>
                  </a:rPr>
                  <a:t>现在还有一个问题是，我们需要知道</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oMath>
                </a14:m>
                <a:r>
                  <a:rPr lang="zh-CN" altLang="en-US" dirty="0">
                    <a:latin typeface="+mj-lt"/>
                  </a:rPr>
                  <a:t>对应的回文树的节点是否需要被删掉。不妨对回文树上每个节点</a:t>
                </a:r>
                <a14:m>
                  <m:oMath xmlns:m="http://schemas.openxmlformats.org/officeDocument/2006/math">
                    <m:r>
                      <a:rPr lang="en-US" altLang="zh-CN" b="0" i="1" smtClean="0">
                        <a:latin typeface="Cambria Math" panose="02040503050406030204" pitchFamily="18" charset="0"/>
                      </a:rPr>
                      <m:t>𝑡</m:t>
                    </m:r>
                  </m:oMath>
                </a14:m>
                <a:r>
                  <a:rPr lang="zh-CN" altLang="en-US" dirty="0">
                    <a:latin typeface="+mj-lt"/>
                  </a:rPr>
                  <a:t>定义两个权值</a:t>
                </a:r>
                <a14:m>
                  <m:oMath xmlns:m="http://schemas.openxmlformats.org/officeDocument/2006/math">
                    <m:r>
                      <a:rPr lang="en-US" altLang="zh-CN" b="0" i="1" smtClean="0">
                        <a:latin typeface="Cambria Math" panose="02040503050406030204" pitchFamily="18" charset="0"/>
                      </a:rPr>
                      <m:t>𝑖𝑚𝑝</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𝑐h𝑖𝑙𝑑</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oMath>
                </a14:m>
                <a:r>
                  <a:rPr lang="zh-CN" altLang="en-US" dirty="0">
                    <a:latin typeface="+mj-lt"/>
                  </a:rPr>
                  <a:t>。</a:t>
                </a:r>
                <a:endParaRPr lang="en-US" altLang="zh-CN" dirty="0">
                  <a:latin typeface="+mj-lt"/>
                </a:endParaRPr>
              </a:p>
              <a:p>
                <a14:m>
                  <m:oMath xmlns:m="http://schemas.openxmlformats.org/officeDocument/2006/math">
                    <m:r>
                      <a:rPr lang="en-US" altLang="zh-CN" b="0" i="1" smtClean="0">
                        <a:latin typeface="Cambria Math" panose="02040503050406030204" pitchFamily="18" charset="0"/>
                      </a:rPr>
                      <m:t>𝑖𝑚𝑝</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oMath>
                </a14:m>
                <a:r>
                  <a:rPr lang="zh-CN" altLang="en-US" dirty="0">
                    <a:latin typeface="+mj-lt"/>
                  </a:rPr>
                  <a:t>表示有多少</a:t>
                </a:r>
                <a14:m>
                  <m:oMath xmlns:m="http://schemas.openxmlformats.org/officeDocument/2006/math">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𝑙</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𝑟</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𝑠</m:t>
                    </m:r>
                    <m:d>
                      <m:dPr>
                        <m:begChr m:val="["/>
                        <m:endChr m:val="]"/>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𝑙</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𝑟</m:t>
                            </m:r>
                          </m:e>
                          <m:sup>
                            <m:r>
                              <a:rPr lang="en-US" altLang="zh-CN" b="0" i="1" smtClean="0">
                                <a:latin typeface="Cambria Math" panose="02040503050406030204" pitchFamily="18" charset="0"/>
                              </a:rPr>
                              <m:t>′</m:t>
                            </m:r>
                          </m:sup>
                        </m:sSup>
                      </m:e>
                    </m:d>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0" smtClean="0">
                        <a:latin typeface="Cambria Math" panose="02040503050406030204" pitchFamily="18" charset="0"/>
                      </a:rPr>
                      <m:t>,</m:t>
                    </m:r>
                    <m:r>
                      <a:rPr lang="en-US" altLang="zh-CN" b="0" i="1" smtClean="0">
                        <a:latin typeface="Cambria Math" panose="02040503050406030204" pitchFamily="18" charset="0"/>
                      </a:rPr>
                      <m:t> </m:t>
                    </m:r>
                    <m:r>
                      <a:rPr lang="zh-CN" altLang="en-US" i="1">
                        <a:latin typeface="Cambria Math" panose="02040503050406030204" pitchFamily="18" charset="0"/>
                      </a:rPr>
                      <m:t>且</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𝑙</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oMath>
                </a14:m>
                <a:r>
                  <a:rPr lang="zh-CN" altLang="en-US" dirty="0">
                    <a:latin typeface="+mj-lt"/>
                  </a:rPr>
                  <a:t>是重要的，</a:t>
                </a:r>
                <a14:m>
                  <m:oMath xmlns:m="http://schemas.openxmlformats.org/officeDocument/2006/math">
                    <m:r>
                      <a:rPr lang="en-US" altLang="zh-CN" b="0" i="1" smtClean="0">
                        <a:latin typeface="Cambria Math" panose="02040503050406030204" pitchFamily="18" charset="0"/>
                      </a:rPr>
                      <m:t>𝑐h𝑖𝑙𝑑</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oMath>
                </a14:m>
                <a:r>
                  <a:rPr lang="zh-CN" altLang="en-US" dirty="0">
                    <a:latin typeface="+mj-lt"/>
                  </a:rPr>
                  <a:t>表示在</a:t>
                </a:r>
                <a14:m>
                  <m:oMath xmlns:m="http://schemas.openxmlformats.org/officeDocument/2006/math">
                    <m:r>
                      <a:rPr lang="en-US" altLang="zh-CN" b="0" i="1" smtClean="0">
                        <a:latin typeface="Cambria Math" panose="02040503050406030204" pitchFamily="18" charset="0"/>
                      </a:rPr>
                      <m:t>𝑓𝑎𝑖𝑙</m:t>
                    </m:r>
                  </m:oMath>
                </a14:m>
                <a:r>
                  <a:rPr lang="zh-CN" altLang="en-US" dirty="0">
                    <a:latin typeface="+mj-lt"/>
                  </a:rPr>
                  <a:t>树上</a:t>
                </a:r>
                <a14:m>
                  <m:oMath xmlns:m="http://schemas.openxmlformats.org/officeDocument/2006/math">
                    <m:r>
                      <a:rPr lang="en-US" altLang="zh-CN" b="0" i="1" smtClean="0">
                        <a:latin typeface="Cambria Math" panose="02040503050406030204" pitchFamily="18" charset="0"/>
                      </a:rPr>
                      <m:t>𝑡</m:t>
                    </m:r>
                  </m:oMath>
                </a14:m>
                <a:r>
                  <a:rPr lang="zh-CN" altLang="en-US" dirty="0">
                    <a:latin typeface="+mj-lt"/>
                  </a:rPr>
                  <a:t>的儿子数。</a:t>
                </a:r>
                <a:endParaRPr lang="en-US" altLang="zh-CN" dirty="0">
                  <a:latin typeface="+mj-lt"/>
                </a:endParaRPr>
              </a:p>
              <a:p>
                <a:r>
                  <a:rPr lang="zh-CN" altLang="en-US" dirty="0">
                    <a:latin typeface="+mj-lt"/>
                  </a:rPr>
                  <a:t>当改变一个串的重要情况时，同时改变对应点的</a:t>
                </a:r>
                <a14:m>
                  <m:oMath xmlns:m="http://schemas.openxmlformats.org/officeDocument/2006/math">
                    <m:r>
                      <a:rPr lang="en-US" altLang="zh-CN" b="0" i="1" smtClean="0">
                        <a:latin typeface="Cambria Math" panose="02040503050406030204" pitchFamily="18" charset="0"/>
                      </a:rPr>
                      <m:t>𝑖𝑚𝑝</m:t>
                    </m:r>
                  </m:oMath>
                </a14:m>
                <a:r>
                  <a:rPr lang="zh-CN" altLang="en-US" dirty="0">
                    <a:latin typeface="+mj-lt"/>
                  </a:rPr>
                  <a:t>值。假如一个点的</a:t>
                </a:r>
                <a14:m>
                  <m:oMath xmlns:m="http://schemas.openxmlformats.org/officeDocument/2006/math">
                    <m:r>
                      <a:rPr lang="en-US" altLang="zh-CN" b="0" i="1" smtClean="0">
                        <a:latin typeface="Cambria Math" panose="02040503050406030204" pitchFamily="18" charset="0"/>
                      </a:rPr>
                      <m:t>𝑖𝑚𝑝</m:t>
                    </m:r>
                  </m:oMath>
                </a14:m>
                <a:r>
                  <a:rPr lang="zh-CN" altLang="en-US" dirty="0">
                    <a:latin typeface="+mj-lt"/>
                  </a:rPr>
                  <a:t>与</a:t>
                </a:r>
                <a14:m>
                  <m:oMath xmlns:m="http://schemas.openxmlformats.org/officeDocument/2006/math">
                    <m:r>
                      <a:rPr lang="en-US" altLang="zh-CN" b="0" i="1" smtClean="0">
                        <a:latin typeface="Cambria Math" panose="02040503050406030204" pitchFamily="18" charset="0"/>
                      </a:rPr>
                      <m:t>𝑐h𝑖𝑙𝑑</m:t>
                    </m:r>
                  </m:oMath>
                </a14:m>
                <a:r>
                  <a:rPr lang="zh-CN" altLang="en-US" dirty="0">
                    <a:latin typeface="+mj-lt"/>
                  </a:rPr>
                  <a:t>都是</a:t>
                </a:r>
                <a14:m>
                  <m:oMath xmlns:m="http://schemas.openxmlformats.org/officeDocument/2006/math">
                    <m:r>
                      <a:rPr lang="en-US" altLang="zh-CN" b="0" i="1" dirty="0" smtClean="0">
                        <a:latin typeface="Cambria Math" panose="02040503050406030204" pitchFamily="18" charset="0"/>
                      </a:rPr>
                      <m:t>0</m:t>
                    </m:r>
                  </m:oMath>
                </a14:m>
                <a:r>
                  <a:rPr lang="zh-CN" altLang="en-US" dirty="0">
                    <a:latin typeface="+mj-lt"/>
                  </a:rPr>
                  <a:t>了，这个点就不可能在</a:t>
                </a:r>
                <a14:m>
                  <m:oMath xmlns:m="http://schemas.openxmlformats.org/officeDocument/2006/math">
                    <m:r>
                      <a:rPr lang="en-US" altLang="zh-CN" b="0" i="1" smtClean="0">
                        <a:latin typeface="Cambria Math" panose="02040503050406030204" pitchFamily="18" charset="0"/>
                      </a:rPr>
                      <m:t>𝑠</m:t>
                    </m:r>
                  </m:oMath>
                </a14:m>
                <a:r>
                  <a:rPr lang="zh-CN" altLang="en-US" dirty="0">
                    <a:latin typeface="+mj-lt"/>
                  </a:rPr>
                  <a:t>中出现，直接把他删掉，在删掉一个点时其</a:t>
                </a:r>
                <a14:m>
                  <m:oMath xmlns:m="http://schemas.openxmlformats.org/officeDocument/2006/math">
                    <m:r>
                      <a:rPr lang="en-US" altLang="zh-CN" b="0" i="1" smtClean="0">
                        <a:latin typeface="Cambria Math" panose="02040503050406030204" pitchFamily="18" charset="0"/>
                      </a:rPr>
                      <m:t>𝑓𝑎𝑖𝑙</m:t>
                    </m:r>
                  </m:oMath>
                </a14:m>
                <a:r>
                  <a:rPr lang="zh-CN" altLang="en-US" dirty="0">
                    <a:latin typeface="+mj-lt"/>
                  </a:rPr>
                  <a:t>的</a:t>
                </a:r>
                <a14:m>
                  <m:oMath xmlns:m="http://schemas.openxmlformats.org/officeDocument/2006/math">
                    <m:r>
                      <a:rPr lang="en-US" altLang="zh-CN" b="0" i="1" smtClean="0">
                        <a:latin typeface="Cambria Math" panose="02040503050406030204" pitchFamily="18" charset="0"/>
                      </a:rPr>
                      <m:t>𝑐h𝑖𝑙𝑑</m:t>
                    </m:r>
                  </m:oMath>
                </a14:m>
                <a:r>
                  <a:rPr lang="zh-CN" altLang="en-US" dirty="0">
                    <a:latin typeface="+mj-lt"/>
                  </a:rPr>
                  <a:t>也减</a:t>
                </a:r>
                <a14:m>
                  <m:oMath xmlns:m="http://schemas.openxmlformats.org/officeDocument/2006/math">
                    <m:r>
                      <a:rPr lang="en-US" altLang="zh-CN" b="0" i="1" smtClean="0">
                        <a:latin typeface="Cambria Math" panose="02040503050406030204" pitchFamily="18" charset="0"/>
                      </a:rPr>
                      <m:t>1</m:t>
                    </m:r>
                  </m:oMath>
                </a14:m>
                <a:r>
                  <a:rPr lang="zh-CN" altLang="en-US" dirty="0">
                    <a:latin typeface="+mj-lt"/>
                  </a:rPr>
                  <a:t>。</a:t>
                </a:r>
                <a:endParaRPr lang="en-US" dirty="0">
                  <a:latin typeface="+mj-lt"/>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522414" y="1905000"/>
                <a:ext cx="9144000" cy="4419600"/>
              </a:xfrm>
              <a:blipFill>
                <a:blip r:embed="rId2"/>
                <a:stretch>
                  <a:fillRect l="-933" t="-1931"/>
                </a:stretch>
              </a:blipFill>
            </p:spPr>
            <p:txBody>
              <a:bodyPr/>
              <a:lstStyle/>
              <a:p>
                <a:r>
                  <a:rPr lang="en-US">
                    <a:noFill/>
                  </a:rPr>
                  <a:t> </a:t>
                </a:r>
              </a:p>
            </p:txBody>
          </p:sp>
        </mc:Fallback>
      </mc:AlternateContent>
    </p:spTree>
    <p:extLst>
      <p:ext uri="{BB962C8B-B14F-4D97-AF65-F5344CB8AC3E}">
        <p14:creationId xmlns:p14="http://schemas.microsoft.com/office/powerpoint/2010/main" val="210757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前端操作</a:t>
            </a:r>
            <a:endParaRPr lang="en-US" dirty="0"/>
          </a:p>
        </p:txBody>
      </p:sp>
      <p:sp>
        <p:nvSpPr>
          <p:cNvPr id="3" name="内容占位符 2"/>
          <p:cNvSpPr>
            <a:spLocks noGrp="1"/>
          </p:cNvSpPr>
          <p:nvPr>
            <p:ph idx="1"/>
          </p:nvPr>
        </p:nvSpPr>
        <p:spPr/>
        <p:txBody>
          <a:bodyPr/>
          <a:lstStyle/>
          <a:p>
            <a:r>
              <a:rPr lang="zh-CN" altLang="en-US" dirty="0"/>
              <a:t>在前端插入新的字符</a:t>
            </a:r>
            <a:endParaRPr lang="en-US" altLang="zh-CN" dirty="0"/>
          </a:p>
          <a:p>
            <a:r>
              <a:rPr lang="zh-CN" altLang="en-US" dirty="0"/>
              <a:t>与在末端插入类似的，只需要找到新的最长回文前缀，并对其最长回文后缀的重要情况与做出修改即可。</a:t>
            </a:r>
            <a:endParaRPr lang="en-US" altLang="zh-CN" dirty="0"/>
          </a:p>
          <a:p>
            <a:r>
              <a:rPr lang="zh-CN" altLang="en-US" dirty="0"/>
              <a:t>在前端删除字符同样与末端删除类似</a:t>
            </a:r>
            <a:br>
              <a:rPr lang="zh-CN" altLang="en-US" dirty="0"/>
            </a:br>
            <a:endParaRPr lang="en-US" dirty="0"/>
          </a:p>
        </p:txBody>
      </p:sp>
    </p:spTree>
    <p:extLst>
      <p:ext uri="{BB962C8B-B14F-4D97-AF65-F5344CB8AC3E}">
        <p14:creationId xmlns:p14="http://schemas.microsoft.com/office/powerpoint/2010/main" val="2875556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Trie</a:t>
            </a:r>
            <a:r>
              <a:rPr lang="zh-CN" altLang="en-US" dirty="0"/>
              <a:t>上建回文树</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首先对于一棵节点数</a:t>
                </a:r>
                <a14:m>
                  <m:oMath xmlns:m="http://schemas.openxmlformats.org/officeDocument/2006/math">
                    <m:r>
                      <a:rPr lang="zh-CN" altLang="en-US" b="0" i="1" dirty="0">
                        <a:latin typeface="Cambria Math" panose="02040503050406030204" pitchFamily="18" charset="0"/>
                      </a:rPr>
                      <m:t>为</m:t>
                    </m:r>
                    <m:r>
                      <a:rPr lang="en-US" altLang="zh-CN" b="0" i="1" smtClean="0">
                        <a:latin typeface="Cambria Math" panose="02040503050406030204" pitchFamily="18" charset="0"/>
                      </a:rPr>
                      <m:t>𝑛</m:t>
                    </m:r>
                  </m:oMath>
                </a14:m>
                <a:r>
                  <a:rPr lang="zh-CN" altLang="en-US" dirty="0"/>
                  <a:t>的</a:t>
                </a:r>
                <a:r>
                  <a:rPr lang="en-US" altLang="zh-CN" dirty="0"/>
                  <a:t>Trie</a:t>
                </a:r>
                <a:r>
                  <a:rPr lang="zh-CN" altLang="en-US" dirty="0"/>
                  <a:t>，其不同的回文串数至多为</a:t>
                </a:r>
                <a14:m>
                  <m:oMath xmlns:m="http://schemas.openxmlformats.org/officeDocument/2006/math">
                    <m:r>
                      <a:rPr lang="en-US" altLang="zh-CN" i="1" smtClean="0">
                        <a:latin typeface="Cambria Math" panose="02040503050406030204" pitchFamily="18" charset="0"/>
                      </a:rPr>
                      <m:t>	</m:t>
                    </m:r>
                    <m:r>
                      <a:rPr lang="en-US" altLang="zh-CN" b="0" i="1" smtClean="0">
                        <a:latin typeface="Cambria Math" panose="02040503050406030204" pitchFamily="18" charset="0"/>
                      </a:rPr>
                      <m:t>𝑛</m:t>
                    </m:r>
                    <m:r>
                      <a:rPr lang="zh-CN" altLang="en-US" i="1">
                        <a:latin typeface="Cambria Math" panose="02040503050406030204" pitchFamily="18" charset="0"/>
                      </a:rPr>
                      <m:t>。</m:t>
                    </m:r>
                  </m:oMath>
                </a14:m>
                <a:endParaRPr lang="en-US" dirty="0"/>
              </a:p>
              <a:p>
                <a:r>
                  <a:rPr lang="zh-CN" altLang="en-US" dirty="0"/>
                  <a:t>对</a:t>
                </a:r>
                <a:r>
                  <a:rPr lang="en-US" altLang="zh-CN" dirty="0"/>
                  <a:t>Trie</a:t>
                </a:r>
                <a:r>
                  <a:rPr lang="zh-CN" altLang="en-US" dirty="0"/>
                  <a:t>上每个节点对应的字符串，记录其最长回文后缀。每次拓展到儿子时，直接套用不基于势能分析的插入算法即可。</a:t>
                </a:r>
                <a:endParaRPr lang="en-US" altLang="zh-CN" dirty="0"/>
              </a:p>
              <a:p>
                <a:r>
                  <a:rPr lang="zh-CN" altLang="en-US" dirty="0"/>
                  <a:t>注意如果使用基础插入算法，复杂度最坏为</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𝑛</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r>
                      <a:rPr lang="zh-CN" altLang="en-US" i="1">
                        <a:latin typeface="Cambria Math" panose="02040503050406030204" pitchFamily="18" charset="0"/>
                      </a:rPr>
                      <m:t>。</m:t>
                    </m:r>
                  </m:oMath>
                </a14:m>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000"/>
                </a:stretch>
              </a:blipFill>
            </p:spPr>
            <p:txBody>
              <a:bodyPr/>
              <a:lstStyle/>
              <a:p>
                <a:r>
                  <a:rPr lang="en-US">
                    <a:noFill/>
                  </a:rPr>
                  <a:t> </a:t>
                </a:r>
              </a:p>
            </p:txBody>
          </p:sp>
        </mc:Fallback>
      </mc:AlternateContent>
    </p:spTree>
    <p:extLst>
      <p:ext uri="{BB962C8B-B14F-4D97-AF65-F5344CB8AC3E}">
        <p14:creationId xmlns:p14="http://schemas.microsoft.com/office/powerpoint/2010/main" val="1161286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Codechef TREEPAL</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给定一棵以</a:t>
                </a:r>
                <a14:m>
                  <m:oMath xmlns:m="http://schemas.openxmlformats.org/officeDocument/2006/math">
                    <m:r>
                      <a:rPr lang="en-US" altLang="zh-CN" b="0" i="1" smtClean="0">
                        <a:latin typeface="Cambria Math" panose="02040503050406030204" pitchFamily="18" charset="0"/>
                      </a:rPr>
                      <m:t>1</m:t>
                    </m:r>
                  </m:oMath>
                </a14:m>
                <a:r>
                  <a:rPr lang="zh-CN" altLang="en-US" dirty="0"/>
                  <a:t>为根的</a:t>
                </a:r>
                <a14:m>
                  <m:oMath xmlns:m="http://schemas.openxmlformats.org/officeDocument/2006/math">
                    <m:r>
                      <a:rPr lang="en-US" altLang="zh-CN" b="0" i="1" smtClean="0">
                        <a:latin typeface="Cambria Math" panose="02040503050406030204" pitchFamily="18" charset="0"/>
                      </a:rPr>
                      <m:t>𝑛</m:t>
                    </m:r>
                  </m:oMath>
                </a14:m>
                <a:r>
                  <a:rPr lang="zh-CN" altLang="en-US" dirty="0"/>
                  <a:t>个点的树，树上每个点都有一个小写字母。对于树上每个点，求出从根到这个点形成的字符串的最长回文子串长度，输出所有点的答案的和。</a:t>
                </a:r>
                <a:endParaRPr lang="en-US" altLang="zh-CN" dirty="0"/>
              </a:p>
              <a:p>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endParaRPr lang="en-US" altLang="zh-CN" dirty="0"/>
              </a:p>
              <a:p>
                <a:r>
                  <a:rPr lang="zh-CN" altLang="en-US" dirty="0"/>
                  <a:t>又一道裸题，直接在</a:t>
                </a:r>
                <a:r>
                  <a:rPr lang="en-US" altLang="zh-CN" dirty="0"/>
                  <a:t>Trie</a:t>
                </a:r>
                <a:r>
                  <a:rPr lang="zh-CN" altLang="en-US" dirty="0"/>
                  <a:t>上建回文树即可。</a:t>
                </a:r>
                <a:br>
                  <a:rPr lang="zh-CN" altLang="en-US" dirty="0"/>
                </a:br>
                <a:endParaRPr 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571" r="-69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23767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可持久化</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522414" y="1905000"/>
                <a:ext cx="9144000" cy="4572000"/>
              </a:xfrm>
            </p:spPr>
            <p:txBody>
              <a:bodyPr>
                <a:normAutofit/>
              </a:bodyPr>
              <a:lstStyle/>
              <a:p>
                <a:r>
                  <a:rPr lang="zh-CN" altLang="en-US" dirty="0"/>
                  <a:t>首先显然只能使用不基于势能分析的插入算法。</a:t>
                </a:r>
                <a:endParaRPr lang="en-US" altLang="zh-CN" dirty="0"/>
              </a:p>
              <a:p>
                <a:r>
                  <a:rPr lang="zh-CN" altLang="en-US" dirty="0"/>
                  <a:t>对于一个版本的回文树，用一棵可持久化线段树存储节点信息，每个叶子节点存一个回文树中节点的信息。</a:t>
                </a:r>
                <a:endParaRPr lang="en-US" altLang="zh-CN" dirty="0"/>
              </a:p>
              <a:p>
                <a:r>
                  <a:rPr lang="zh-CN" altLang="en-US" dirty="0"/>
                  <a:t>而一个节点的信息则包括其长度，</a:t>
                </a:r>
                <a14:m>
                  <m:oMath xmlns:m="http://schemas.openxmlformats.org/officeDocument/2006/math">
                    <m:r>
                      <a:rPr lang="en-US" altLang="zh-CN" b="0" i="1" smtClean="0">
                        <a:latin typeface="Cambria Math" panose="02040503050406030204" pitchFamily="18" charset="0"/>
                      </a:rPr>
                      <m:t>𝑓𝑎𝑖𝑙</m:t>
                    </m:r>
                  </m:oMath>
                </a14:m>
                <a:r>
                  <a:rPr lang="zh-CN" altLang="en-US" dirty="0"/>
                  <a:t>指针对应的节点，以及</a:t>
                </a:r>
                <a14:m>
                  <m:oMath xmlns:m="http://schemas.openxmlformats.org/officeDocument/2006/math">
                    <m:r>
                      <a:rPr lang="en-US" altLang="zh-CN" b="0" i="1" smtClean="0">
                        <a:latin typeface="Cambria Math" panose="02040503050406030204" pitchFamily="18" charset="0"/>
                      </a:rPr>
                      <m:t>𝑐h</m:t>
                    </m:r>
                    <m:r>
                      <a:rPr lang="en-US" altLang="zh-CN" b="0" i="1" smtClean="0">
                        <a:latin typeface="Cambria Math" panose="02040503050406030204" pitchFamily="18" charset="0"/>
                      </a:rPr>
                      <m:t>[]</m:t>
                    </m:r>
                  </m:oMath>
                </a14:m>
                <a:r>
                  <a:rPr lang="zh-CN" altLang="en-US" dirty="0"/>
                  <a:t>和</a:t>
                </a:r>
                <a14:m>
                  <m:oMath xmlns:m="http://schemas.openxmlformats.org/officeDocument/2006/math">
                    <m:r>
                      <a:rPr lang="en-US" altLang="zh-CN" b="0" i="1" smtClean="0">
                        <a:latin typeface="Cambria Math" panose="02040503050406030204" pitchFamily="18" charset="0"/>
                      </a:rPr>
                      <m:t>𝑔𝑜</m:t>
                    </m:r>
                    <m:r>
                      <a:rPr lang="en-US" altLang="zh-CN" b="0" i="1" smtClean="0">
                        <a:latin typeface="Cambria Math" panose="02040503050406030204" pitchFamily="18" charset="0"/>
                      </a:rPr>
                      <m:t>[]</m:t>
                    </m:r>
                    <m:r>
                      <a:rPr lang="zh-CN" altLang="en-US" i="1">
                        <a:latin typeface="Cambria Math" panose="02040503050406030204" pitchFamily="18" charset="0"/>
                      </a:rPr>
                      <m:t>，</m:t>
                    </m:r>
                  </m:oMath>
                </a14:m>
                <a:r>
                  <a:rPr lang="zh-CN" altLang="en-US" dirty="0"/>
                  <a:t>字符集较大时，后两个数组都可以用可持久化线段树来维护。单次时间复杂度为</a:t>
                </a:r>
                <a14:m>
                  <m:oMath xmlns:m="http://schemas.openxmlformats.org/officeDocument/2006/math">
                    <m:r>
                      <a:rPr lang="en-US" altLang="zh-CN" b="0" i="1" smtClean="0">
                        <a:latin typeface="Cambria Math" panose="02040503050406030204" pitchFamily="18" charset="0"/>
                      </a:rPr>
                      <m:t>𝑂</m:t>
                    </m:r>
                    <m:d>
                      <m:dPr>
                        <m:ctrlPr>
                          <a:rPr lang="en-US" altLang="zh-CN" b="0" i="1" smtClean="0">
                            <a:latin typeface="Cambria Math" panose="02040503050406030204" pitchFamily="18" charset="0"/>
                          </a:rPr>
                        </m:ctrlPr>
                      </m:dPr>
                      <m:e>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e>
                        </m:func>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Σ</m:t>
                        </m:r>
                      </m:e>
                    </m:d>
                  </m:oMath>
                </a14:m>
                <a:r>
                  <a:rPr lang="zh-CN" altLang="en-US" dirty="0"/>
                  <a:t>或</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log</m:t>
                        </m:r>
                      </m:fNa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e>
                    </m:func>
                    <m:r>
                      <a:rPr lang="en-US" altLang="zh-CN" b="0" i="1" smtClean="0">
                        <a:latin typeface="Cambria Math" panose="02040503050406030204" pitchFamily="18" charset="0"/>
                      </a:rPr>
                      <m:t>+</m:t>
                    </m:r>
                    <m:r>
                      <a:rPr lang="en-US" altLang="zh-CN" b="0" i="1" smtClean="0">
                        <a:latin typeface="Cambria Math" panose="02040503050406030204" pitchFamily="18" charset="0"/>
                      </a:rPr>
                      <m:t>𝑙𝑜𝑔</m:t>
                    </m:r>
                    <m:r>
                      <m:rPr>
                        <m:sty m:val="p"/>
                      </m:rPr>
                      <a:rPr lang="en-US" altLang="zh-CN" b="0" i="0" smtClean="0">
                        <a:latin typeface="Cambria Math" panose="02040503050406030204" pitchFamily="18" charset="0"/>
                      </a:rPr>
                      <m:t>Σ</m:t>
                    </m:r>
                    <m:r>
                      <a:rPr lang="en-US" altLang="zh-CN" b="0" i="1" smtClean="0">
                        <a:latin typeface="Cambria Math" panose="02040503050406030204" pitchFamily="18" charset="0"/>
                      </a:rPr>
                      <m:t>)</m:t>
                    </m:r>
                  </m:oMath>
                </a14:m>
                <a:r>
                  <a:rPr lang="zh-CN" altLang="en-US" dirty="0"/>
                  <a:t>。</a:t>
                </a:r>
                <a:endParaRPr lang="en-US" altLang="zh-CN" dirty="0"/>
              </a:p>
              <a:p>
                <a:r>
                  <a:rPr lang="zh-CN" altLang="en-US" dirty="0"/>
                  <a:t>如果同时需要支持前后插入删除呢？</a:t>
                </a:r>
                <a14:m>
                  <m:oMath xmlns:m="http://schemas.openxmlformats.org/officeDocument/2006/math">
                    <m:r>
                      <a:rPr lang="en-US" altLang="zh-CN" b="0" i="1" smtClean="0">
                        <a:latin typeface="Cambria Math" panose="02040503050406030204" pitchFamily="18" charset="0"/>
                      </a:rPr>
                      <m:t>𝑐𝑛𝑡</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𝑙</m:t>
                        </m:r>
                      </m:e>
                    </m:d>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𝑟</m:t>
                        </m:r>
                      </m:e>
                    </m:d>
                    <m:r>
                      <a:rPr lang="zh-CN" altLang="en-US" i="1">
                        <a:latin typeface="Cambria Math" panose="02040503050406030204" pitchFamily="18" charset="0"/>
                      </a:rPr>
                      <m:t>可用</m:t>
                    </m:r>
                  </m:oMath>
                </a14:m>
                <a:r>
                  <a:rPr lang="zh-CN" altLang="en-US" dirty="0"/>
                  <a:t>可持久化</a:t>
                </a:r>
                <a14:m>
                  <m:oMath xmlns:m="http://schemas.openxmlformats.org/officeDocument/2006/math">
                    <m:r>
                      <a:rPr lang="en-US" altLang="zh-CN" b="0" i="1" smtClean="0">
                        <a:latin typeface="Cambria Math" panose="02040503050406030204" pitchFamily="18" charset="0"/>
                      </a:rPr>
                      <m:t>𝑡𝑟𝑒𝑎𝑝</m:t>
                    </m:r>
                    <m:r>
                      <a:rPr lang="zh-CN" altLang="en-US" i="1">
                        <a:latin typeface="Cambria Math" panose="02040503050406030204" pitchFamily="18" charset="0"/>
                      </a:rPr>
                      <m:t>维护</m:t>
                    </m:r>
                  </m:oMath>
                </a14:m>
                <a:r>
                  <a:rPr lang="zh-CN" altLang="en-US" dirty="0"/>
                  <a:t>，每个节点还需记录</a:t>
                </a:r>
                <a14:m>
                  <m:oMath xmlns:m="http://schemas.openxmlformats.org/officeDocument/2006/math">
                    <m:r>
                      <a:rPr lang="en-US" altLang="zh-CN" b="0" i="1" smtClean="0">
                        <a:latin typeface="Cambria Math" panose="02040503050406030204" pitchFamily="18" charset="0"/>
                      </a:rPr>
                      <m:t>𝑖𝑚𝑝</m:t>
                    </m:r>
                  </m:oMath>
                </a14:m>
                <a:r>
                  <a:rPr lang="zh-CN" altLang="en-US" dirty="0"/>
                  <a:t>和</a:t>
                </a:r>
                <a14:m>
                  <m:oMath xmlns:m="http://schemas.openxmlformats.org/officeDocument/2006/math">
                    <m:r>
                      <a:rPr lang="en-US" altLang="zh-CN" b="0" i="1" smtClean="0">
                        <a:latin typeface="Cambria Math" panose="02040503050406030204" pitchFamily="18" charset="0"/>
                      </a:rPr>
                      <m:t>𝑐h𝑖𝑙𝑑</m:t>
                    </m:r>
                  </m:oMath>
                </a14:m>
                <a:r>
                  <a:rPr lang="zh-CN" altLang="en-US" dirty="0"/>
                  <a:t>。</a:t>
                </a:r>
                <a:endParaRPr lang="en-US" altLang="zh-CN" dirty="0"/>
              </a:p>
              <a:p>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522414" y="1905000"/>
                <a:ext cx="9144000" cy="4572000"/>
              </a:xfrm>
              <a:blipFill>
                <a:blip r:embed="rId2"/>
                <a:stretch>
                  <a:fillRect l="-933" t="-1867"/>
                </a:stretch>
              </a:blipFill>
            </p:spPr>
            <p:txBody>
              <a:bodyPr/>
              <a:lstStyle/>
              <a:p>
                <a:r>
                  <a:rPr lang="en-US">
                    <a:noFill/>
                  </a:rPr>
                  <a:t> </a:t>
                </a:r>
              </a:p>
            </p:txBody>
          </p:sp>
        </mc:Fallback>
      </mc:AlternateContent>
      <p:pic>
        <p:nvPicPr>
          <p:cNvPr id="4" name="图片 3"/>
          <p:cNvPicPr>
            <a:picLocks noChangeAspect="1"/>
          </p:cNvPicPr>
          <p:nvPr/>
        </p:nvPicPr>
        <p:blipFill>
          <a:blip r:embed="rId3"/>
          <a:stretch>
            <a:fillRect/>
          </a:stretch>
        </p:blipFill>
        <p:spPr>
          <a:xfrm>
            <a:off x="1522414" y="5486400"/>
            <a:ext cx="9524998" cy="381000"/>
          </a:xfrm>
          <a:prstGeom prst="rect">
            <a:avLst/>
          </a:prstGeom>
        </p:spPr>
      </p:pic>
    </p:spTree>
    <p:extLst>
      <p:ext uri="{BB962C8B-B14F-4D97-AF65-F5344CB8AC3E}">
        <p14:creationId xmlns:p14="http://schemas.microsoft.com/office/powerpoint/2010/main" val="1543287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回文树的应用</a:t>
            </a:r>
            <a:endParaRPr lang="en-US" dirty="0"/>
          </a:p>
        </p:txBody>
      </p:sp>
      <p:sp>
        <p:nvSpPr>
          <p:cNvPr id="3" name="内容占位符 2"/>
          <p:cNvSpPr>
            <a:spLocks noGrp="1"/>
          </p:cNvSpPr>
          <p:nvPr>
            <p:ph idx="1"/>
          </p:nvPr>
        </p:nvSpPr>
        <p:spPr/>
        <p:txBody>
          <a:bodyPr/>
          <a:lstStyle/>
          <a:p>
            <a:r>
              <a:rPr lang="zh-CN" altLang="en-US" dirty="0"/>
              <a:t>其实就是一些例题</a:t>
            </a:r>
            <a:endParaRPr lang="en-US" dirty="0"/>
          </a:p>
        </p:txBody>
      </p:sp>
    </p:spTree>
    <p:extLst>
      <p:ext uri="{BB962C8B-B14F-4D97-AF65-F5344CB8AC3E}">
        <p14:creationId xmlns:p14="http://schemas.microsoft.com/office/powerpoint/2010/main" val="1533858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GDKOI 2013 Country</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给定一个长度为</a:t>
                </a:r>
                <a14:m>
                  <m:oMath xmlns:m="http://schemas.openxmlformats.org/officeDocument/2006/math">
                    <m:r>
                      <a:rPr lang="en-US" altLang="zh-CN" b="0" i="1" smtClean="0">
                        <a:latin typeface="Cambria Math" panose="02040503050406030204" pitchFamily="18" charset="0"/>
                      </a:rPr>
                      <m:t>𝑛</m:t>
                    </m:r>
                  </m:oMath>
                </a14:m>
                <a:r>
                  <a:rPr lang="zh-CN" altLang="en-US" dirty="0"/>
                  <a:t>的字符串</a:t>
                </a:r>
                <a14:m>
                  <m:oMath xmlns:m="http://schemas.openxmlformats.org/officeDocument/2006/math">
                    <m:r>
                      <a:rPr lang="en-US" altLang="zh-CN" b="0" i="1" smtClean="0">
                        <a:latin typeface="Cambria Math" panose="02040503050406030204" pitchFamily="18" charset="0"/>
                      </a:rPr>
                      <m:t>𝑠</m:t>
                    </m:r>
                  </m:oMath>
                </a14:m>
                <a:r>
                  <a:rPr lang="zh-CN" altLang="en-US" dirty="0"/>
                  <a:t>，现在要从</a:t>
                </a:r>
                <a14:m>
                  <m:oMath xmlns:m="http://schemas.openxmlformats.org/officeDocument/2006/math">
                    <m:r>
                      <a:rPr lang="en-US" altLang="zh-CN" b="0" i="1" smtClean="0">
                        <a:latin typeface="Cambria Math" panose="02040503050406030204" pitchFamily="18" charset="0"/>
                      </a:rPr>
                      <m:t>𝑠</m:t>
                    </m:r>
                  </m:oMath>
                </a14:m>
                <a:r>
                  <a:rPr lang="zh-CN" altLang="en-US" dirty="0"/>
                  <a:t>中选出尽量多的子串，满足选出的子串都是回文的，并且不存在一个串是另外一个串的子串的情况。</a:t>
                </a:r>
                <a:endParaRPr lang="en-US" altLang="zh-CN" dirty="0"/>
              </a:p>
              <a:p>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br>
                  <a:rPr lang="zh-CN" altLang="en-US" dirty="0"/>
                </a:br>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000"/>
                </a:stretch>
              </a:blipFill>
            </p:spPr>
            <p:txBody>
              <a:bodyPr/>
              <a:lstStyle/>
              <a:p>
                <a:r>
                  <a:rPr lang="en-US">
                    <a:noFill/>
                  </a:rPr>
                  <a:t> </a:t>
                </a:r>
              </a:p>
            </p:txBody>
          </p:sp>
        </mc:Fallback>
      </mc:AlternateContent>
    </p:spTree>
    <p:extLst>
      <p:ext uri="{BB962C8B-B14F-4D97-AF65-F5344CB8AC3E}">
        <p14:creationId xmlns:p14="http://schemas.microsoft.com/office/powerpoint/2010/main" val="4114143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GDKOI 2013 Country</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dirty="0"/>
                  <a:t>定理 </a:t>
                </a:r>
                <a:r>
                  <a:rPr lang="en-US" altLang="zh-CN" dirty="0"/>
                  <a:t>3.1 </a:t>
                </a:r>
                <a:r>
                  <a:rPr lang="zh-CN" altLang="en-US" dirty="0"/>
                  <a:t>若对于两个回文串</a:t>
                </a:r>
                <a14:m>
                  <m:oMath xmlns:m="http://schemas.openxmlformats.org/officeDocument/2006/math">
                    <m:r>
                      <a:rPr lang="en-US" altLang="zh-CN" b="0" i="1" smtClean="0">
                        <a:latin typeface="Cambria Math" panose="02040503050406030204" pitchFamily="18" charset="0"/>
                      </a:rPr>
                      <m:t>𝑎</m:t>
                    </m:r>
                  </m:oMath>
                </a14:m>
                <a:r>
                  <a:rPr lang="zh-CN" altLang="en-US" dirty="0"/>
                  <a:t>和</a:t>
                </a:r>
                <a14:m>
                  <m:oMath xmlns:m="http://schemas.openxmlformats.org/officeDocument/2006/math">
                    <m:r>
                      <a:rPr lang="en-US" altLang="zh-CN" b="0" i="1" smtClean="0">
                        <a:latin typeface="Cambria Math" panose="02040503050406030204" pitchFamily="18" charset="0"/>
                      </a:rPr>
                      <m:t>𝑏</m:t>
                    </m:r>
                  </m:oMath>
                </a14:m>
                <a:r>
                  <a:rPr lang="zh-CN" altLang="en-US" dirty="0"/>
                  <a:t>，有</a:t>
                </a:r>
                <a14:m>
                  <m:oMath xmlns:m="http://schemas.openxmlformats.org/officeDocument/2006/math">
                    <m:r>
                      <a:rPr lang="en-US" altLang="zh-CN" b="0" i="1" smtClean="0">
                        <a:latin typeface="Cambria Math" panose="02040503050406030204" pitchFamily="18" charset="0"/>
                      </a:rPr>
                      <m:t>𝑎</m:t>
                    </m:r>
                  </m:oMath>
                </a14:m>
                <a:r>
                  <a:rPr lang="zh-CN" altLang="en-US" dirty="0"/>
                  <a:t>是</a:t>
                </a:r>
                <a14:m>
                  <m:oMath xmlns:m="http://schemas.openxmlformats.org/officeDocument/2006/math">
                    <m:r>
                      <a:rPr lang="en-US" altLang="zh-CN" b="0" i="1" smtClean="0">
                        <a:latin typeface="Cambria Math" panose="02040503050406030204" pitchFamily="18" charset="0"/>
                      </a:rPr>
                      <m:t>𝑏</m:t>
                    </m:r>
                  </m:oMath>
                </a14:m>
                <a:r>
                  <a:rPr lang="zh-CN" altLang="en-US" dirty="0"/>
                  <a:t>的子串。那么，要么</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oMath>
                </a14:m>
                <a:r>
                  <a:rPr lang="en-US" altLang="zh-CN" i="1" dirty="0"/>
                  <a:t> </a:t>
                </a:r>
                <a:r>
                  <a:rPr lang="zh-CN" altLang="en-US" dirty="0"/>
                  <a:t>，要么</a:t>
                </a:r>
                <a14:m>
                  <m:oMath xmlns:m="http://schemas.openxmlformats.org/officeDocument/2006/math">
                    <m:r>
                      <a:rPr lang="en-US" altLang="zh-CN" b="0" i="1" smtClean="0">
                        <a:latin typeface="Cambria Math" panose="02040503050406030204" pitchFamily="18" charset="0"/>
                      </a:rPr>
                      <m:t>𝑎</m:t>
                    </m:r>
                  </m:oMath>
                </a14:m>
                <a:r>
                  <a:rPr lang="zh-CN" altLang="en-US" dirty="0"/>
                  <a:t>是</a:t>
                </a:r>
                <a14:m>
                  <m:oMath xmlns:m="http://schemas.openxmlformats.org/officeDocument/2006/math">
                    <m:r>
                      <a:rPr lang="en-US" altLang="zh-CN" b="0" i="1" smtClean="0">
                        <a:latin typeface="Cambria Math" panose="02040503050406030204" pitchFamily="18" charset="0"/>
                      </a:rPr>
                      <m:t>𝑏</m:t>
                    </m:r>
                  </m:oMath>
                </a14:m>
                <a:r>
                  <a:rPr lang="zh-CN" altLang="en-US" dirty="0"/>
                  <a:t>的最长回文后缀的子串，要么</a:t>
                </a:r>
                <a14:m>
                  <m:oMath xmlns:m="http://schemas.openxmlformats.org/officeDocument/2006/math">
                    <m:r>
                      <a:rPr lang="en-US" altLang="zh-CN" b="0" i="1" smtClean="0">
                        <a:latin typeface="Cambria Math" panose="02040503050406030204" pitchFamily="18" charset="0"/>
                      </a:rPr>
                      <m:t>𝑎</m:t>
                    </m:r>
                  </m:oMath>
                </a14:m>
                <a:r>
                  <a:rPr lang="zh-CN" altLang="en-US" dirty="0"/>
                  <a:t>是</a:t>
                </a:r>
                <a14:m>
                  <m:oMath xmlns:m="http://schemas.openxmlformats.org/officeDocument/2006/math">
                    <m:r>
                      <a:rPr lang="en-US" altLang="zh-CN" b="0" i="1" smtClean="0">
                        <a:latin typeface="Cambria Math" panose="02040503050406030204" pitchFamily="18" charset="0"/>
                      </a:rPr>
                      <m:t>𝑏</m:t>
                    </m:r>
                  </m:oMath>
                </a14:m>
                <a:r>
                  <a:rPr lang="zh-CN" altLang="en-US" dirty="0"/>
                  <a:t>缩去两侧字符后形成的回文串的子串。</a:t>
                </a:r>
                <a:endParaRPr lang="en-US" altLang="zh-CN" dirty="0"/>
              </a:p>
              <a:p>
                <a:r>
                  <a:rPr lang="zh-CN" altLang="en-US" dirty="0"/>
                  <a:t>因此，对于一个节点</a:t>
                </a:r>
                <a14:m>
                  <m:oMath xmlns:m="http://schemas.openxmlformats.org/officeDocument/2006/math">
                    <m:r>
                      <a:rPr lang="en-US" altLang="zh-CN" b="0" i="1" smtClean="0">
                        <a:latin typeface="Cambria Math" panose="02040503050406030204" pitchFamily="18" charset="0"/>
                      </a:rPr>
                      <m:t>𝑢</m:t>
                    </m:r>
                    <m:r>
                      <a:rPr lang="zh-CN" altLang="en-US" i="1">
                        <a:latin typeface="Cambria Math" panose="02040503050406030204" pitchFamily="18" charset="0"/>
                      </a:rPr>
                      <m:t>，</m:t>
                    </m:r>
                  </m:oMath>
                </a14:m>
                <a:r>
                  <a:rPr lang="zh-CN" altLang="en-US" dirty="0"/>
                  <a:t>我们只需要连边</a:t>
                </a:r>
                <a14:m>
                  <m:oMath xmlns:m="http://schemas.openxmlformats.org/officeDocument/2006/math">
                    <m:r>
                      <a:rPr lang="en-US" altLang="zh-CN" b="0" i="1" smtClean="0">
                        <a:latin typeface="Cambria Math" panose="02040503050406030204" pitchFamily="18" charset="0"/>
                      </a:rPr>
                      <m:t>𝑢</m:t>
                    </m:r>
                    <m:r>
                      <a:rPr lang="en-US" altLang="zh-CN" b="0" i="1" smtClean="0">
                        <a:latin typeface="Cambria Math" panose="02040503050406030204" pitchFamily="18" charset="0"/>
                      </a:rPr>
                      <m:t> →</m:t>
                    </m:r>
                    <m:r>
                      <a:rPr lang="en-US" altLang="zh-CN" b="0" i="1" smtClean="0">
                        <a:latin typeface="Cambria Math" panose="02040503050406030204" pitchFamily="18" charset="0"/>
                      </a:rPr>
                      <m:t>𝑓𝑎𝑖𝑙</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𝑢</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𝑢</m:t>
                    </m:r>
                    <m:r>
                      <a:rPr lang="en-US" altLang="zh-CN" b="0" i="1" smtClean="0">
                        <a:latin typeface="Cambria Math" panose="02040503050406030204" pitchFamily="18" charset="0"/>
                      </a:rPr>
                      <m:t> →</m:t>
                    </m:r>
                    <m:r>
                      <a:rPr lang="en-US" altLang="zh-CN" b="0" i="1" smtClean="0">
                        <a:latin typeface="Cambria Math" panose="02040503050406030204" pitchFamily="18" charset="0"/>
                      </a:rPr>
                      <m:t>𝑓𝑎</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m:t>
                    </m:r>
                  </m:oMath>
                </a14:m>
                <a:r>
                  <a:rPr lang="zh-CN" altLang="en-US" dirty="0"/>
                  <a:t>，这样就可以得到一个</a:t>
                </a:r>
                <a:r>
                  <a:rPr lang="en-US" altLang="zh-CN" dirty="0"/>
                  <a:t>DAG</a:t>
                </a:r>
                <a:r>
                  <a:rPr lang="zh-CN" altLang="en-US" dirty="0"/>
                  <a:t>。问题转化为在</a:t>
                </a:r>
                <a:r>
                  <a:rPr lang="en-US" altLang="zh-CN" dirty="0"/>
                  <a:t>DAG</a:t>
                </a:r>
                <a:r>
                  <a:rPr lang="zh-CN" altLang="en-US" dirty="0"/>
                  <a:t>上求一个最大的点集，其中的点两两不存在路径。</a:t>
                </a:r>
                <a:endParaRPr lang="en-US" altLang="zh-CN" dirty="0"/>
              </a:p>
              <a:p>
                <a:r>
                  <a:rPr lang="zh-CN" altLang="en-US" dirty="0"/>
                  <a:t>这实际上是经典的最长反链问题，由</a:t>
                </a:r>
                <a:r>
                  <a:rPr lang="en-US" altLang="zh-CN" dirty="0"/>
                  <a:t>Dilworth</a:t>
                </a:r>
                <a:r>
                  <a:rPr lang="zh-CN" altLang="en-US" dirty="0"/>
                  <a:t>定理，它等于这个图的最小链覆盖。</a:t>
                </a:r>
                <a:endParaRPr lang="en-US" altLang="zh-CN" dirty="0"/>
              </a:p>
              <a:p>
                <a:r>
                  <a:rPr lang="en-US" altLang="zh-CN" b="0" dirty="0" err="1"/>
                  <a:t>Dinic</a:t>
                </a:r>
                <a:r>
                  <a:rPr lang="zh-CN" altLang="en-US" b="0" dirty="0"/>
                  <a:t>即可</a:t>
                </a:r>
                <a14:m>
                  <m:oMath xmlns:m="http://schemas.openxmlformats.org/officeDocument/2006/math">
                    <m:r>
                      <a:rPr lang="zh-CN" altLang="en-US" i="1">
                        <a:latin typeface="Cambria Math" panose="02040503050406030204" pitchFamily="18" charset="0"/>
                      </a:rPr>
                      <m:t>，</m:t>
                    </m:r>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 </m:t>
                    </m:r>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𝑛</m:t>
                        </m:r>
                      </m:e>
                    </m:rad>
                    <m:r>
                      <a:rPr lang="en-US" altLang="zh-CN" b="0" i="1" smtClean="0">
                        <a:latin typeface="Cambria Math" panose="02040503050406030204" pitchFamily="18" charset="0"/>
                      </a:rPr>
                      <m:t>)</m:t>
                    </m:r>
                  </m:oMath>
                </a14:m>
                <a:br>
                  <a:rPr lang="zh-CN" altLang="en-US" dirty="0"/>
                </a:br>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000" r="-4333"/>
                </a:stretch>
              </a:blipFill>
            </p:spPr>
            <p:txBody>
              <a:bodyPr/>
              <a:lstStyle/>
              <a:p>
                <a:r>
                  <a:rPr lang="en-US">
                    <a:noFill/>
                  </a:rPr>
                  <a:t> </a:t>
                </a:r>
              </a:p>
            </p:txBody>
          </p:sp>
        </mc:Fallback>
      </mc:AlternateContent>
    </p:spTree>
    <p:extLst>
      <p:ext uri="{BB962C8B-B14F-4D97-AF65-F5344CB8AC3E}">
        <p14:creationId xmlns:p14="http://schemas.microsoft.com/office/powerpoint/2010/main" val="4189825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Codechef PALPROB</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定义一个字符串的回文指数如下：</a:t>
                </a:r>
                <a:endParaRPr lang="en-US" altLang="zh-CN" dirty="0"/>
              </a:p>
              <a:p>
                <a:r>
                  <a:rPr lang="zh-CN" altLang="en-US" dirty="0"/>
                  <a:t>若一个字符串不是回文串，则回文指数为</a:t>
                </a:r>
                <a:r>
                  <a:rPr lang="en-US" altLang="zh-CN" dirty="0"/>
                  <a:t>0</a:t>
                </a:r>
                <a:r>
                  <a:rPr lang="zh-CN" altLang="en-US" dirty="0"/>
                  <a:t>。</a:t>
                </a:r>
                <a:endParaRPr lang="en-US" altLang="zh-CN" dirty="0"/>
              </a:p>
              <a:p>
                <a:r>
                  <a:rPr lang="zh-CN" altLang="en-US" dirty="0"/>
                  <a:t>仅有一个字符的字符串回文指数为</a:t>
                </a:r>
                <a14:m>
                  <m:oMath xmlns:m="http://schemas.openxmlformats.org/officeDocument/2006/math">
                    <m:r>
                      <a:rPr lang="en-US" altLang="zh-CN" b="0" i="1" smtClean="0">
                        <a:latin typeface="Cambria Math" panose="02040503050406030204" pitchFamily="18" charset="0"/>
                      </a:rPr>
                      <m:t>1</m:t>
                    </m:r>
                  </m:oMath>
                </a14:m>
                <a:r>
                  <a:rPr lang="zh-CN" altLang="en-US" dirty="0"/>
                  <a:t>。</a:t>
                </a:r>
                <a:endParaRPr lang="en-US" altLang="zh-CN" dirty="0"/>
              </a:p>
              <a:p>
                <a:r>
                  <a:rPr lang="zh-CN" altLang="en-US" dirty="0"/>
                  <a:t>递归定义其他回文字符串</a:t>
                </a:r>
                <a14:m>
                  <m:oMath xmlns:m="http://schemas.openxmlformats.org/officeDocument/2006/math">
                    <m:r>
                      <a:rPr lang="en-US" altLang="zh-CN" b="0" i="1" smtClean="0">
                        <a:latin typeface="Cambria Math" panose="02040503050406030204" pitchFamily="18" charset="0"/>
                      </a:rPr>
                      <m:t>𝑠</m:t>
                    </m:r>
                  </m:oMath>
                </a14:m>
                <a:r>
                  <a:rPr lang="zh-CN" altLang="en-US" dirty="0"/>
                  <a:t>，</a:t>
                </a:r>
                <a:r>
                  <a:rPr lang="en-US" altLang="zh-CN" dirty="0"/>
                  <a:t> </a:t>
                </a:r>
                <a:r>
                  <a:rPr lang="zh-CN" altLang="en-US" dirty="0"/>
                  <a:t>等于</a:t>
                </a:r>
                <a14:m>
                  <m:oMath xmlns:m="http://schemas.openxmlformats.org/officeDocument/2006/math">
                    <m:r>
                      <a:rPr lang="en-US" altLang="zh-CN" b="0" i="1" smtClean="0">
                        <a:latin typeface="Cambria Math" panose="02040503050406030204" pitchFamily="18" charset="0"/>
                      </a:rPr>
                      <m:t>1</m:t>
                    </m:r>
                    <m:r>
                      <a:rPr lang="en-US" altLang="zh-CN" i="1">
                        <a:latin typeface="Cambria Math" panose="02040503050406030204" pitchFamily="18" charset="0"/>
                      </a:rPr>
                      <m:t>+</m:t>
                    </m:r>
                    <m:r>
                      <a:rPr lang="zh-CN" altLang="en-US" i="1" smtClean="0">
                        <a:latin typeface="Cambria Math" panose="02040503050406030204" pitchFamily="18" charset="0"/>
                      </a:rPr>
                      <m:t>前</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num>
                      <m:den>
                        <m:r>
                          <a:rPr lang="en-US" altLang="zh-CN" b="0" i="1" smtClean="0">
                            <a:latin typeface="Cambria Math" panose="02040503050406030204" pitchFamily="18" charset="0"/>
                          </a:rPr>
                          <m:t>2</m:t>
                        </m:r>
                      </m:den>
                    </m:f>
                    <m:r>
                      <a:rPr lang="en-US" altLang="zh-CN" b="0" i="1" smtClean="0">
                        <a:latin typeface="Cambria Math" panose="02040503050406030204" pitchFamily="18" charset="0"/>
                      </a:rPr>
                      <m:t>⌋</m:t>
                    </m:r>
                  </m:oMath>
                </a14:m>
                <a:r>
                  <a:rPr lang="zh-CN" altLang="en-US" dirty="0"/>
                  <a:t>个字符所组成的子串的回文指数。</a:t>
                </a:r>
                <a:endParaRPr lang="en-US" altLang="zh-CN" dirty="0"/>
              </a:p>
              <a:p>
                <a:r>
                  <a:rPr lang="zh-CN" altLang="en-US" dirty="0"/>
                  <a:t>给定一个字符串</a:t>
                </a:r>
                <a14:m>
                  <m:oMath xmlns:m="http://schemas.openxmlformats.org/officeDocument/2006/math">
                    <m:r>
                      <a:rPr lang="en-US" altLang="zh-CN" b="0" i="1" smtClean="0">
                        <a:latin typeface="Cambria Math" panose="02040503050406030204" pitchFamily="18" charset="0"/>
                      </a:rPr>
                      <m:t>𝑠</m:t>
                    </m:r>
                  </m:oMath>
                </a14:m>
                <a:r>
                  <a:rPr lang="zh-CN" altLang="en-US" dirty="0"/>
                  <a:t>，求出</a:t>
                </a:r>
                <a14:m>
                  <m:oMath xmlns:m="http://schemas.openxmlformats.org/officeDocument/2006/math">
                    <m:r>
                      <a:rPr lang="en-US" altLang="zh-CN" b="0" i="1" smtClean="0">
                        <a:latin typeface="Cambria Math" panose="02040503050406030204" pitchFamily="18" charset="0"/>
                      </a:rPr>
                      <m:t>𝑠</m:t>
                    </m:r>
                  </m:oMath>
                </a14:m>
                <a:r>
                  <a:rPr lang="zh-CN" altLang="en-US" dirty="0"/>
                  <a:t>的所有子串的回文指数的和。</a:t>
                </a:r>
                <a:br>
                  <a:rPr lang="zh-CN" altLang="en-US" dirty="0"/>
                </a:br>
                <a:br>
                  <a:rPr lang="zh-CN" altLang="en-US" dirty="0"/>
                </a:br>
                <a:endParaRPr 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5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10458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Codechef PALPROB</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1451202" y="2015733"/>
                <a:ext cx="9672410" cy="3450613"/>
              </a:xfrm>
            </p:spPr>
            <p:txBody>
              <a:bodyPr>
                <a:normAutofit fontScale="92500"/>
              </a:bodyPr>
              <a:lstStyle/>
              <a:p>
                <a:r>
                  <a:rPr lang="zh-CN" altLang="en-US" dirty="0"/>
                  <a:t>建出回文树，维护出每个节点的</a:t>
                </a:r>
                <a14:m>
                  <m:oMath xmlns:m="http://schemas.openxmlformats.org/officeDocument/2006/math">
                    <m:r>
                      <a:rPr lang="en-US" altLang="zh-CN" b="0" i="1" smtClean="0">
                        <a:latin typeface="Cambria Math" panose="02040503050406030204" pitchFamily="18" charset="0"/>
                      </a:rPr>
                      <m:t>𝑟𝑖𝑔h𝑡</m:t>
                    </m:r>
                  </m:oMath>
                </a14:m>
                <a:r>
                  <a:rPr lang="zh-CN" altLang="en-US" dirty="0"/>
                  <a:t>集合大小，那么剩下的问题就是求出每个回文串的回文指数。</a:t>
                </a:r>
                <a:endParaRPr lang="en-US" altLang="zh-CN" dirty="0"/>
              </a:p>
              <a:p>
                <a:r>
                  <a:rPr lang="zh-CN" altLang="en-US" dirty="0"/>
                  <a:t>考虑对于回文树上每个节点</a:t>
                </a:r>
                <a14:m>
                  <m:oMath xmlns:m="http://schemas.openxmlformats.org/officeDocument/2006/math">
                    <m:r>
                      <a:rPr lang="en-US" altLang="zh-CN" b="0" i="1" smtClean="0">
                        <a:latin typeface="Cambria Math" panose="02040503050406030204" pitchFamily="18" charset="0"/>
                      </a:rPr>
                      <m:t>𝑢</m:t>
                    </m:r>
                  </m:oMath>
                </a14:m>
                <a:r>
                  <a:rPr lang="zh-CN" altLang="en-US" dirty="0"/>
                  <a:t>再维护一个指针</a:t>
                </a:r>
                <a14:m>
                  <m:oMath xmlns:m="http://schemas.openxmlformats.org/officeDocument/2006/math">
                    <m:r>
                      <a:rPr lang="en-US" altLang="zh-CN" b="0" i="1" smtClean="0">
                        <a:latin typeface="Cambria Math" panose="02040503050406030204" pitchFamily="18" charset="0"/>
                      </a:rPr>
                      <m:t>h𝑎𝑙𝑓</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rPr>
                      <m:t>]</m:t>
                    </m:r>
                  </m:oMath>
                </a14:m>
                <a:r>
                  <a:rPr lang="zh-CN" altLang="en-US" dirty="0"/>
                  <a:t>，指向最长的长度不超过</a:t>
                </a:r>
                <a14:m>
                  <m:oMath xmlns:m="http://schemas.openxmlformats.org/officeDocument/2006/math">
                    <m:r>
                      <a:rPr lang="en-US" altLang="zh-CN" b="0" i="1" smtClean="0">
                        <a:latin typeface="Cambria Math" panose="02040503050406030204" pitchFamily="18" charset="0"/>
                      </a:rPr>
                      <m:t>𝑢</m:t>
                    </m:r>
                  </m:oMath>
                </a14:m>
                <a:r>
                  <a:rPr lang="zh-CN" altLang="en-US" dirty="0"/>
                  <a:t>的一半的</a:t>
                </a:r>
                <a14:m>
                  <m:oMath xmlns:m="http://schemas.openxmlformats.org/officeDocument/2006/math">
                    <m:r>
                      <a:rPr lang="en-US" altLang="zh-CN" b="0" i="1" smtClean="0">
                        <a:latin typeface="Cambria Math" panose="02040503050406030204" pitchFamily="18" charset="0"/>
                      </a:rPr>
                      <m:t>𝑢</m:t>
                    </m:r>
                  </m:oMath>
                </a14:m>
                <a:r>
                  <a:rPr lang="zh-CN" altLang="en-US" dirty="0"/>
                  <a:t>的回文后缀。</a:t>
                </a:r>
                <a:endParaRPr lang="en-US" altLang="zh-CN" dirty="0"/>
              </a:p>
              <a:p>
                <a:r>
                  <a:rPr lang="zh-CN" altLang="en-US" dirty="0"/>
                  <a:t>直接的想法是</a:t>
                </a:r>
                <a14:m>
                  <m:oMath xmlns:m="http://schemas.openxmlformats.org/officeDocument/2006/math">
                    <m:r>
                      <a:rPr lang="en-US" altLang="zh-CN" b="0" i="1" smtClean="0">
                        <a:latin typeface="Cambria Math" panose="02040503050406030204" pitchFamily="18" charset="0"/>
                      </a:rPr>
                      <m:t>𝑓𝑎𝑖𝑙</m:t>
                    </m:r>
                  </m:oMath>
                </a14:m>
                <a:r>
                  <a:rPr lang="zh-CN" altLang="en-US" dirty="0"/>
                  <a:t>树上倍增，</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log</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zh-CN" altLang="en-US" i="1">
                        <a:latin typeface="Cambria Math" panose="02040503050406030204" pitchFamily="18" charset="0"/>
                      </a:rPr>
                      <m:t>。</m:t>
                    </m:r>
                  </m:oMath>
                </a14:m>
                <a:endParaRPr lang="en-US" altLang="zh-CN" dirty="0"/>
              </a:p>
              <a:p>
                <a:r>
                  <a:rPr lang="zh-CN" altLang="en-US" dirty="0"/>
                  <a:t>考虑另一种方法。令</a:t>
                </a:r>
                <a14:m>
                  <m:oMath xmlns:m="http://schemas.openxmlformats.org/officeDocument/2006/math">
                    <m:r>
                      <a:rPr lang="en-US" altLang="zh-CN" b="0" i="1" smtClean="0">
                        <a:latin typeface="Cambria Math" panose="02040503050406030204" pitchFamily="18" charset="0"/>
                      </a:rPr>
                      <m:t>𝑗</m:t>
                    </m:r>
                  </m:oMath>
                </a14:m>
                <a:r>
                  <a:rPr lang="zh-CN" altLang="en-US" dirty="0"/>
                  <a:t>为</a:t>
                </a:r>
                <a14:m>
                  <m:oMath xmlns:m="http://schemas.openxmlformats.org/officeDocument/2006/math">
                    <m:r>
                      <a:rPr lang="en-US" altLang="zh-CN" b="0" i="1" smtClean="0">
                        <a:latin typeface="Cambria Math" panose="02040503050406030204" pitchFamily="18" charset="0"/>
                      </a:rPr>
                      <m:t>𝑖</m:t>
                    </m:r>
                  </m:oMath>
                </a14:m>
                <a:r>
                  <a:rPr lang="zh-CN" altLang="en-US" dirty="0"/>
                  <a:t>在回文树上的父亲。</a:t>
                </a:r>
                <a14:m>
                  <m:oMath xmlns:m="http://schemas.openxmlformats.org/officeDocument/2006/math">
                    <m:r>
                      <a:rPr lang="en-US" altLang="zh-CN" b="0" i="1" smtClean="0">
                        <a:latin typeface="Cambria Math" panose="02040503050406030204" pitchFamily="18" charset="0"/>
                      </a:rPr>
                      <m:t>h𝑎𝑙𝑓</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oMath>
                </a14:m>
                <a:r>
                  <a:rPr lang="zh-CN" altLang="en-US" dirty="0"/>
                  <a:t>必然是</a:t>
                </a:r>
                <a14:m>
                  <m:oMath xmlns:m="http://schemas.openxmlformats.org/officeDocument/2006/math">
                    <m:r>
                      <a:rPr lang="en-US" altLang="zh-CN" b="0" i="1" smtClean="0">
                        <a:latin typeface="Cambria Math" panose="02040503050406030204" pitchFamily="18" charset="0"/>
                      </a:rPr>
                      <m:t>h𝑎𝑙𝑓</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oMath>
                </a14:m>
                <a:r>
                  <a:rPr lang="zh-CN" altLang="en-US" dirty="0"/>
                  <a:t>的某个回文后缀的儿子。直接沿着</a:t>
                </a:r>
                <a14:m>
                  <m:oMath xmlns:m="http://schemas.openxmlformats.org/officeDocument/2006/math">
                    <m:r>
                      <a:rPr lang="en-US" altLang="zh-CN" b="0" i="1" smtClean="0">
                        <a:latin typeface="Cambria Math" panose="02040503050406030204" pitchFamily="18" charset="0"/>
                      </a:rPr>
                      <m:t>h𝑎𝑙𝑓</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oMath>
                </a14:m>
                <a:r>
                  <a:rPr lang="zh-CN" altLang="en-US" dirty="0"/>
                  <a:t>的</a:t>
                </a:r>
                <a14:m>
                  <m:oMath xmlns:m="http://schemas.openxmlformats.org/officeDocument/2006/math">
                    <m:r>
                      <a:rPr lang="en-US" altLang="zh-CN" b="0" i="1" smtClean="0">
                        <a:latin typeface="Cambria Math" panose="02040503050406030204" pitchFamily="18" charset="0"/>
                      </a:rPr>
                      <m:t>𝑓𝑎𝑖𝑙</m:t>
                    </m:r>
                  </m:oMath>
                </a14:m>
                <a:r>
                  <a:rPr lang="zh-CN" altLang="en-US" dirty="0"/>
                  <a:t>链找到第一个合法的节点。用势能分析可证明复杂度为</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oMath>
                </a14:m>
                <a:r>
                  <a:rPr lang="zh-CN" altLang="en-US" dirty="0"/>
                  <a:t>。</a:t>
                </a:r>
                <a:br>
                  <a:rPr lang="zh-CN" altLang="en-US" dirty="0"/>
                </a:br>
                <a:br>
                  <a:rPr lang="zh-CN" altLang="en-US" dirty="0"/>
                </a:br>
                <a:endParaRPr 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1451202" y="2015733"/>
                <a:ext cx="9672410" cy="3450613"/>
              </a:xfrm>
              <a:blipFill>
                <a:blip r:embed="rId2"/>
                <a:stretch>
                  <a:fillRect l="-378" r="-4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97906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dirty="0"/>
              <a:t>Central Europe Regional Contest 2014</a:t>
            </a:r>
            <a:br>
              <a:rPr lang="en-US" dirty="0"/>
            </a:br>
            <a:r>
              <a:rPr lang="en-US" dirty="0"/>
              <a:t>Virus synthesis</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latin typeface="+mj-lt"/>
                  </a:rPr>
                  <a:t>给定一个由大写字符</a:t>
                </a:r>
                <a:r>
                  <a:rPr lang="en-US" altLang="zh-CN" i="1" dirty="0">
                    <a:latin typeface="+mj-lt"/>
                  </a:rPr>
                  <a:t>A</a:t>
                </a:r>
                <a:r>
                  <a:rPr lang="en-US" altLang="zh-CN" dirty="0">
                    <a:latin typeface="+mj-lt"/>
                  </a:rPr>
                  <a:t>,</a:t>
                </a:r>
                <a:r>
                  <a:rPr lang="en-US" altLang="zh-CN" i="1" dirty="0">
                    <a:latin typeface="+mj-lt"/>
                  </a:rPr>
                  <a:t>G</a:t>
                </a:r>
                <a:r>
                  <a:rPr lang="en-US" altLang="zh-CN" dirty="0">
                    <a:latin typeface="+mj-lt"/>
                  </a:rPr>
                  <a:t>,</a:t>
                </a:r>
                <a:r>
                  <a:rPr lang="en-US" altLang="zh-CN" i="1" dirty="0">
                    <a:latin typeface="+mj-lt"/>
                  </a:rPr>
                  <a:t>T</a:t>
                </a:r>
                <a:r>
                  <a:rPr lang="en-US" altLang="zh-CN" dirty="0">
                    <a:latin typeface="+mj-lt"/>
                  </a:rPr>
                  <a:t>,</a:t>
                </a:r>
                <a:r>
                  <a:rPr lang="en-US" altLang="zh-CN" i="1" dirty="0">
                    <a:latin typeface="+mj-lt"/>
                  </a:rPr>
                  <a:t>C</a:t>
                </a:r>
                <a:r>
                  <a:rPr lang="zh-CN" altLang="en-US" dirty="0">
                    <a:latin typeface="+mj-lt"/>
                  </a:rPr>
                  <a:t>组成的长度为</a:t>
                </a:r>
                <a14:m>
                  <m:oMath xmlns:m="http://schemas.openxmlformats.org/officeDocument/2006/math">
                    <m:r>
                      <a:rPr lang="en-US" altLang="zh-CN" b="0" i="1" smtClean="0">
                        <a:latin typeface="Cambria Math" panose="02040503050406030204" pitchFamily="18" charset="0"/>
                      </a:rPr>
                      <m:t>𝑛</m:t>
                    </m:r>
                  </m:oMath>
                </a14:m>
                <a:r>
                  <a:rPr lang="zh-CN" altLang="en-US" dirty="0">
                    <a:latin typeface="+mj-lt"/>
                  </a:rPr>
                  <a:t>的字符串</a:t>
                </a:r>
                <a:r>
                  <a:rPr lang="en-US" altLang="zh-CN" i="1" dirty="0">
                    <a:latin typeface="+mj-lt"/>
                  </a:rPr>
                  <a:t>s</a:t>
                </a:r>
                <a:r>
                  <a:rPr lang="zh-CN" altLang="en-US" dirty="0">
                    <a:latin typeface="+mj-lt"/>
                  </a:rPr>
                  <a:t>，一开始有一个空串</a:t>
                </a:r>
                <a:r>
                  <a:rPr lang="en-US" altLang="zh-CN" i="1" dirty="0">
                    <a:latin typeface="+mj-lt"/>
                  </a:rPr>
                  <a:t>t</a:t>
                </a:r>
                <a:r>
                  <a:rPr lang="zh-CN" altLang="en-US" dirty="0">
                    <a:latin typeface="+mj-lt"/>
                  </a:rPr>
                  <a:t>，每一步你可以对</a:t>
                </a:r>
                <a:r>
                  <a:rPr lang="en-US" altLang="zh-CN" i="1" dirty="0">
                    <a:latin typeface="+mj-lt"/>
                  </a:rPr>
                  <a:t>t</a:t>
                </a:r>
                <a:r>
                  <a:rPr lang="zh-CN" altLang="en-US" dirty="0">
                    <a:latin typeface="+mj-lt"/>
                  </a:rPr>
                  <a:t>进行以下操作中的一种：</a:t>
                </a:r>
                <a:endParaRPr lang="en-US" altLang="zh-CN" dirty="0">
                  <a:latin typeface="+mj-lt"/>
                </a:endParaRPr>
              </a:p>
              <a:p>
                <a:r>
                  <a:rPr lang="zh-CN" altLang="en-US" dirty="0">
                    <a:latin typeface="+mj-lt"/>
                  </a:rPr>
                  <a:t>在</a:t>
                </a:r>
                <a:r>
                  <a:rPr lang="en-US" altLang="zh-CN" i="1" dirty="0">
                    <a:latin typeface="+mj-lt"/>
                  </a:rPr>
                  <a:t>t</a:t>
                </a:r>
                <a:r>
                  <a:rPr lang="zh-CN" altLang="en-US" dirty="0">
                    <a:latin typeface="+mj-lt"/>
                  </a:rPr>
                  <a:t>的开头或结尾加入一个字符</a:t>
                </a:r>
                <a:endParaRPr lang="en-US" altLang="zh-CN" dirty="0">
                  <a:latin typeface="+mj-lt"/>
                </a:endParaRPr>
              </a:p>
              <a:p>
                <a:r>
                  <a:rPr lang="zh-CN" altLang="en-US" dirty="0">
                    <a:latin typeface="+mj-lt"/>
                  </a:rPr>
                  <a:t>将</a:t>
                </a:r>
                <a:r>
                  <a:rPr lang="en-US" altLang="zh-CN" i="1" dirty="0">
                    <a:latin typeface="+mj-lt"/>
                  </a:rPr>
                  <a:t>t</a:t>
                </a:r>
                <a:r>
                  <a:rPr lang="zh-CN" altLang="en-US" dirty="0">
                    <a:latin typeface="+mj-lt"/>
                  </a:rPr>
                  <a:t>的翻转接在</a:t>
                </a:r>
                <a:r>
                  <a:rPr lang="en-US" altLang="zh-CN" i="1" dirty="0">
                    <a:latin typeface="+mj-lt"/>
                  </a:rPr>
                  <a:t>t</a:t>
                </a:r>
                <a:r>
                  <a:rPr lang="zh-CN" altLang="en-US" dirty="0">
                    <a:latin typeface="+mj-lt"/>
                  </a:rPr>
                  <a:t>的开头或末尾</a:t>
                </a:r>
                <a:endParaRPr lang="en-US" altLang="zh-CN" dirty="0">
                  <a:latin typeface="+mj-lt"/>
                </a:endParaRPr>
              </a:p>
              <a:p>
                <a:r>
                  <a:rPr lang="zh-CN" altLang="en-US" dirty="0">
                    <a:latin typeface="+mj-lt"/>
                  </a:rPr>
                  <a:t>问最少需要多少步才能使得</a:t>
                </a:r>
                <a:r>
                  <a:rPr lang="en-US" altLang="zh-CN" i="1" dirty="0">
                    <a:latin typeface="+mj-lt"/>
                  </a:rPr>
                  <a:t>t</a:t>
                </a:r>
                <a:r>
                  <a:rPr lang="zh-CN" altLang="en-US" dirty="0">
                    <a:latin typeface="+mj-lt"/>
                  </a:rPr>
                  <a:t>变成</a:t>
                </a:r>
                <a:r>
                  <a:rPr lang="en-US" altLang="zh-CN" i="1" dirty="0">
                    <a:latin typeface="+mj-lt"/>
                  </a:rPr>
                  <a:t>s</a:t>
                </a:r>
                <a:r>
                  <a:rPr lang="zh-CN" altLang="en-US" dirty="0">
                    <a:latin typeface="+mj-lt"/>
                  </a:rPr>
                  <a:t>。</a:t>
                </a:r>
                <a:endParaRPr lang="en-US" altLang="zh-CN" dirty="0">
                  <a:latin typeface="+mj-lt"/>
                </a:endParaRPr>
              </a:p>
              <a:p>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br>
                  <a:rPr lang="zh-CN" altLang="en-US" dirty="0">
                    <a:latin typeface="+mj-lt"/>
                  </a:rPr>
                </a:br>
                <a:endParaRPr lang="en-US" dirty="0">
                  <a:latin typeface="+mj-lt"/>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143"/>
                </a:stretch>
              </a:blipFill>
            </p:spPr>
            <p:txBody>
              <a:bodyPr/>
              <a:lstStyle/>
              <a:p>
                <a:r>
                  <a:rPr lang="en-US">
                    <a:noFill/>
                  </a:rPr>
                  <a:t> </a:t>
                </a:r>
              </a:p>
            </p:txBody>
          </p:sp>
        </mc:Fallback>
      </mc:AlternateContent>
    </p:spTree>
    <p:extLst>
      <p:ext uri="{BB962C8B-B14F-4D97-AF65-F5344CB8AC3E}">
        <p14:creationId xmlns:p14="http://schemas.microsoft.com/office/powerpoint/2010/main" val="3843186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Virus synthesis</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注意到第二种操作后的字符串必然是一个回文串，考虑枚举</a:t>
                </a:r>
                <a14:m>
                  <m:oMath xmlns:m="http://schemas.openxmlformats.org/officeDocument/2006/math">
                    <m:r>
                      <a:rPr lang="en-US" altLang="zh-CN" b="0" i="1" smtClean="0">
                        <a:latin typeface="Cambria Math" panose="02040503050406030204" pitchFamily="18" charset="0"/>
                      </a:rPr>
                      <m:t>𝑠</m:t>
                    </m:r>
                  </m:oMath>
                </a14:m>
                <a:r>
                  <a:rPr lang="zh-CN" altLang="en-US" dirty="0"/>
                  <a:t>的一个回文子串</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oMath>
                </a14:m>
                <a:r>
                  <a:rPr lang="zh-CN" altLang="en-US" dirty="0"/>
                  <a:t>，求出构造出</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oMath>
                </a14:m>
                <a:r>
                  <a:rPr lang="zh-CN" altLang="en-US" dirty="0"/>
                  <a:t>的最小代价，用其加上</a:t>
                </a:r>
                <a14:m>
                  <m:oMath xmlns:m="http://schemas.openxmlformats.org/officeDocument/2006/math">
                    <m:r>
                      <a:rPr lang="en-US" altLang="zh-CN" b="0" i="1" smtClean="0">
                        <a:latin typeface="Cambria Math" panose="02040503050406030204" pitchFamily="18" charset="0"/>
                      </a:rPr>
                      <m:t>𝑖</m:t>
                    </m:r>
                    <m:r>
                      <a:rPr lang="en-US" altLang="zh-CN" b="0" i="1" smtClean="0">
                        <a:latin typeface="Cambria Math" panose="02040503050406030204" pitchFamily="18" charset="0"/>
                      </a:rPr>
                      <m:t> −1+</m:t>
                    </m:r>
                    <m:r>
                      <a:rPr lang="en-US" altLang="zh-CN" b="0" i="1" smtClean="0">
                        <a:latin typeface="Cambria Math" panose="02040503050406030204" pitchFamily="18" charset="0"/>
                      </a:rPr>
                      <m:t>𝑛</m:t>
                    </m:r>
                    <m:r>
                      <a:rPr lang="en-US" altLang="zh-CN" b="0" i="1" smtClean="0">
                        <a:latin typeface="Cambria Math" panose="02040503050406030204" pitchFamily="18" charset="0"/>
                      </a:rPr>
                      <m:t> −</m:t>
                    </m:r>
                    <m:r>
                      <a:rPr lang="en-US" altLang="zh-CN" b="0" i="1" smtClean="0">
                        <a:latin typeface="Cambria Math" panose="02040503050406030204" pitchFamily="18" charset="0"/>
                      </a:rPr>
                      <m:t>𝑗</m:t>
                    </m:r>
                  </m:oMath>
                </a14:m>
                <a:r>
                  <a:rPr lang="zh-CN" altLang="en-US" dirty="0"/>
                  <a:t>来更新答案即可。</a:t>
                </a:r>
                <a:endParaRPr lang="en-US" altLang="zh-CN" dirty="0"/>
              </a:p>
              <a:p>
                <a:r>
                  <a:rPr lang="zh-CN" altLang="en-US" dirty="0"/>
                  <a:t>考虑由短到长地计算每个回文串的代价，它一定为这个回文串的半边的代价</a:t>
                </a:r>
                <a14:m>
                  <m:oMath xmlns:m="http://schemas.openxmlformats.org/officeDocument/2006/math">
                    <m:r>
                      <a:rPr lang="en-US" altLang="zh-CN" b="0" i="1" smtClean="0">
                        <a:latin typeface="Cambria Math" panose="02040503050406030204" pitchFamily="18" charset="0"/>
                      </a:rPr>
                      <m:t>+1</m:t>
                    </m:r>
                    <m:r>
                      <a:rPr lang="zh-CN" altLang="en-US" i="1">
                        <a:latin typeface="Cambria Math" panose="02040503050406030204" pitchFamily="18" charset="0"/>
                      </a:rPr>
                      <m:t>。</m:t>
                    </m:r>
                  </m:oMath>
                </a14:m>
                <a:r>
                  <a:rPr lang="zh-CN" altLang="en-US" dirty="0"/>
                  <a:t>我们发现它的半边要么是它父亲的串的半边加一个字符，要么是它的一个长度不超过一半的回文后缀补上若干个字符。</a:t>
                </a:r>
                <a:endParaRPr lang="en-US" altLang="zh-CN" dirty="0"/>
              </a:p>
              <a:p>
                <a:r>
                  <a:rPr lang="zh-CN" altLang="en-US" dirty="0"/>
                  <a:t>直接套用上题的算法，</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oMath>
                </a14:m>
                <a:r>
                  <a:rPr lang="zh-CN" altLang="en-US" dirty="0"/>
                  <a:t>。</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000" r="-933"/>
                </a:stretch>
              </a:blipFill>
            </p:spPr>
            <p:txBody>
              <a:bodyPr/>
              <a:lstStyle/>
              <a:p>
                <a:r>
                  <a:rPr lang="en-US">
                    <a:noFill/>
                  </a:rPr>
                  <a:t> </a:t>
                </a:r>
              </a:p>
            </p:txBody>
          </p:sp>
        </mc:Fallback>
      </mc:AlternateContent>
    </p:spTree>
    <p:extLst>
      <p:ext uri="{BB962C8B-B14F-4D97-AF65-F5344CB8AC3E}">
        <p14:creationId xmlns:p14="http://schemas.microsoft.com/office/powerpoint/2010/main" val="258872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集训队互测</a:t>
            </a:r>
            <a:r>
              <a:rPr lang="en-US" altLang="zh-CN" dirty="0"/>
              <a:t>2017 </a:t>
            </a:r>
            <a:r>
              <a:rPr lang="zh-CN" altLang="en-US" dirty="0"/>
              <a:t>基因</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给定一个长度为</a:t>
                </a:r>
                <a14:m>
                  <m:oMath xmlns:m="http://schemas.openxmlformats.org/officeDocument/2006/math">
                    <m:r>
                      <a:rPr lang="en-US" altLang="zh-CN" b="0" i="1" smtClean="0">
                        <a:latin typeface="Cambria Math" panose="02040503050406030204" pitchFamily="18" charset="0"/>
                      </a:rPr>
                      <m:t>𝑛</m:t>
                    </m:r>
                  </m:oMath>
                </a14:m>
                <a:r>
                  <a:rPr lang="zh-CN" altLang="en-US" dirty="0"/>
                  <a:t>的只包含小写字母的字符串</a:t>
                </a:r>
                <a14:m>
                  <m:oMath xmlns:m="http://schemas.openxmlformats.org/officeDocument/2006/math">
                    <m:r>
                      <a:rPr lang="en-US" altLang="zh-CN" b="0" i="1" smtClean="0">
                        <a:latin typeface="Cambria Math" panose="02040503050406030204" pitchFamily="18" charset="0"/>
                      </a:rPr>
                      <m:t>𝑠</m:t>
                    </m:r>
                  </m:oMath>
                </a14:m>
                <a:r>
                  <a:rPr lang="zh-CN" altLang="en-US" dirty="0"/>
                  <a:t>，有</a:t>
                </a:r>
                <a14:m>
                  <m:oMath xmlns:m="http://schemas.openxmlformats.org/officeDocument/2006/math">
                    <m:r>
                      <a:rPr lang="en-US" altLang="zh-CN" b="0" i="1" smtClean="0">
                        <a:latin typeface="Cambria Math" panose="02040503050406030204" pitchFamily="18" charset="0"/>
                      </a:rPr>
                      <m:t>𝑞</m:t>
                    </m:r>
                  </m:oMath>
                </a14:m>
                <a:r>
                  <a:rPr lang="zh-CN" altLang="en-US" dirty="0"/>
                  <a:t>组询问</a:t>
                </a:r>
                <a14:m>
                  <m:oMath xmlns:m="http://schemas.openxmlformats.org/officeDocument/2006/math">
                    <m:r>
                      <a:rPr lang="en-US" altLang="zh-CN" b="0" i="1" smtClean="0">
                        <a:latin typeface="Cambria Math" panose="02040503050406030204" pitchFamily="18" charset="0"/>
                      </a:rPr>
                      <m:t>𝑙</m:t>
                    </m:r>
                    <m:r>
                      <a:rPr lang="en-US" altLang="zh-CN" b="0" i="1" smtClean="0">
                        <a:latin typeface="Cambria Math" panose="02040503050406030204" pitchFamily="18" charset="0"/>
                      </a:rPr>
                      <m:t>, </m:t>
                    </m:r>
                    <m:r>
                      <a:rPr lang="en-US" altLang="zh-CN" b="0" i="1" smtClean="0">
                        <a:latin typeface="Cambria Math" panose="02040503050406030204" pitchFamily="18" charset="0"/>
                      </a:rPr>
                      <m:t>𝑟</m:t>
                    </m:r>
                  </m:oMath>
                </a14:m>
                <a:r>
                  <a:rPr lang="zh-CN" altLang="en-US" dirty="0"/>
                  <a:t>，询问</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oMath>
                </a14:m>
                <a:r>
                  <a:rPr lang="zh-CN" altLang="en-US" dirty="0"/>
                  <a:t>中本质不同的回文串数量。</a:t>
                </a:r>
                <a:endParaRPr lang="en-US" altLang="zh-CN" dirty="0"/>
              </a:p>
              <a:p>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 </m:t>
                    </m:r>
                    <m:r>
                      <a:rPr lang="en-US" altLang="zh-CN" b="0" i="1" smtClean="0">
                        <a:latin typeface="Cambria Math" panose="02040503050406030204" pitchFamily="18" charset="0"/>
                      </a:rPr>
                      <m:t>𝑞</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5</m:t>
                        </m:r>
                      </m:sup>
                    </m:sSup>
                  </m:oMath>
                </a14:m>
                <a:endParaRPr lang="en-US" dirty="0"/>
              </a:p>
              <a:p>
                <a:r>
                  <a:rPr lang="zh-CN" altLang="en-US" dirty="0"/>
                  <a:t>莫队？</a:t>
                </a:r>
                <a:endParaRPr lang="en-US" altLang="zh-CN" dirty="0"/>
              </a:p>
              <a:p>
                <a:r>
                  <a:rPr lang="zh-CN" altLang="en-US" dirty="0"/>
                  <a:t>强制在线。</a:t>
                </a:r>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000"/>
                </a:stretch>
              </a:blipFill>
            </p:spPr>
            <p:txBody>
              <a:bodyPr/>
              <a:lstStyle/>
              <a:p>
                <a:r>
                  <a:rPr lang="en-US">
                    <a:noFill/>
                  </a:rPr>
                  <a:t> </a:t>
                </a:r>
              </a:p>
            </p:txBody>
          </p:sp>
        </mc:Fallback>
      </mc:AlternateContent>
    </p:spTree>
    <p:extLst>
      <p:ext uri="{BB962C8B-B14F-4D97-AF65-F5344CB8AC3E}">
        <p14:creationId xmlns:p14="http://schemas.microsoft.com/office/powerpoint/2010/main" val="1161237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集训队互测</a:t>
            </a:r>
            <a:r>
              <a:rPr lang="en-US" altLang="zh-CN" dirty="0"/>
              <a:t>2017 </a:t>
            </a:r>
            <a:r>
              <a:rPr lang="zh-CN" altLang="en-US" dirty="0"/>
              <a:t>基因</a:t>
            </a:r>
            <a:endParaRPr 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522414" y="1905000"/>
                <a:ext cx="9144000" cy="4343400"/>
              </a:xfrm>
            </p:spPr>
            <p:txBody>
              <a:bodyPr>
                <a:normAutofit/>
              </a:bodyPr>
              <a:lstStyle/>
              <a:p>
                <a:r>
                  <a:rPr lang="zh-CN" altLang="en-US" dirty="0"/>
                  <a:t>令</a:t>
                </a:r>
                <a14:m>
                  <m:oMath xmlns:m="http://schemas.openxmlformats.org/officeDocument/2006/math">
                    <m:r>
                      <a:rPr lang="en-US" altLang="zh-CN" b="0" i="1" smtClean="0">
                        <a:latin typeface="Cambria Math" panose="02040503050406030204" pitchFamily="18" charset="0"/>
                      </a:rPr>
                      <m:t>𝐿</m:t>
                    </m:r>
                    <m:r>
                      <a:rPr lang="en-US" altLang="zh-CN" b="0" i="1"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𝑛</m:t>
                        </m:r>
                      </m:e>
                    </m:rad>
                  </m:oMath>
                </a14:m>
                <a:r>
                  <a:rPr lang="zh-CN" altLang="en-US" dirty="0"/>
                  <a:t>，每</a:t>
                </a:r>
                <a14:m>
                  <m:oMath xmlns:m="http://schemas.openxmlformats.org/officeDocument/2006/math">
                    <m:r>
                      <a:rPr lang="en-US" altLang="zh-CN" b="0" i="1" smtClean="0">
                        <a:latin typeface="Cambria Math" panose="02040503050406030204" pitchFamily="18" charset="0"/>
                      </a:rPr>
                      <m:t>𝐿</m:t>
                    </m:r>
                  </m:oMath>
                </a14:m>
                <a:r>
                  <a:rPr lang="zh-CN" altLang="en-US" dirty="0"/>
                  <a:t>个位置设置一个关键点，维护每个关键点到右边每个位置的回文树，对于每次询问</a:t>
                </a:r>
                <a:r>
                  <a:rPr lang="en-US" altLang="zh-CN" dirty="0"/>
                  <a:t>:</a:t>
                </a:r>
                <a:endParaRPr lang="en-US" altLang="zh-CN" b="0" i="1" dirty="0">
                  <a:latin typeface="Cambria Math" panose="02040503050406030204" pitchFamily="18" charset="0"/>
                </a:endParaRPr>
              </a:p>
              <a:p>
                <a14:m>
                  <m:oMath xmlns:m="http://schemas.openxmlformats.org/officeDocument/2006/math">
                    <m:r>
                      <a:rPr lang="en-US" altLang="zh-CN" b="0" i="1" smtClean="0">
                        <a:latin typeface="Cambria Math" panose="02040503050406030204" pitchFamily="18" charset="0"/>
                      </a:rPr>
                      <m:t>𝑟</m:t>
                    </m:r>
                    <m:r>
                      <a:rPr lang="en-US" altLang="zh-CN" b="0" i="1" smtClean="0">
                        <a:latin typeface="Cambria Math" panose="02040503050406030204" pitchFamily="18" charset="0"/>
                      </a:rPr>
                      <m:t> −</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𝐿</m:t>
                    </m:r>
                  </m:oMath>
                </a14:m>
                <a:r>
                  <a:rPr lang="zh-CN" altLang="en-US" dirty="0"/>
                  <a:t>，可以直接暴力维护回文树。</a:t>
                </a:r>
                <a:endParaRPr lang="en-US" altLang="zh-CN" dirty="0"/>
              </a:p>
              <a:p>
                <a14:m>
                  <m:oMath xmlns:m="http://schemas.openxmlformats.org/officeDocument/2006/math">
                    <m:r>
                      <a:rPr lang="en-US" altLang="zh-CN" b="0" i="1" smtClean="0">
                        <a:latin typeface="Cambria Math" panose="02040503050406030204" pitchFamily="18" charset="0"/>
                      </a:rPr>
                      <m:t>𝑟</m:t>
                    </m:r>
                    <m:r>
                      <a:rPr lang="en-US" altLang="zh-CN" b="0" i="1" smtClean="0">
                        <a:latin typeface="Cambria Math" panose="02040503050406030204" pitchFamily="18" charset="0"/>
                      </a:rPr>
                      <m:t> −</m:t>
                    </m:r>
                    <m:r>
                      <a:rPr lang="en-US" altLang="zh-CN" b="0" i="1" smtClean="0">
                        <a:latin typeface="Cambria Math" panose="02040503050406030204" pitchFamily="18" charset="0"/>
                      </a:rPr>
                      <m:t>𝑙</m:t>
                    </m:r>
                    <m:r>
                      <a:rPr lang="en-US" altLang="zh-CN" b="0" i="1" smtClean="0">
                        <a:latin typeface="Cambria Math" panose="02040503050406030204" pitchFamily="18" charset="0"/>
                      </a:rPr>
                      <m:t>&gt;</m:t>
                    </m:r>
                    <m:r>
                      <a:rPr lang="en-US" altLang="zh-CN" b="0" i="1" smtClean="0">
                        <a:latin typeface="Cambria Math" panose="02040503050406030204" pitchFamily="18" charset="0"/>
                      </a:rPr>
                      <m:t>𝐿</m:t>
                    </m:r>
                    <m:r>
                      <a:rPr lang="zh-CN" altLang="en-US" i="1">
                        <a:latin typeface="Cambria Math" panose="02040503050406030204" pitchFamily="18" charset="0"/>
                      </a:rPr>
                      <m:t>，</m:t>
                    </m:r>
                    <m:r>
                      <a:rPr lang="zh-CN" altLang="en-US" i="1" smtClean="0">
                        <a:latin typeface="Cambria Math" panose="02040503050406030204" pitchFamily="18" charset="0"/>
                      </a:rPr>
                      <m:t>则</m:t>
                    </m:r>
                  </m:oMath>
                </a14:m>
                <a:r>
                  <a:rPr lang="zh-CN" altLang="en-US" dirty="0"/>
                  <a:t>必然会经过一个关键点。每次相当于在回文树前插入字符。</a:t>
                </a:r>
                <a:endParaRPr lang="en-US" altLang="zh-CN" dirty="0"/>
              </a:p>
              <a:p>
                <a:r>
                  <a:rPr lang="zh-CN" altLang="en-US" dirty="0"/>
                  <a:t>然而如果把所有节点的信息都存下来，可持久化也需要</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𝑞</m:t>
                        </m:r>
                      </m:e>
                    </m:d>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𝑛</m:t>
                        </m:r>
                      </m:e>
                    </m:rad>
                    <m:r>
                      <a:rPr lang="en-US" altLang="zh-CN" b="0" i="1" smtClean="0">
                        <a:latin typeface="Cambria Math" panose="02040503050406030204" pitchFamily="18" charset="0"/>
                      </a:rPr>
                      <m:t>𝑙𝑜𝑔</m:t>
                    </m:r>
                    <m:r>
                      <m:rPr>
                        <m:sty m:val="p"/>
                      </m:rPr>
                      <a:rPr lang="en-US" altLang="zh-CN" b="0" i="0" smtClean="0">
                        <a:latin typeface="Cambria Math" panose="02040503050406030204" pitchFamily="18" charset="0"/>
                      </a:rPr>
                      <m:t>Σ</m:t>
                    </m:r>
                    <m:r>
                      <a:rPr lang="en-US" altLang="zh-CN" b="0" i="1" smtClean="0">
                        <a:latin typeface="Cambria Math" panose="02040503050406030204" pitchFamily="18" charset="0"/>
                      </a:rPr>
                      <m:t>)</m:t>
                    </m:r>
                  </m:oMath>
                </a14:m>
                <a:r>
                  <a:rPr lang="zh-CN" altLang="en-US" dirty="0"/>
                  <a:t>的时空复杂度。</a:t>
                </a:r>
                <a:br>
                  <a:rPr lang="zh-CN" altLang="en-US" dirty="0"/>
                </a:br>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522414" y="1905000"/>
                <a:ext cx="9144000" cy="4343400"/>
              </a:xfrm>
              <a:blipFill>
                <a:blip r:embed="rId2"/>
                <a:stretch>
                  <a:fillRect l="-933" t="-1826"/>
                </a:stretch>
              </a:blipFill>
            </p:spPr>
            <p:txBody>
              <a:bodyPr/>
              <a:lstStyle/>
              <a:p>
                <a:r>
                  <a:rPr lang="en-US">
                    <a:noFill/>
                  </a:rPr>
                  <a:t> </a:t>
                </a:r>
              </a:p>
            </p:txBody>
          </p:sp>
        </mc:Fallback>
      </mc:AlternateContent>
    </p:spTree>
    <p:extLst>
      <p:ext uri="{BB962C8B-B14F-4D97-AF65-F5344CB8AC3E}">
        <p14:creationId xmlns:p14="http://schemas.microsoft.com/office/powerpoint/2010/main" val="464305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集训队互测</a:t>
            </a:r>
            <a:r>
              <a:rPr lang="en-US" altLang="zh-CN" dirty="0"/>
              <a:t>2017 </a:t>
            </a:r>
            <a:r>
              <a:rPr lang="zh-CN" altLang="en-US" dirty="0"/>
              <a:t>基因</a:t>
            </a:r>
            <a:endParaRPr 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lstStyle/>
              <a:p>
                <a:r>
                  <a:rPr lang="zh-CN" altLang="en-US" dirty="0"/>
                  <a:t>依旧考虑到不同的回文串只有</a:t>
                </a:r>
                <a14:m>
                  <m:oMath xmlns:m="http://schemas.openxmlformats.org/officeDocument/2006/math">
                    <m:r>
                      <a:rPr lang="en-US" altLang="zh-CN" i="1">
                        <a:latin typeface="Cambria Math" panose="02040503050406030204" pitchFamily="18" charset="0"/>
                      </a:rPr>
                      <m:t>𝑂</m:t>
                    </m:r>
                    <m:r>
                      <a:rPr lang="en-US" altLang="zh-CN" i="1">
                        <a:latin typeface="Cambria Math" panose="02040503050406030204" pitchFamily="18" charset="0"/>
                      </a:rPr>
                      <m:t>(</m:t>
                    </m:r>
                    <m:r>
                      <a:rPr lang="en-US" altLang="zh-CN" i="1">
                        <a:latin typeface="Cambria Math" panose="02040503050406030204" pitchFamily="18" charset="0"/>
                      </a:rPr>
                      <m:t>𝑛</m:t>
                    </m:r>
                    <m:r>
                      <a:rPr lang="en-US" altLang="zh-CN" i="1">
                        <a:latin typeface="Cambria Math" panose="02040503050406030204" pitchFamily="18" charset="0"/>
                      </a:rPr>
                      <m:t>)</m:t>
                    </m:r>
                  </m:oMath>
                </a14:m>
                <a:r>
                  <a:rPr lang="zh-CN" altLang="en-US" dirty="0"/>
                  <a:t>个，同一个回文串的</a:t>
                </a:r>
                <a14:m>
                  <m:oMath xmlns:m="http://schemas.openxmlformats.org/officeDocument/2006/math">
                    <m:r>
                      <a:rPr lang="en-US" altLang="zh-CN" i="1">
                        <a:latin typeface="Cambria Math" panose="02040503050406030204" pitchFamily="18" charset="0"/>
                      </a:rPr>
                      <m:t>𝑔𝑜</m:t>
                    </m:r>
                    <m:r>
                      <a:rPr lang="en-US" altLang="zh-CN" i="1">
                        <a:latin typeface="Cambria Math" panose="02040503050406030204" pitchFamily="18" charset="0"/>
                      </a:rPr>
                      <m:t>[], </m:t>
                    </m:r>
                    <m:r>
                      <a:rPr lang="en-US" altLang="zh-CN" i="1">
                        <a:latin typeface="Cambria Math" panose="02040503050406030204" pitchFamily="18" charset="0"/>
                      </a:rPr>
                      <m:t>𝑓𝑎𝑖𝑙</m:t>
                    </m:r>
                  </m:oMath>
                </a14:m>
                <a:r>
                  <a:rPr lang="zh-CN" altLang="en-US" dirty="0"/>
                  <a:t>均是相同的，因此节点只需要</a:t>
                </a:r>
                <a14:m>
                  <m:oMath xmlns:m="http://schemas.openxmlformats.org/officeDocument/2006/math">
                    <m:r>
                      <a:rPr lang="en-US" altLang="zh-CN" i="1">
                        <a:latin typeface="Cambria Math" panose="02040503050406030204" pitchFamily="18" charset="0"/>
                      </a:rPr>
                      <m:t>𝑂</m:t>
                    </m:r>
                    <m:r>
                      <a:rPr lang="en-US" altLang="zh-CN" i="1">
                        <a:latin typeface="Cambria Math" panose="02040503050406030204" pitchFamily="18" charset="0"/>
                      </a:rPr>
                      <m:t>(</m:t>
                    </m:r>
                    <m:r>
                      <a:rPr lang="en-US" altLang="zh-CN" i="1">
                        <a:latin typeface="Cambria Math" panose="02040503050406030204" pitchFamily="18" charset="0"/>
                      </a:rPr>
                      <m:t>𝑛</m:t>
                    </m:r>
                    <m:r>
                      <a:rPr lang="en-US" altLang="zh-CN" i="1">
                        <a:latin typeface="Cambria Math" panose="02040503050406030204" pitchFamily="18" charset="0"/>
                      </a:rPr>
                      <m:t>)</m:t>
                    </m:r>
                  </m:oMath>
                </a14:m>
                <a:r>
                  <a:rPr lang="zh-CN" altLang="en-US" dirty="0"/>
                  <a:t>个。</a:t>
                </a:r>
                <a:endParaRPr lang="en-US" altLang="zh-CN" dirty="0"/>
              </a:p>
              <a:p>
                <a:r>
                  <a:rPr lang="zh-CN" altLang="en-US" dirty="0"/>
                  <a:t>预处理时，从一个关键点向右建回文树，对每一个右端点只需记录此时的最长回文前缀以及此时的答案。顺便记录每个回文串从某个关键点开始第一次出现的位置。</a:t>
                </a:r>
                <a:endParaRPr lang="en-US" altLang="zh-CN" dirty="0"/>
              </a:p>
              <a:p>
                <a:r>
                  <a:rPr lang="zh-CN" altLang="en-US" dirty="0"/>
                  <a:t>查询时，由预处理时的信息向前插入，每插一个字符可以得到一个最长回文前缀，需要判断这个回文串是否已经被统计过。</a:t>
                </a:r>
                <a:endParaRPr lang="en-US" altLang="zh-CN" dirty="0"/>
              </a:p>
              <a:p>
                <a:r>
                  <a:rPr lang="zh-CN" altLang="en-US" dirty="0"/>
                  <a:t>最终时间复杂度为</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𝑞</m:t>
                        </m:r>
                      </m:e>
                    </m:d>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𝑛</m:t>
                        </m:r>
                      </m:e>
                    </m:rad>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m:rPr>
                        <m:sty m:val="p"/>
                      </m:rPr>
                      <a:rPr lang="en-US" altLang="zh-CN" b="0" i="0" smtClean="0">
                        <a:latin typeface="Cambria Math" panose="02040503050406030204" pitchFamily="18" charset="0"/>
                      </a:rPr>
                      <m:t>Σ</m:t>
                    </m:r>
                    <m:r>
                      <a:rPr lang="en-US" altLang="zh-CN" b="0" i="1" smtClean="0">
                        <a:latin typeface="Cambria Math" panose="02040503050406030204" pitchFamily="18" charset="0"/>
                      </a:rPr>
                      <m:t>)</m:t>
                    </m:r>
                    <m:r>
                      <a:rPr lang="zh-CN" altLang="en-US" i="1">
                        <a:latin typeface="Cambria Math" panose="02040503050406030204" pitchFamily="18" charset="0"/>
                      </a:rPr>
                      <m:t>，</m:t>
                    </m:r>
                  </m:oMath>
                </a14:m>
                <a:r>
                  <a:rPr lang="zh-CN" altLang="en-US" dirty="0"/>
                  <a:t>空间则为</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𝑛</m:t>
                        </m:r>
                      </m:e>
                    </m:rad>
                    <m:r>
                      <a:rPr lang="en-US" altLang="zh-CN" b="0" i="1" smtClean="0">
                        <a:latin typeface="Cambria Math" panose="02040503050406030204" pitchFamily="18" charset="0"/>
                      </a:rPr>
                      <m:t>)</m:t>
                    </m:r>
                  </m:oMath>
                </a14:m>
                <a:r>
                  <a:rPr lang="zh-CN" altLang="en-US" dirty="0"/>
                  <a:t>。</a:t>
                </a:r>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571" r="-69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1878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Alphadog</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522414" y="1828800"/>
                <a:ext cx="9144000" cy="4724400"/>
              </a:xfrm>
            </p:spPr>
            <p:txBody>
              <a:bodyPr>
                <a:normAutofit/>
              </a:bodyPr>
              <a:lstStyle/>
              <a:p>
                <a:r>
                  <a:rPr lang="zh-CN" altLang="en-US" dirty="0"/>
                  <a:t>对于一个串</a:t>
                </a:r>
                <a14:m>
                  <m:oMath xmlns:m="http://schemas.openxmlformats.org/officeDocument/2006/math">
                    <m:r>
                      <a:rPr lang="en-US" altLang="zh-CN" b="0" i="1" smtClean="0">
                        <a:latin typeface="Cambria Math" panose="02040503050406030204" pitchFamily="18" charset="0"/>
                      </a:rPr>
                      <m:t>𝑠</m:t>
                    </m:r>
                  </m:oMath>
                </a14:m>
                <a:r>
                  <a:rPr lang="zh-CN" altLang="en-US" dirty="0"/>
                  <a:t>的特殊值</a:t>
                </a:r>
                <a14:m>
                  <m:oMath xmlns:m="http://schemas.openxmlformats.org/officeDocument/2006/math">
                    <m:r>
                      <a:rPr lang="en-US" altLang="zh-CN" b="0" i="1" smtClean="0">
                        <a:latin typeface="Cambria Math" panose="02040503050406030204" pitchFamily="18" charset="0"/>
                      </a:rPr>
                      <m:t>𝐹</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oMath>
                </a14:m>
                <a:r>
                  <a:rPr lang="en-US" altLang="zh-CN" dirty="0"/>
                  <a:t> </a:t>
                </a:r>
                <a:r>
                  <a:rPr lang="zh-CN" altLang="en-US" dirty="0"/>
                  <a:t>定义为</a:t>
                </a:r>
                <a:endParaRPr lang="en-US" altLang="zh-CN" dirty="0"/>
              </a:p>
              <a:p>
                <a14:m>
                  <m:oMath xmlns:m="http://schemas.openxmlformats.org/officeDocument/2006/math">
                    <m:r>
                      <a:rPr lang="en-US" altLang="zh-CN" b="0" i="1" smtClean="0">
                        <a:latin typeface="Cambria Math" panose="02040503050406030204" pitchFamily="18" charset="0"/>
                      </a:rPr>
                      <m:t>𝐹</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𝑠</m:t>
                        </m:r>
                      </m:e>
                    </m:d>
                    <m:r>
                      <a:rPr lang="en-US" altLang="zh-CN" b="0" i="1" smtClean="0">
                        <a:latin typeface="Cambria Math" panose="02040503050406030204" pitchFamily="18" charset="0"/>
                      </a:rPr>
                      <m:t>= </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1</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sub>
                      <m:sup/>
                      <m:e>
                        <m:r>
                          <a:rPr lang="en-US" altLang="zh-CN" b="0" i="1" smtClean="0">
                            <a:latin typeface="Cambria Math" panose="02040503050406030204" pitchFamily="18" charset="0"/>
                          </a:rPr>
                          <m:t>𝐿𝐶𝑃</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e>
                    </m:nary>
                  </m:oMath>
                </a14:m>
                <a:endParaRPr lang="en-US" altLang="zh-CN" dirty="0"/>
              </a:p>
              <a:p>
                <a14:m>
                  <m:oMath xmlns:m="http://schemas.openxmlformats.org/officeDocument/2006/math">
                    <m:r>
                      <a:rPr lang="en-US" b="0" i="1" smtClean="0">
                        <a:latin typeface="Cambria Math" panose="02040503050406030204" pitchFamily="18" charset="0"/>
                      </a:rPr>
                      <m:t>𝐿𝐶𝑃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zh-CN" altLang="en-US" dirty="0"/>
                  <a:t>表示最长的字符串</a:t>
                </a:r>
                <a14:m>
                  <m:oMath xmlns:m="http://schemas.openxmlformats.org/officeDocument/2006/math">
                    <m:r>
                      <a:rPr lang="en-US" b="0" i="1" smtClean="0">
                        <a:latin typeface="Cambria Math" panose="02040503050406030204" pitchFamily="18" charset="0"/>
                      </a:rPr>
                      <m:t>𝑡</m:t>
                    </m:r>
                  </m:oMath>
                </a14:m>
                <a:r>
                  <a:rPr lang="zh-CN" altLang="en-US" dirty="0"/>
                  <a:t>的长度，其中</a:t>
                </a:r>
                <a14:m>
                  <m:oMath xmlns:m="http://schemas.openxmlformats.org/officeDocument/2006/math">
                    <m:r>
                      <a:rPr lang="en-US" b="0" i="1" smtClean="0">
                        <a:latin typeface="Cambria Math" panose="02040503050406030204" pitchFamily="18" charset="0"/>
                      </a:rPr>
                      <m:t>𝑡</m:t>
                    </m:r>
                  </m:oMath>
                </a14:m>
                <a:r>
                  <a:rPr lang="zh-CN" altLang="en-US" dirty="0"/>
                  <a:t>要满足三个条件：</a:t>
                </a:r>
                <a:r>
                  <a:rPr lang="en-US" altLang="zh-CN" dirty="0"/>
                  <a:t> </a:t>
                </a:r>
              </a:p>
              <a:p>
                <a14:m>
                  <m:oMath xmlns:m="http://schemas.openxmlformats.org/officeDocument/2006/math">
                    <m:r>
                      <a:rPr lang="en-US" altLang="zh-CN" b="0" i="1" smtClean="0">
                        <a:latin typeface="Cambria Math" panose="02040503050406030204" pitchFamily="18" charset="0"/>
                      </a:rPr>
                      <m:t>𝑡</m:t>
                    </m:r>
                  </m:oMath>
                </a14:m>
                <a:r>
                  <a:rPr lang="zh-CN" altLang="en-US" dirty="0"/>
                  <a:t>是回文的</a:t>
                </a:r>
                <a:endParaRPr lang="en-US" altLang="zh-CN" dirty="0"/>
              </a:p>
              <a:p>
                <a:r>
                  <a:rPr lang="zh-CN" altLang="en-US" dirty="0"/>
                  <a:t>存在一个</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𝑥</m:t>
                    </m:r>
                  </m:oMath>
                </a14:m>
                <a:r>
                  <a:rPr lang="zh-CN" altLang="en-US" dirty="0"/>
                  <a:t>，满足</a:t>
                </a:r>
                <a14:m>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𝑡</m:t>
                    </m:r>
                  </m:oMath>
                </a14:m>
                <a:endParaRPr lang="en-US" altLang="zh-CN" dirty="0"/>
              </a:p>
              <a:p>
                <a:r>
                  <a:rPr lang="zh-CN" altLang="en-US" dirty="0"/>
                  <a:t>存在一个</a:t>
                </a:r>
                <a14:m>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𝑦</m:t>
                    </m:r>
                  </m:oMath>
                </a14:m>
                <a:r>
                  <a:rPr lang="zh-CN" altLang="en-US" dirty="0"/>
                  <a:t>，满足</a:t>
                </a:r>
                <a14:m>
                  <m:oMath xmlns:m="http://schemas.openxmlformats.org/officeDocument/2006/math">
                    <m:r>
                      <a:rPr lang="en-US" b="0" i="1" smtClean="0">
                        <a:latin typeface="Cambria Math" panose="02040503050406030204" pitchFamily="18" charset="0"/>
                      </a:rPr>
                      <m:t>𝑠</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𝑡</m:t>
                    </m:r>
                  </m:oMath>
                </a14:m>
                <a:endParaRPr lang="en-US" altLang="zh-CN" i="1" dirty="0"/>
              </a:p>
              <a:p>
                <a:r>
                  <a:rPr lang="zh-CN" altLang="en-US" dirty="0"/>
                  <a:t>一开始有一个空串</a:t>
                </a:r>
                <a14:m>
                  <m:oMath xmlns:m="http://schemas.openxmlformats.org/officeDocument/2006/math">
                    <m:r>
                      <a:rPr lang="en-US" b="0" i="1" smtClean="0">
                        <a:latin typeface="Cambria Math" panose="02040503050406030204" pitchFamily="18" charset="0"/>
                      </a:rPr>
                      <m:t>𝑠</m:t>
                    </m:r>
                  </m:oMath>
                </a14:m>
                <a:r>
                  <a:rPr lang="zh-CN" altLang="en-US" dirty="0"/>
                  <a:t>。接下来进行</a:t>
                </a:r>
                <a14:m>
                  <m:oMath xmlns:m="http://schemas.openxmlformats.org/officeDocument/2006/math">
                    <m:r>
                      <a:rPr lang="en-US" b="0" i="1" smtClean="0">
                        <a:latin typeface="Cambria Math" panose="02040503050406030204" pitchFamily="18" charset="0"/>
                      </a:rPr>
                      <m:t>𝑞</m:t>
                    </m:r>
                  </m:oMath>
                </a14:m>
                <a:r>
                  <a:rPr lang="zh-CN" altLang="en-US" dirty="0"/>
                  <a:t>次插入，每次在串的末尾加入一个新的字符。每次加入后，询问当前串的</a:t>
                </a:r>
                <a14:m>
                  <m:oMath xmlns:m="http://schemas.openxmlformats.org/officeDocument/2006/math">
                    <m:r>
                      <a:rPr lang="en-US" altLang="zh-CN" b="0" i="1" smtClean="0">
                        <a:latin typeface="Cambria Math" panose="02040503050406030204" pitchFamily="18" charset="0"/>
                      </a:rPr>
                      <m:t>𝐹</m:t>
                    </m:r>
                  </m:oMath>
                </a14:m>
                <a:r>
                  <a:rPr lang="zh-CN" altLang="en-US" dirty="0"/>
                  <a:t>值。强制在线。</a:t>
                </a:r>
                <a:endParaRPr lang="en-US" altLang="zh-CN" dirty="0"/>
              </a:p>
              <a:p>
                <a14:m>
                  <m:oMath xmlns:m="http://schemas.openxmlformats.org/officeDocument/2006/math">
                    <m:r>
                      <a:rPr lang="en-US" b="0" i="1" smtClean="0">
                        <a:latin typeface="Cambria Math" panose="02040503050406030204" pitchFamily="18" charset="0"/>
                      </a:rPr>
                      <m:t>𝑞</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5</m:t>
                        </m:r>
                      </m:sup>
                    </m:sSup>
                  </m:oMath>
                </a14:m>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522414" y="1828800"/>
                <a:ext cx="9144000" cy="4724400"/>
              </a:xfrm>
              <a:blipFill>
                <a:blip r:embed="rId2"/>
                <a:stretch>
                  <a:fillRect l="-933" t="-1806" b="-2065"/>
                </a:stretch>
              </a:blipFill>
            </p:spPr>
            <p:txBody>
              <a:bodyPr/>
              <a:lstStyle/>
              <a:p>
                <a:r>
                  <a:rPr lang="en-US">
                    <a:noFill/>
                  </a:rPr>
                  <a:t> </a:t>
                </a:r>
              </a:p>
            </p:txBody>
          </p:sp>
        </mc:Fallback>
      </mc:AlternateContent>
    </p:spTree>
    <p:extLst>
      <p:ext uri="{BB962C8B-B14F-4D97-AF65-F5344CB8AC3E}">
        <p14:creationId xmlns:p14="http://schemas.microsoft.com/office/powerpoint/2010/main" val="2371861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Alphadog</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zh-CN" altLang="en-US" dirty="0"/>
                  <a:t>首先考虑如何计算</a:t>
                </a:r>
                <a14:m>
                  <m:oMath xmlns:m="http://schemas.openxmlformats.org/officeDocument/2006/math">
                    <m:r>
                      <a:rPr lang="en-US" altLang="zh-CN" b="0" i="1" smtClean="0">
                        <a:latin typeface="Cambria Math" panose="02040503050406030204" pitchFamily="18" charset="0"/>
                      </a:rPr>
                      <m:t>𝐿𝐶𝑃</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oMath>
                </a14:m>
                <a:r>
                  <a:rPr lang="zh-CN" altLang="en-US" dirty="0"/>
                  <a:t>，令</a:t>
                </a:r>
                <a14:m>
                  <m:oMath xmlns:m="http://schemas.openxmlformats.org/officeDocument/2006/math">
                    <m:r>
                      <a:rPr lang="en-US" altLang="zh-CN" b="0" i="1" smtClean="0">
                        <a:latin typeface="Cambria Math" panose="02040503050406030204" pitchFamily="18" charset="0"/>
                      </a:rPr>
                      <m:t>𝑎</m:t>
                    </m:r>
                  </m:oMath>
                </a14:m>
                <a:r>
                  <a:rPr lang="zh-CN" altLang="en-US" dirty="0"/>
                  <a:t>为</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[1…</m:t>
                    </m:r>
                    <m:r>
                      <a:rPr lang="en-US" altLang="zh-CN" b="0" i="1" smtClean="0">
                        <a:latin typeface="Cambria Math" panose="02040503050406030204" pitchFamily="18" charset="0"/>
                      </a:rPr>
                      <m:t>𝑥</m:t>
                    </m:r>
                    <m:r>
                      <a:rPr lang="en-US" altLang="zh-CN" b="0" i="1" smtClean="0">
                        <a:latin typeface="Cambria Math" panose="02040503050406030204" pitchFamily="18" charset="0"/>
                      </a:rPr>
                      <m:t>]</m:t>
                    </m:r>
                  </m:oMath>
                </a14:m>
                <a:r>
                  <a:rPr lang="zh-CN" altLang="en-US" dirty="0"/>
                  <a:t>的最长回文后缀，</a:t>
                </a:r>
                <a14:m>
                  <m:oMath xmlns:m="http://schemas.openxmlformats.org/officeDocument/2006/math">
                    <m:r>
                      <a:rPr lang="en-US" altLang="zh-CN" b="0" i="1" smtClean="0">
                        <a:latin typeface="Cambria Math" panose="02040503050406030204" pitchFamily="18" charset="0"/>
                      </a:rPr>
                      <m:t>𝑏</m:t>
                    </m:r>
                  </m:oMath>
                </a14:m>
                <a:r>
                  <a:rPr lang="zh-CN" altLang="en-US" dirty="0"/>
                  <a:t>为</a:t>
                </a: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[1…</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oMath>
                </a14:m>
                <a:r>
                  <a:rPr lang="zh-CN" altLang="en-US" dirty="0"/>
                  <a:t>的最长回文后缀，那么</a:t>
                </a:r>
                <a14:m>
                  <m:oMath xmlns:m="http://schemas.openxmlformats.org/officeDocument/2006/math">
                    <m:r>
                      <a:rPr lang="en-US" altLang="zh-CN" b="0" i="1" smtClean="0">
                        <a:latin typeface="Cambria Math" panose="02040503050406030204" pitchFamily="18" charset="0"/>
                      </a:rPr>
                      <m:t>𝐿𝐶𝑃</m:t>
                    </m:r>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oMath>
                </a14:m>
                <a:r>
                  <a:rPr lang="zh-CN" altLang="en-US" dirty="0"/>
                  <a:t>就等于</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 </m:t>
                    </m:r>
                    <m:r>
                      <a:rPr lang="en-US" altLang="zh-CN" b="0" i="1" smtClean="0">
                        <a:latin typeface="Cambria Math" panose="02040503050406030204" pitchFamily="18" charset="0"/>
                      </a:rPr>
                      <m:t>𝑏</m:t>
                    </m:r>
                  </m:oMath>
                </a14:m>
                <a:r>
                  <a:rPr lang="zh-CN" altLang="en-US" dirty="0"/>
                  <a:t>在</a:t>
                </a:r>
                <a14:m>
                  <m:oMath xmlns:m="http://schemas.openxmlformats.org/officeDocument/2006/math">
                    <m:r>
                      <a:rPr lang="en-US" altLang="zh-CN" b="0" i="1" smtClean="0">
                        <a:latin typeface="Cambria Math" panose="02040503050406030204" pitchFamily="18" charset="0"/>
                      </a:rPr>
                      <m:t>𝑓𝑎𝑖𝑙</m:t>
                    </m:r>
                  </m:oMath>
                </a14:m>
                <a:r>
                  <a:rPr lang="zh-CN" altLang="en-US" dirty="0"/>
                  <a:t>树上的</a:t>
                </a:r>
                <a14:m>
                  <m:oMath xmlns:m="http://schemas.openxmlformats.org/officeDocument/2006/math">
                    <m:r>
                      <a:rPr lang="en-US" altLang="zh-CN" b="0" i="1" smtClean="0">
                        <a:latin typeface="Cambria Math" panose="02040503050406030204" pitchFamily="18" charset="0"/>
                      </a:rPr>
                      <m:t>𝐿𝐶𝐴</m:t>
                    </m:r>
                  </m:oMath>
                </a14:m>
                <a:r>
                  <a:rPr lang="zh-CN" altLang="en-US" dirty="0"/>
                  <a:t>的长度。</a:t>
                </a:r>
                <a:endParaRPr lang="en-US" altLang="zh-CN" dirty="0"/>
              </a:p>
              <a:p>
                <a:r>
                  <a:rPr lang="zh-CN" altLang="en-US" dirty="0"/>
                  <a:t>每次插入一个新的字符，需要求出这个字符带来的贡献，相当于每次可能会在</a:t>
                </a:r>
                <a14:m>
                  <m:oMath xmlns:m="http://schemas.openxmlformats.org/officeDocument/2006/math">
                    <m:r>
                      <a:rPr lang="en-US" altLang="zh-CN" b="0" i="1" smtClean="0">
                        <a:latin typeface="Cambria Math" panose="02040503050406030204" pitchFamily="18" charset="0"/>
                      </a:rPr>
                      <m:t>𝑓𝑎𝑖𝑙</m:t>
                    </m:r>
                  </m:oMath>
                </a14:m>
                <a:r>
                  <a:rPr lang="zh-CN" altLang="en-US" dirty="0"/>
                  <a:t>树上接入一个新的节点，并查询某点与其他所有点的</a:t>
                </a:r>
                <a14:m>
                  <m:oMath xmlns:m="http://schemas.openxmlformats.org/officeDocument/2006/math">
                    <m:r>
                      <a:rPr lang="en-US" altLang="zh-CN" b="0" i="1" smtClean="0">
                        <a:latin typeface="Cambria Math" panose="02040503050406030204" pitchFamily="18" charset="0"/>
                      </a:rPr>
                      <m:t>𝐿𝐶𝐴</m:t>
                    </m:r>
                  </m:oMath>
                </a14:m>
                <a:r>
                  <a:rPr lang="zh-CN" altLang="en-US" dirty="0"/>
                  <a:t>的长度总和。</a:t>
                </a:r>
                <a:endParaRPr lang="en-US" altLang="zh-CN" dirty="0"/>
              </a:p>
              <a:p>
                <a14:m>
                  <m:oMath xmlns:m="http://schemas.openxmlformats.org/officeDocument/2006/math">
                    <m:r>
                      <a:rPr lang="en-US" altLang="zh-CN" b="0" i="1" smtClean="0">
                        <a:latin typeface="Cambria Math" panose="02040503050406030204" pitchFamily="18" charset="0"/>
                      </a:rPr>
                      <m:t>𝐿𝐶𝑇</m:t>
                    </m:r>
                  </m:oMath>
                </a14:m>
                <a:r>
                  <a:rPr lang="zh-CN" altLang="en-US" dirty="0"/>
                  <a:t>维护即可，</a:t>
                </a:r>
                <a14:m>
                  <m:oMath xmlns:m="http://schemas.openxmlformats.org/officeDocument/2006/math">
                    <m:r>
                      <a:rPr lang="en-US" altLang="zh-CN" b="0" i="1" smtClean="0">
                        <a:latin typeface="Cambria Math" panose="02040503050406030204" pitchFamily="18" charset="0"/>
                      </a:rPr>
                      <m:t>𝑂</m:t>
                    </m:r>
                    <m:r>
                      <a:rPr lang="en-US" altLang="zh-CN" b="0" i="1" smtClean="0">
                        <a:latin typeface="Cambria Math" panose="02040503050406030204" pitchFamily="18" charset="0"/>
                      </a:rPr>
                      <m:t>(</m:t>
                    </m:r>
                    <m:r>
                      <a:rPr lang="en-US" altLang="zh-CN" b="0" i="1" smtClean="0">
                        <a:latin typeface="Cambria Math" panose="02040503050406030204" pitchFamily="18" charset="0"/>
                      </a:rPr>
                      <m:t>𝑞𝑙𝑜𝑔𝑞</m:t>
                    </m:r>
                    <m:r>
                      <a:rPr lang="en-US" altLang="zh-CN" b="0" i="1" smtClean="0">
                        <a:latin typeface="Cambria Math" panose="02040503050406030204" pitchFamily="18" charset="0"/>
                      </a:rPr>
                      <m:t>)</m:t>
                    </m:r>
                  </m:oMath>
                </a14:m>
                <a:r>
                  <a:rPr lang="zh-CN" altLang="en-US" dirty="0"/>
                  <a:t>。</a:t>
                </a:r>
                <a:br>
                  <a:rPr lang="zh-CN" altLang="en-US" dirty="0"/>
                </a:br>
                <a:endParaRPr 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933" t="-2000"/>
                </a:stretch>
              </a:blipFill>
            </p:spPr>
            <p:txBody>
              <a:bodyPr/>
              <a:lstStyle/>
              <a:p>
                <a:r>
                  <a:rPr lang="en-US">
                    <a:noFill/>
                  </a:rPr>
                  <a:t> </a:t>
                </a:r>
              </a:p>
            </p:txBody>
          </p:sp>
        </mc:Fallback>
      </mc:AlternateContent>
    </p:spTree>
    <p:extLst>
      <p:ext uri="{BB962C8B-B14F-4D97-AF65-F5344CB8AC3E}">
        <p14:creationId xmlns:p14="http://schemas.microsoft.com/office/powerpoint/2010/main" val="576433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algn="ctr"/>
            <a:r>
              <a:rPr lang="en-US" sz="5400" dirty="0"/>
              <a:t>Thank you</a:t>
            </a:r>
          </a:p>
        </p:txBody>
      </p:sp>
    </p:spTree>
    <p:extLst>
      <p:ext uri="{BB962C8B-B14F-4D97-AF65-F5344CB8AC3E}">
        <p14:creationId xmlns:p14="http://schemas.microsoft.com/office/powerpoint/2010/main" val="3343599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画廊">
  <a:themeElements>
    <a:clrScheme name="画廊">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画廊">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画廊">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办公室主题">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1619</TotalTime>
  <Words>4073</Words>
  <Application>Microsoft Office PowerPoint</Application>
  <PresentationFormat>自定义</PresentationFormat>
  <Paragraphs>198</Paragraphs>
  <Slides>43</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43</vt:i4>
      </vt:variant>
    </vt:vector>
  </HeadingPairs>
  <TitlesOfParts>
    <vt:vector size="50" baseType="lpstr">
      <vt:lpstr>Microsoft YaHei UI</vt:lpstr>
      <vt:lpstr>等线</vt:lpstr>
      <vt:lpstr>等线 Light</vt:lpstr>
      <vt:lpstr>Arial</vt:lpstr>
      <vt:lpstr>Cambria Math</vt:lpstr>
      <vt:lpstr>Gill Sans MT</vt:lpstr>
      <vt:lpstr>画廊</vt:lpstr>
      <vt:lpstr>Palindromic Tree</vt:lpstr>
      <vt:lpstr>Preface</vt:lpstr>
      <vt:lpstr>Contents</vt:lpstr>
      <vt:lpstr>基础构造</vt:lpstr>
      <vt:lpstr>约定</vt:lpstr>
      <vt:lpstr>回文树的结构</vt:lpstr>
      <vt:lpstr>一些定义</vt:lpstr>
      <vt:lpstr>一个回文树的例子</vt:lpstr>
      <vt:lpstr>状态数证明</vt:lpstr>
      <vt:lpstr>基础插入算法</vt:lpstr>
      <vt:lpstr>基础插入算法</vt:lpstr>
      <vt:lpstr>基础插入算法</vt:lpstr>
      <vt:lpstr>复杂度证明</vt:lpstr>
      <vt:lpstr>经典问题</vt:lpstr>
      <vt:lpstr>APIO 2014 Palindrome</vt:lpstr>
      <vt:lpstr>right集合</vt:lpstr>
      <vt:lpstr>回文树的拓展</vt:lpstr>
      <vt:lpstr>前端插入</vt:lpstr>
      <vt:lpstr>前端插入</vt:lpstr>
      <vt:lpstr>HDU5421 Victor and String</vt:lpstr>
      <vt:lpstr>支持删除操作？</vt:lpstr>
      <vt:lpstr>不基于势能分析的插入算法</vt:lpstr>
      <vt:lpstr>不基于势能分析的插入算法</vt:lpstr>
      <vt:lpstr>双端插入删除</vt:lpstr>
      <vt:lpstr>在末端插入新的字符</vt:lpstr>
      <vt:lpstr>在末端删除字符</vt:lpstr>
      <vt:lpstr>前端操作</vt:lpstr>
      <vt:lpstr>Trie上建回文树</vt:lpstr>
      <vt:lpstr>Codechef TREEPAL</vt:lpstr>
      <vt:lpstr>可持久化</vt:lpstr>
      <vt:lpstr>回文树的应用</vt:lpstr>
      <vt:lpstr>GDKOI 2013 Country</vt:lpstr>
      <vt:lpstr>GDKOI 2013 Country</vt:lpstr>
      <vt:lpstr>Codechef PALPROB</vt:lpstr>
      <vt:lpstr>Codechef PALPROB</vt:lpstr>
      <vt:lpstr>Central Europe Regional Contest 2014 Virus synthesis</vt:lpstr>
      <vt:lpstr>Virus synthesis</vt:lpstr>
      <vt:lpstr>集训队互测2017 基因</vt:lpstr>
      <vt:lpstr>集训队互测2017 基因</vt:lpstr>
      <vt:lpstr>集训队互测2017 基因</vt:lpstr>
      <vt:lpstr>Alphadog</vt:lpstr>
      <vt:lpstr>Alphadog</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Palindromic Tree</dc:title>
  <dc:creator>yu duan</dc:creator>
  <cp:lastModifiedBy>Administrator</cp:lastModifiedBy>
  <cp:revision>100</cp:revision>
  <dcterms:created xsi:type="dcterms:W3CDTF">2017-06-05T01:18:16Z</dcterms:created>
  <dcterms:modified xsi:type="dcterms:W3CDTF">2017-06-07T09:22:59Z</dcterms:modified>
</cp:coreProperties>
</file>